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9"/>
  </p:handoutMasterIdLst>
  <p:sldIdLst>
    <p:sldId id="256" r:id="rId3"/>
    <p:sldId id="305" r:id="rId5"/>
    <p:sldId id="439" r:id="rId6"/>
    <p:sldId id="438" r:id="rId7"/>
    <p:sldId id="481" r:id="rId8"/>
    <p:sldId id="351" r:id="rId9"/>
    <p:sldId id="277" r:id="rId10"/>
    <p:sldId id="272" r:id="rId11"/>
    <p:sldId id="321" r:id="rId12"/>
    <p:sldId id="334" r:id="rId13"/>
    <p:sldId id="467" r:id="rId14"/>
    <p:sldId id="370" r:id="rId15"/>
    <p:sldId id="300" r:id="rId16"/>
    <p:sldId id="291" r:id="rId17"/>
    <p:sldId id="265" r:id="rId18"/>
    <p:sldId id="460" r:id="rId19"/>
    <p:sldId id="284" r:id="rId20"/>
    <p:sldId id="503" r:id="rId21"/>
    <p:sldId id="504" r:id="rId22"/>
    <p:sldId id="459" r:id="rId23"/>
    <p:sldId id="435" r:id="rId24"/>
    <p:sldId id="436" r:id="rId25"/>
    <p:sldId id="402" r:id="rId26"/>
    <p:sldId id="457" r:id="rId27"/>
    <p:sldId id="302" r:id="rId28"/>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278" autoAdjust="0"/>
    <p:restoredTop sz="94660"/>
  </p:normalViewPr>
  <p:slideViewPr>
    <p:cSldViewPr snapToGrid="0" showGuides="1">
      <p:cViewPr varScale="1">
        <p:scale>
          <a:sx n="71" d="100"/>
          <a:sy n="71" d="100"/>
        </p:scale>
        <p:origin x="-810" y="-96"/>
      </p:cViewPr>
      <p:guideLst>
        <p:guide orient="horz" pos="2124"/>
        <p:guide pos="381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handoutMaster" Target="handoutMasters/handoutMaster1.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vmlDrawing" Target="../drawings/vmlDrawing1.vml"/><Relationship Id="rId7" Type="http://schemas.openxmlformats.org/officeDocument/2006/relationships/image" Target="../media/image4.jpeg"/><Relationship Id="rId6" Type="http://schemas.openxmlformats.org/officeDocument/2006/relationships/image" Target="../media/image3.jpeg"/><Relationship Id="rId5" Type="http://schemas.openxmlformats.org/officeDocument/2006/relationships/image" Target="../media/image2.jpeg"/><Relationship Id="rId4" Type="http://schemas.openxmlformats.org/officeDocument/2006/relationships/tags" Target="../tags/tag1.xml"/><Relationship Id="rId3" Type="http://schemas.openxmlformats.org/officeDocument/2006/relationships/image" Target="../media/image1.emf"/><Relationship Id="rId2" Type="http://schemas.openxmlformats.org/officeDocument/2006/relationships/oleObject" Target="../embeddings/oleObject1.bin"/><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自定义版式">
    <p:bg>
      <p:bgPr>
        <a:solidFill>
          <a:schemeClr val="bg1"/>
        </a:solidFill>
        <a:effectLst/>
      </p:bgPr>
    </p:bg>
    <p:spTree>
      <p:nvGrpSpPr>
        <p:cNvPr id="1" name=""/>
        <p:cNvGrpSpPr/>
        <p:nvPr/>
      </p:nvGrpSpPr>
      <p:grpSpPr>
        <a:xfrm>
          <a:off x="0" y="0"/>
          <a:ext cx="0" cy="0"/>
          <a:chOff x="0" y="0"/>
          <a:chExt cx="0" cy="0"/>
        </a:xfrm>
      </p:grpSpPr>
      <p:graphicFrame>
        <p:nvGraphicFramePr>
          <p:cNvPr id="13315" name="对象 8" hidden="1"/>
          <p:cNvGraphicFramePr/>
          <p:nvPr/>
        </p:nvGraphicFramePr>
        <p:xfrm>
          <a:off x="0" y="0"/>
          <a:ext cx="211667" cy="158750"/>
        </p:xfrm>
        <a:graphic>
          <a:graphicData uri="http://schemas.openxmlformats.org/presentationml/2006/ole">
            <mc:AlternateContent xmlns:mc="http://schemas.openxmlformats.org/markup-compatibility/2006">
              <mc:Choice xmlns:v="urn:schemas-microsoft-com:vml" Requires="v">
                <p:oleObj spid="_x0000_s1145" name="" r:id="rId2" imgW="0" imgH="0" progId="">
                  <p:embed/>
                </p:oleObj>
              </mc:Choice>
              <mc:Fallback>
                <p:oleObj name="" r:id="rId2" imgW="0" imgH="0" progId="">
                  <p:embed/>
                  <p:pic>
                    <p:nvPicPr>
                      <p:cNvPr id="0" name="图片 6144" descr="image1"/>
                      <p:cNvPicPr/>
                      <p:nvPr/>
                    </p:nvPicPr>
                    <p:blipFill>
                      <a:blip r:embed="rId3"/>
                      <a:stretch>
                        <a:fillRect/>
                      </a:stretch>
                    </p:blipFill>
                    <p:spPr>
                      <a:xfrm>
                        <a:off x="0" y="0"/>
                        <a:ext cx="211667" cy="158750"/>
                      </a:xfrm>
                      <a:prstGeom prst="rect">
                        <a:avLst/>
                      </a:prstGeom>
                      <a:noFill/>
                      <a:ln w="38100">
                        <a:noFill/>
                      </a:ln>
                    </p:spPr>
                  </p:pic>
                </p:oleObj>
              </mc:Fallback>
            </mc:AlternateContent>
          </a:graphicData>
        </a:graphic>
      </p:graphicFrame>
      <p:pic>
        <p:nvPicPr>
          <p:cNvPr id="13317" name="图片 9" descr="ppt模板-02.jpg"/>
          <p:cNvPicPr>
            <a:picLocks noChangeAspect="1"/>
          </p:cNvPicPr>
          <p:nvPr>
            <p:custDataLst>
              <p:tags r:id="rId4"/>
            </p:custDataLst>
          </p:nvPr>
        </p:nvPicPr>
        <p:blipFill>
          <a:blip r:embed="rId5" cstate="print"/>
          <a:stretch>
            <a:fillRect/>
          </a:stretch>
        </p:blipFill>
        <p:spPr>
          <a:xfrm>
            <a:off x="0" y="0"/>
            <a:ext cx="12192000" cy="6858000"/>
          </a:xfrm>
          <a:prstGeom prst="rect">
            <a:avLst/>
          </a:prstGeom>
          <a:noFill/>
          <a:ln w="9525">
            <a:noFill/>
          </a:ln>
        </p:spPr>
      </p:pic>
      <p:sp>
        <p:nvSpPr>
          <p:cNvPr id="11" name="TextBox 10"/>
          <p:cNvSpPr txBox="1">
            <a:spLocks noChangeArrowheads="1"/>
          </p:cNvSpPr>
          <p:nvPr/>
        </p:nvSpPr>
        <p:spPr bwMode="auto">
          <a:xfrm rot="20130689">
            <a:off x="709084" y="2606675"/>
            <a:ext cx="10752667" cy="1014730"/>
          </a:xfrm>
          <a:prstGeom prst="rect">
            <a:avLst/>
          </a:prstGeom>
          <a:noFill/>
          <a:ln>
            <a:noFill/>
          </a:ln>
        </p:spPr>
        <p:txBody>
          <a:bodyPr>
            <a:spAutoFit/>
          </a:bodyPr>
          <a:lstStyle>
            <a:lvl1pPr>
              <a:defRPr>
                <a:solidFill>
                  <a:schemeClr val="tx1"/>
                </a:solidFill>
                <a:latin typeface="Arial" panose="02080604020202020204" pitchFamily="34" charset="0"/>
                <a:ea typeface="微软雅黑" panose="020B0503020204020204" charset="-122"/>
              </a:defRPr>
            </a:lvl1pPr>
            <a:lvl2pPr marL="742950" indent="-285750">
              <a:defRPr>
                <a:solidFill>
                  <a:schemeClr val="tx1"/>
                </a:solidFill>
                <a:latin typeface="Arial" panose="02080604020202020204" pitchFamily="34" charset="0"/>
                <a:ea typeface="微软雅黑" panose="020B0503020204020204" charset="-122"/>
              </a:defRPr>
            </a:lvl2pPr>
            <a:lvl3pPr marL="1143000" indent="-228600">
              <a:defRPr>
                <a:solidFill>
                  <a:schemeClr val="tx1"/>
                </a:solidFill>
                <a:latin typeface="Arial" panose="02080604020202020204" pitchFamily="34" charset="0"/>
                <a:ea typeface="微软雅黑" panose="020B0503020204020204" charset="-122"/>
              </a:defRPr>
            </a:lvl3pPr>
            <a:lvl4pPr marL="1600200" indent="-228600">
              <a:defRPr>
                <a:solidFill>
                  <a:schemeClr val="tx1"/>
                </a:solidFill>
                <a:latin typeface="Arial" panose="02080604020202020204" pitchFamily="34" charset="0"/>
                <a:ea typeface="微软雅黑" panose="020B0503020204020204" charset="-122"/>
              </a:defRPr>
            </a:lvl4pPr>
            <a:lvl5pPr marL="2057400" indent="-228600">
              <a:defRPr>
                <a:solidFill>
                  <a:schemeClr val="tx1"/>
                </a:solidFill>
                <a:latin typeface="Arial" panose="02080604020202020204" pitchFamily="3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Arial" panose="02080604020202020204" pitchFamily="3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Arial" panose="02080604020202020204" pitchFamily="3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Arial" panose="02080604020202020204" pitchFamily="3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Arial" panose="02080604020202020204" pitchFamily="34" charset="0"/>
                <a:ea typeface="微软雅黑" panose="020B0503020204020204"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6000" b="0" i="0" u="none" strike="noStrike" kern="1200" cap="none" spc="0" normalizeH="0" baseline="0" noProof="0">
                <a:ln>
                  <a:noFill/>
                </a:ln>
                <a:solidFill>
                  <a:srgbClr val="D9D9D9"/>
                </a:solidFill>
                <a:effectLst/>
                <a:uLnTx/>
                <a:uFillTx/>
                <a:latin typeface="黑体" panose="02010609060101010101" charset="-122"/>
                <a:ea typeface="黑体" panose="02010609060101010101" charset="-122"/>
                <a:cs typeface="+mn-cs"/>
              </a:rPr>
              <a:t>内 部 信 息</a:t>
            </a:r>
            <a:endParaRPr kumimoji="0" lang="zh-CN" altLang="en-US" sz="6000" b="0" i="0" u="none" strike="noStrike" kern="1200" cap="none" spc="0" normalizeH="0" baseline="0" noProof="0">
              <a:ln>
                <a:noFill/>
              </a:ln>
              <a:solidFill>
                <a:srgbClr val="D9D9D9"/>
              </a:solidFill>
              <a:effectLst/>
              <a:uLnTx/>
              <a:uFillTx/>
              <a:latin typeface="黑体" panose="02010609060101010101" charset="-122"/>
              <a:ea typeface="黑体" panose="02010609060101010101" charset="-122"/>
              <a:cs typeface="+mn-cs"/>
            </a:endParaRPr>
          </a:p>
        </p:txBody>
      </p:sp>
      <p:pic>
        <p:nvPicPr>
          <p:cNvPr id="13319" name="图片 8" descr="ppt模板-03.jpg"/>
          <p:cNvPicPr>
            <a:picLocks noChangeAspect="1"/>
          </p:cNvPicPr>
          <p:nvPr userDrawn="1"/>
        </p:nvPicPr>
        <p:blipFill>
          <a:blip r:embed="rId6" cstate="print"/>
          <a:stretch>
            <a:fillRect/>
          </a:stretch>
        </p:blipFill>
        <p:spPr>
          <a:xfrm>
            <a:off x="0" y="0"/>
            <a:ext cx="12192000" cy="6858000"/>
          </a:xfrm>
          <a:prstGeom prst="rect">
            <a:avLst/>
          </a:prstGeom>
          <a:noFill/>
          <a:ln w="9525">
            <a:noFill/>
          </a:ln>
        </p:spPr>
      </p:pic>
      <p:pic>
        <p:nvPicPr>
          <p:cNvPr id="13320" name="图片 7"/>
          <p:cNvPicPr>
            <a:picLocks noChangeAspect="1"/>
          </p:cNvPicPr>
          <p:nvPr userDrawn="1"/>
        </p:nvPicPr>
        <p:blipFill>
          <a:blip r:embed="rId7" cstate="print"/>
          <a:srcRect l="21069" t="13547" r="18025" b="10378"/>
          <a:stretch>
            <a:fillRect/>
          </a:stretch>
        </p:blipFill>
        <p:spPr>
          <a:xfrm>
            <a:off x="300567" y="6051550"/>
            <a:ext cx="1246717" cy="561975"/>
          </a:xfrm>
          <a:prstGeom prst="rect">
            <a:avLst/>
          </a:prstGeom>
          <a:noFill/>
          <a:ln w="9525">
            <a:noFill/>
          </a:ln>
        </p:spPr>
      </p:pic>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8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5.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image" Target="../media/image7.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tags" Target="../tags/tag3.xml"/><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2.xml"/><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tags" Target="../tags/tag6.xml"/><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tags" Target="../tags/tag7.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xml"/><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tags" Target="../tags/tag11.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openxmlformats.org/officeDocument/2006/relationships/tags" Target="../tags/tag15.xml"/><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2.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6424930" y="5262880"/>
            <a:ext cx="5767070" cy="1595120"/>
          </a:xfrm>
          <a:prstGeom prst="rect">
            <a:avLst/>
          </a:prstGeom>
        </p:spPr>
      </p:pic>
      <p:pic>
        <p:nvPicPr>
          <p:cNvPr id="4" name="图片 3"/>
          <p:cNvPicPr>
            <a:picLocks noChangeAspect="1"/>
          </p:cNvPicPr>
          <p:nvPr/>
        </p:nvPicPr>
        <p:blipFill>
          <a:blip r:embed="rId2"/>
          <a:stretch>
            <a:fillRect/>
          </a:stretch>
        </p:blipFill>
        <p:spPr>
          <a:xfrm>
            <a:off x="316230" y="222885"/>
            <a:ext cx="1812925" cy="695960"/>
          </a:xfrm>
          <a:prstGeom prst="rect">
            <a:avLst/>
          </a:prstGeom>
        </p:spPr>
      </p:pic>
      <p:sp>
        <p:nvSpPr>
          <p:cNvPr id="5122" name="文本框 5"/>
          <p:cNvSpPr txBox="1">
            <a:spLocks noChangeArrowheads="1"/>
          </p:cNvSpPr>
          <p:nvPr/>
        </p:nvSpPr>
        <p:spPr bwMode="auto">
          <a:xfrm>
            <a:off x="3996055" y="4311015"/>
            <a:ext cx="3981450" cy="521970"/>
          </a:xfrm>
          <a:prstGeom prst="rect">
            <a:avLst/>
          </a:prstGeom>
          <a:noFill/>
          <a:ln w="9525">
            <a:noFill/>
            <a:miter lim="800000"/>
          </a:ln>
        </p:spPr>
        <p:txBody>
          <a:bodyPr wrap="square">
            <a:spAutoFit/>
          </a:bodyPr>
          <a:lstStyle/>
          <a:p>
            <a:pPr algn="ctr"/>
            <a:r>
              <a:rPr lang="zh-CN" altLang="en-US" sz="2800" dirty="0">
                <a:solidFill>
                  <a:srgbClr val="137EEC"/>
                </a:solidFill>
                <a:latin typeface="黑体" panose="02010609060101010101" charset="-122"/>
                <a:ea typeface="黑体" panose="02010609060101010101" charset="-122"/>
              </a:rPr>
              <a:t>汇报单位</a:t>
            </a:r>
            <a:endParaRPr lang="zh-CN" altLang="en-US" sz="2800" dirty="0">
              <a:solidFill>
                <a:srgbClr val="137EEC"/>
              </a:solidFill>
              <a:latin typeface="黑体" panose="02010609060101010101" charset="-122"/>
              <a:ea typeface="黑体" panose="02010609060101010101" charset="-122"/>
            </a:endParaRPr>
          </a:p>
        </p:txBody>
      </p:sp>
      <p:sp>
        <p:nvSpPr>
          <p:cNvPr id="5123" name="文本框 2"/>
          <p:cNvSpPr txBox="1">
            <a:spLocks noChangeArrowheads="1"/>
          </p:cNvSpPr>
          <p:nvPr/>
        </p:nvSpPr>
        <p:spPr bwMode="auto">
          <a:xfrm>
            <a:off x="5102225" y="5013325"/>
            <a:ext cx="1987550" cy="521970"/>
          </a:xfrm>
          <a:prstGeom prst="rect">
            <a:avLst/>
          </a:prstGeom>
          <a:noFill/>
          <a:ln w="9525">
            <a:noFill/>
            <a:miter lim="800000"/>
          </a:ln>
        </p:spPr>
        <p:txBody>
          <a:bodyPr>
            <a:spAutoFit/>
          </a:bodyPr>
          <a:lstStyle/>
          <a:p>
            <a:r>
              <a:rPr lang="en-US" altLang="zh-CN" sz="2800" b="1" dirty="0">
                <a:solidFill>
                  <a:srgbClr val="137EEC"/>
                </a:solidFill>
                <a:latin typeface="黑体" panose="02010609060101010101" charset="-122"/>
                <a:ea typeface="黑体" panose="02010609060101010101" charset="-122"/>
                <a:cs typeface="黑体" panose="02010609060101010101" charset="-122"/>
              </a:rPr>
              <a:t>2025</a:t>
            </a:r>
            <a:r>
              <a:rPr lang="zh-CN" altLang="en-US" sz="2800" b="1" dirty="0">
                <a:solidFill>
                  <a:srgbClr val="137EEC"/>
                </a:solidFill>
                <a:latin typeface="黑体" panose="02010609060101010101" charset="-122"/>
                <a:ea typeface="黑体" panose="02010609060101010101" charset="-122"/>
                <a:cs typeface="黑体" panose="02010609060101010101" charset="-122"/>
              </a:rPr>
              <a:t>年</a:t>
            </a:r>
            <a:r>
              <a:rPr lang="en-US" altLang="zh-CN" sz="2800" b="1" dirty="0">
                <a:solidFill>
                  <a:srgbClr val="137EEC"/>
                </a:solidFill>
                <a:latin typeface="黑体" panose="02010609060101010101" charset="-122"/>
                <a:ea typeface="黑体" panose="02010609060101010101" charset="-122"/>
                <a:cs typeface="黑体" panose="02010609060101010101" charset="-122"/>
              </a:rPr>
              <a:t>XX</a:t>
            </a:r>
            <a:r>
              <a:rPr lang="zh-CN" altLang="en-US" sz="2800" b="1" dirty="0">
                <a:solidFill>
                  <a:srgbClr val="137EEC"/>
                </a:solidFill>
                <a:latin typeface="黑体" panose="02010609060101010101" charset="-122"/>
                <a:ea typeface="黑体" panose="02010609060101010101" charset="-122"/>
                <a:cs typeface="黑体" panose="02010609060101010101" charset="-122"/>
              </a:rPr>
              <a:t>月</a:t>
            </a:r>
            <a:endParaRPr lang="zh-CN" altLang="en-US" sz="2800" b="1" dirty="0">
              <a:solidFill>
                <a:srgbClr val="137EEC"/>
              </a:solidFill>
              <a:latin typeface="黑体" panose="02010609060101010101" charset="-122"/>
              <a:ea typeface="黑体" panose="02010609060101010101" charset="-122"/>
              <a:cs typeface="黑体" panose="02010609060101010101" charset="-122"/>
            </a:endParaRPr>
          </a:p>
        </p:txBody>
      </p:sp>
      <p:sp>
        <p:nvSpPr>
          <p:cNvPr id="5124" name="文本框 1"/>
          <p:cNvSpPr txBox="1">
            <a:spLocks noChangeArrowheads="1"/>
          </p:cNvSpPr>
          <p:nvPr/>
        </p:nvSpPr>
        <p:spPr bwMode="auto">
          <a:xfrm>
            <a:off x="665480" y="2008505"/>
            <a:ext cx="10643235" cy="1753235"/>
          </a:xfrm>
          <a:prstGeom prst="rect">
            <a:avLst/>
          </a:prstGeom>
          <a:noFill/>
          <a:ln w="9525">
            <a:noFill/>
            <a:miter lim="800000"/>
          </a:ln>
        </p:spPr>
        <p:txBody>
          <a:bodyPr wrap="square">
            <a:spAutoFit/>
          </a:bodyPr>
          <a:lstStyle/>
          <a:p>
            <a:pPr algn="ctr" fontAlgn="auto">
              <a:lnSpc>
                <a:spcPct val="150000"/>
              </a:lnSpc>
            </a:pPr>
            <a:r>
              <a:rPr sz="3600" b="1" dirty="0" err="1">
                <a:solidFill>
                  <a:srgbClr val="137EEC"/>
                </a:solidFill>
                <a:latin typeface="微软雅黑" panose="020B0503020204020204" charset="-122"/>
                <a:ea typeface="微软雅黑" panose="020B0503020204020204" charset="-122"/>
              </a:rPr>
              <a:t>关于</a:t>
            </a:r>
            <a:r>
              <a:rPr lang="en-US" altLang="zh-CN" sz="3600" b="1" dirty="0">
                <a:solidFill>
                  <a:srgbClr val="137EEC"/>
                </a:solidFill>
                <a:latin typeface="微软雅黑" panose="020B0503020204020204" charset="-122"/>
                <a:ea typeface="微软雅黑" panose="020B0503020204020204" charset="-122"/>
                <a:sym typeface="+mn-ea"/>
              </a:rPr>
              <a:t>XXXXX</a:t>
            </a:r>
            <a:r>
              <a:rPr sz="3600" b="1" dirty="0" err="1">
                <a:solidFill>
                  <a:srgbClr val="137EEC"/>
                </a:solidFill>
                <a:latin typeface="微软雅黑" panose="020B0503020204020204" charset="-122"/>
                <a:ea typeface="微软雅黑" panose="020B0503020204020204" charset="-122"/>
              </a:rPr>
              <a:t>项目</a:t>
            </a:r>
            <a:endParaRPr lang="en-US" sz="3600" b="1" dirty="0">
              <a:solidFill>
                <a:srgbClr val="137EEC"/>
              </a:solidFill>
              <a:latin typeface="微软雅黑" panose="020B0503020204020204" charset="-122"/>
              <a:ea typeface="微软雅黑" panose="020B0503020204020204" charset="-122"/>
            </a:endParaRPr>
          </a:p>
          <a:p>
            <a:pPr algn="ctr" fontAlgn="auto">
              <a:lnSpc>
                <a:spcPct val="150000"/>
              </a:lnSpc>
            </a:pPr>
            <a:r>
              <a:rPr lang="zh-CN" altLang="en-US" sz="3600" b="1" dirty="0" smtClean="0">
                <a:solidFill>
                  <a:srgbClr val="137EEC"/>
                </a:solidFill>
                <a:latin typeface="微软雅黑" panose="020B0503020204020204" charset="-122"/>
                <a:ea typeface="微软雅黑" panose="020B0503020204020204" charset="-122"/>
              </a:rPr>
              <a:t>甄选结果与</a:t>
            </a:r>
            <a:r>
              <a:rPr sz="3600" b="1" dirty="0" err="1">
                <a:solidFill>
                  <a:srgbClr val="137EEC"/>
                </a:solidFill>
                <a:latin typeface="微软雅黑" panose="020B0503020204020204" charset="-122"/>
                <a:ea typeface="微软雅黑" panose="020B0503020204020204" charset="-122"/>
              </a:rPr>
              <a:t>立项的决策汇报</a:t>
            </a:r>
            <a:endParaRPr sz="3600" b="1" dirty="0">
              <a:solidFill>
                <a:srgbClr val="137EEC"/>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635" y="-635"/>
            <a:ext cx="12192635" cy="892175"/>
          </a:xfrm>
          <a:prstGeom prst="rect">
            <a:avLst/>
          </a:prstGeom>
        </p:spPr>
      </p:pic>
      <p:sp>
        <p:nvSpPr>
          <p:cNvPr id="7" name="Rectangle 2"/>
          <p:cNvSpPr>
            <a:spLocks noChangeArrowheads="1"/>
          </p:cNvSpPr>
          <p:nvPr/>
        </p:nvSpPr>
        <p:spPr bwMode="auto">
          <a:xfrm>
            <a:off x="158750" y="144780"/>
            <a:ext cx="7043738" cy="584697"/>
          </a:xfrm>
          <a:prstGeom prst="rect">
            <a:avLst/>
          </a:prstGeom>
          <a:noFill/>
          <a:ln w="9525">
            <a:noFill/>
            <a:miter lim="800000"/>
          </a:ln>
        </p:spPr>
        <p:txBody>
          <a:bodyPr anchor="b"/>
          <a:lstStyle/>
          <a:p>
            <a:pPr eaLnBrk="0" hangingPunct="0"/>
            <a:r>
              <a:rPr lang="zh-CN" altLang="en-US" sz="2800" b="1" dirty="0">
                <a:solidFill>
                  <a:schemeClr val="bg1"/>
                </a:solidFill>
                <a:latin typeface="黑体" panose="02010609060101010101" charset="-122"/>
                <a:ea typeface="黑体" panose="02010609060101010101" charset="-122"/>
              </a:rPr>
              <a:t>一、项目背景</a:t>
            </a:r>
            <a:endParaRPr lang="zh-CN" altLang="en-US" sz="2800" b="1" dirty="0">
              <a:solidFill>
                <a:schemeClr val="bg1"/>
              </a:solidFill>
              <a:latin typeface="黑体" panose="02010609060101010101" charset="-122"/>
              <a:ea typeface="黑体" panose="02010609060101010101" charset="-122"/>
            </a:endParaRPr>
          </a:p>
        </p:txBody>
      </p:sp>
      <p:sp>
        <p:nvSpPr>
          <p:cNvPr id="13" name="Rectangle 4"/>
          <p:cNvSpPr>
            <a:spLocks noChangeArrowheads="1"/>
          </p:cNvSpPr>
          <p:nvPr/>
        </p:nvSpPr>
        <p:spPr bwMode="auto">
          <a:xfrm>
            <a:off x="707185" y="4168547"/>
            <a:ext cx="9694956" cy="337185"/>
          </a:xfrm>
          <a:prstGeom prst="rect">
            <a:avLst/>
          </a:prstGeom>
          <a:gradFill rotWithShape="1">
            <a:gsLst>
              <a:gs pos="0">
                <a:srgbClr val="FFCC99">
                  <a:alpha val="85999"/>
                </a:srgbClr>
              </a:gs>
              <a:gs pos="100000">
                <a:schemeClr val="bg1"/>
              </a:gs>
            </a:gsLst>
            <a:lin ang="0" scaled="1"/>
          </a:gradFill>
          <a:ln>
            <a:noFill/>
          </a:ln>
        </p:spPr>
        <p:txBody>
          <a:bodyPr wrap="square">
            <a:spAutoFit/>
          </a:bodyPr>
          <a:lstStyle/>
          <a:p>
            <a:pPr fontAlgn="base">
              <a:spcBef>
                <a:spcPct val="20000"/>
              </a:spcBef>
              <a:spcAft>
                <a:spcPct val="0"/>
              </a:spcAft>
              <a:buClr>
                <a:srgbClr val="000099"/>
              </a:buClr>
              <a:buSzPct val="75000"/>
              <a:buFont typeface="Wingdings" panose="05000000000000000000" pitchFamily="2" charset="2"/>
              <a:buNone/>
              <a:defRPr/>
            </a:pPr>
            <a:r>
              <a:rPr lang="en-US" altLang="zh-CN" sz="1600" b="1" dirty="0">
                <a:solidFill>
                  <a:prstClr val="black"/>
                </a:solidFill>
                <a:latin typeface="微软雅黑" panose="020B0503020204020204" charset="-122"/>
                <a:ea typeface="微软雅黑" panose="020B0503020204020204" charset="-122"/>
              </a:rPr>
              <a:t>2. </a:t>
            </a:r>
            <a:r>
              <a:rPr lang="zh-CN" altLang="en-US" sz="1600" b="1" dirty="0">
                <a:solidFill>
                  <a:prstClr val="black"/>
                </a:solidFill>
                <a:latin typeface="微软雅黑" panose="020B0503020204020204" charset="-122"/>
                <a:ea typeface="微软雅黑" panose="020B0503020204020204" charset="-122"/>
              </a:rPr>
              <a:t>项目需求</a:t>
            </a:r>
            <a:endParaRPr lang="zh-CN" altLang="en-US" sz="1600" b="1" dirty="0">
              <a:solidFill>
                <a:prstClr val="black"/>
              </a:solidFill>
              <a:latin typeface="微软雅黑" panose="020B0503020204020204" charset="-122"/>
              <a:ea typeface="微软雅黑" panose="020B0503020204020204" charset="-122"/>
            </a:endParaRPr>
          </a:p>
        </p:txBody>
      </p:sp>
      <p:graphicFrame>
        <p:nvGraphicFramePr>
          <p:cNvPr id="14" name="表格 13"/>
          <p:cNvGraphicFramePr>
            <a:graphicFrameLocks noGrp="1"/>
          </p:cNvGraphicFramePr>
          <p:nvPr>
            <p:custDataLst>
              <p:tags r:id="rId2"/>
            </p:custDataLst>
          </p:nvPr>
        </p:nvGraphicFramePr>
        <p:xfrm>
          <a:off x="707390" y="4645660"/>
          <a:ext cx="9872460" cy="1620520"/>
        </p:xfrm>
        <a:graphic>
          <a:graphicData uri="http://schemas.openxmlformats.org/drawingml/2006/table">
            <a:tbl>
              <a:tblPr firstRow="1">
                <a:tableStyleId>{5C22544A-7EE6-4342-B048-85BDC9FD1C3A}</a:tableStyleId>
              </a:tblPr>
              <a:tblGrid>
                <a:gridCol w="1558290"/>
                <a:gridCol w="5792643"/>
                <a:gridCol w="2521527"/>
              </a:tblGrid>
              <a:tr h="395605">
                <a:tc>
                  <a:txBody>
                    <a:bodyPr/>
                    <a:lstStyle/>
                    <a:p>
                      <a:pPr algn="ctr">
                        <a:spcAft>
                          <a:spcPts val="0"/>
                        </a:spcAft>
                      </a:pPr>
                      <a:endParaRPr lang="zh-CN" sz="1600" kern="100" dirty="0">
                        <a:latin typeface="微软雅黑" panose="020B0503020204020204" charset="-122"/>
                        <a:ea typeface="微软雅黑" panose="020B0503020204020204" charset="-122"/>
                        <a:cs typeface="Times New Roman" panose="02020603050405020304"/>
                      </a:endParaRPr>
                    </a:p>
                  </a:txBody>
                  <a:tcPr marL="68580" marR="68580" marT="0" marB="0" anchor="ctr"/>
                </a:tc>
                <a:tc>
                  <a:txBody>
                    <a:bodyPr/>
                    <a:lstStyle/>
                    <a:p>
                      <a:pPr algn="ctr">
                        <a:spcAft>
                          <a:spcPts val="0"/>
                        </a:spcAft>
                      </a:pPr>
                      <a:r>
                        <a:rPr lang="zh-CN" altLang="en-US" sz="1600" kern="100" dirty="0">
                          <a:latin typeface="微软雅黑" panose="020B0503020204020204" charset="-122"/>
                          <a:ea typeface="微软雅黑" panose="020B0503020204020204" charset="-122"/>
                        </a:rPr>
                        <a:t>具体</a:t>
                      </a:r>
                      <a:r>
                        <a:rPr lang="zh-CN" sz="1600" kern="100" dirty="0" smtClean="0">
                          <a:latin typeface="微软雅黑" panose="020B0503020204020204" charset="-122"/>
                          <a:ea typeface="微软雅黑" panose="020B0503020204020204" charset="-122"/>
                        </a:rPr>
                        <a:t>内容</a:t>
                      </a:r>
                      <a:endParaRPr lang="en-US" altLang="zh-CN" sz="1600" kern="100" dirty="0" smtClean="0">
                        <a:latin typeface="微软雅黑" panose="020B0503020204020204" charset="-122"/>
                        <a:ea typeface="微软雅黑" panose="020B0503020204020204" charset="-122"/>
                      </a:endParaRPr>
                    </a:p>
                  </a:txBody>
                  <a:tcPr marL="68580" marR="68580" marT="0" marB="0" anchor="ctr"/>
                </a:tc>
                <a:tc>
                  <a:txBody>
                    <a:bodyPr/>
                    <a:lstStyle/>
                    <a:p>
                      <a:pPr algn="ctr">
                        <a:spcAft>
                          <a:spcPts val="0"/>
                        </a:spcAft>
                        <a:buNone/>
                      </a:pPr>
                      <a:r>
                        <a:rPr lang="zh-CN" altLang="en-US" sz="1600" kern="100" dirty="0">
                          <a:latin typeface="微软雅黑" panose="020B0503020204020204" charset="-122"/>
                          <a:ea typeface="微软雅黑" panose="020B0503020204020204" charset="-122"/>
                          <a:cs typeface="Times New Roman" panose="02020603050405020304"/>
                        </a:rPr>
                        <a:t>备注</a:t>
                      </a:r>
                      <a:endParaRPr lang="zh-CN" altLang="en-US" sz="1600" kern="100" dirty="0">
                        <a:latin typeface="微软雅黑" panose="020B0503020204020204" charset="-122"/>
                        <a:ea typeface="微软雅黑" panose="020B0503020204020204" charset="-122"/>
                        <a:cs typeface="Times New Roman" panose="02020603050405020304"/>
                      </a:endParaRPr>
                    </a:p>
                  </a:txBody>
                  <a:tcPr marL="68580" marR="68580" marT="0" marB="0" anchor="ctr"/>
                </a:tc>
              </a:tr>
              <a:tr h="408305">
                <a:tc>
                  <a:txBody>
                    <a:bodyPr/>
                    <a:lstStyle/>
                    <a:p>
                      <a:pPr algn="ctr">
                        <a:spcAft>
                          <a:spcPts val="0"/>
                        </a:spcAft>
                      </a:pPr>
                      <a:r>
                        <a:rPr lang="zh-CN" altLang="en-US" sz="1200" b="0" kern="100" dirty="0">
                          <a:latin typeface="微软雅黑" panose="020B0503020204020204" charset="-122"/>
                          <a:ea typeface="微软雅黑" panose="020B0503020204020204" charset="-122"/>
                          <a:cs typeface="Times New Roman" panose="02020603050405020304"/>
                        </a:rPr>
                        <a:t>IT</a:t>
                      </a:r>
                      <a:endParaRPr lang="zh-CN" altLang="en-US" sz="1200" b="0" kern="100" dirty="0">
                        <a:latin typeface="微软雅黑" panose="020B0503020204020204" charset="-122"/>
                        <a:ea typeface="微软雅黑" panose="020B0503020204020204" charset="-122"/>
                        <a:cs typeface="Times New Roman" panose="02020603050405020304"/>
                      </a:endParaRPr>
                    </a:p>
                  </a:txBody>
                  <a:tcPr marL="68580" marR="68580" marT="0" marB="0" anchor="ctr"/>
                </a:tc>
                <a:tc>
                  <a:txBody>
                    <a:bodyPr/>
                    <a:lstStyle/>
                    <a:p>
                      <a:pPr indent="0" algn="l">
                        <a:buNone/>
                      </a:pPr>
                      <a:r>
                        <a:rPr lang="zh-CN" altLang="en-US" sz="1200" b="0" kern="100" dirty="0" smtClean="0">
                          <a:latin typeface="微软雅黑" panose="020B0503020204020204" charset="-122"/>
                          <a:ea typeface="微软雅黑" panose="020B0503020204020204" charset="-122"/>
                          <a:cs typeface="Times New Roman" panose="02020603050405020304"/>
                          <a:sym typeface="+mn-ea"/>
                        </a:rPr>
                        <a:t>说明硬件组成、具体服务内容等</a:t>
                      </a:r>
                      <a:endParaRPr lang="zh-CN" altLang="en-US" sz="1200" b="0" kern="100" dirty="0" smtClean="0">
                        <a:latin typeface="微软雅黑" panose="020B0503020204020204" charset="-122"/>
                        <a:ea typeface="微软雅黑" panose="020B0503020204020204" charset="-122"/>
                        <a:cs typeface="Times New Roman" panose="02020603050405020304"/>
                        <a:sym typeface="+mn-ea"/>
                      </a:endParaRPr>
                    </a:p>
                  </a:txBody>
                  <a:tcPr marL="68580" marR="68580" marT="0" marB="0" anchor="ctr"/>
                </a:tc>
                <a:tc>
                  <a:txBody>
                    <a:bodyPr/>
                    <a:lstStyle/>
                    <a:p>
                      <a:pPr indent="0" algn="l">
                        <a:buNone/>
                      </a:pPr>
                      <a:r>
                        <a:rPr lang="zh-CN" sz="1200" b="0" dirty="0">
                          <a:latin typeface="微软雅黑" panose="020B0503020204020204" charset="-122"/>
                          <a:ea typeface="微软雅黑" panose="020B0503020204020204" charset="-122"/>
                          <a:sym typeface="+mn-ea"/>
                        </a:rPr>
                        <a:t>客户工期紧急，为提高交货效率，设备直发到项目现场。</a:t>
                      </a:r>
                      <a:r>
                        <a:rPr lang="zh-CN" sz="1200" b="0" dirty="0">
                          <a:solidFill>
                            <a:srgbClr val="FF0000"/>
                          </a:solidFill>
                          <a:latin typeface="微软雅黑" panose="020B0503020204020204" charset="-122"/>
                          <a:ea typeface="微软雅黑" panose="020B0503020204020204" charset="-122"/>
                          <a:sym typeface="+mn-ea"/>
                        </a:rPr>
                        <a:t>（如果设备需要直发需加上，否则影响后期财务审核支出合同条款）</a:t>
                      </a:r>
                      <a:endParaRPr lang="zh-CN" altLang="en-US" sz="1200" b="0" kern="100" dirty="0">
                        <a:solidFill>
                          <a:srgbClr val="FF0000"/>
                        </a:solidFill>
                        <a:latin typeface="微软雅黑" panose="020B0503020204020204" charset="-122"/>
                        <a:ea typeface="微软雅黑" panose="020B0503020204020204" charset="-122"/>
                        <a:cs typeface="Times New Roman" panose="02020603050405020304"/>
                        <a:sym typeface="+mn-ea"/>
                      </a:endParaRPr>
                    </a:p>
                  </a:txBody>
                  <a:tcPr marL="68580" marR="68580" marT="0" marB="0" anchor="ctr"/>
                </a:tc>
              </a:tr>
              <a:tr h="408305">
                <a:tc>
                  <a:txBody>
                    <a:bodyPr/>
                    <a:lstStyle/>
                    <a:p>
                      <a:pPr algn="ctr">
                        <a:spcAft>
                          <a:spcPts val="0"/>
                        </a:spcAft>
                        <a:buNone/>
                      </a:pPr>
                      <a:r>
                        <a:rPr lang="en-US" altLang="zh-CN" sz="1200" b="0" kern="100" dirty="0">
                          <a:latin typeface="微软雅黑" panose="020B0503020204020204" charset="-122"/>
                          <a:ea typeface="微软雅黑" panose="020B0503020204020204" charset="-122"/>
                          <a:cs typeface="Times New Roman" panose="02020603050405020304"/>
                        </a:rPr>
                        <a:t>CT</a:t>
                      </a:r>
                      <a:endParaRPr lang="en-US" altLang="zh-CN" sz="1200" b="0" kern="100" dirty="0">
                        <a:latin typeface="微软雅黑" panose="020B0503020204020204" charset="-122"/>
                        <a:ea typeface="微软雅黑" panose="020B0503020204020204" charset="-122"/>
                        <a:cs typeface="Times New Roman" panose="02020603050405020304"/>
                      </a:endParaRPr>
                    </a:p>
                  </a:txBody>
                  <a:tcPr marL="68580" marR="68580" marT="0" marB="0" anchor="ctr"/>
                </a:tc>
                <a:tc>
                  <a:txBody>
                    <a:bodyPr/>
                    <a:lstStyle/>
                    <a:p>
                      <a:pPr indent="0" algn="l">
                        <a:buNone/>
                      </a:pPr>
                      <a:r>
                        <a:rPr lang="zh-CN" altLang="en-US" sz="1200" b="0" kern="100" dirty="0" smtClean="0">
                          <a:latin typeface="微软雅黑" panose="020B0503020204020204" charset="-122"/>
                          <a:ea typeface="微软雅黑" panose="020B0503020204020204" charset="-122"/>
                          <a:cs typeface="Times New Roman" panose="02020603050405020304"/>
                          <a:sym typeface="+mn-ea"/>
                        </a:rPr>
                        <a:t>说明具体产品名称、数量等</a:t>
                      </a:r>
                      <a:endParaRPr lang="zh-CN" altLang="en-US" sz="1200" b="0" kern="100" dirty="0" smtClean="0">
                        <a:latin typeface="微软雅黑" panose="020B0503020204020204" charset="-122"/>
                        <a:ea typeface="微软雅黑" panose="020B0503020204020204" charset="-122"/>
                        <a:cs typeface="Times New Roman" panose="02020603050405020304"/>
                        <a:sym typeface="+mn-ea"/>
                      </a:endParaRPr>
                    </a:p>
                  </a:txBody>
                  <a:tcPr marL="68580" marR="68580" marT="0" marB="0" anchor="ctr"/>
                </a:tc>
                <a:tc>
                  <a:txBody>
                    <a:bodyPr/>
                    <a:lstStyle/>
                    <a:p>
                      <a:pPr indent="0" algn="l">
                        <a:buNone/>
                      </a:pPr>
                      <a:endParaRPr lang="zh-CN" altLang="en-US" sz="1400" b="0" kern="100" dirty="0">
                        <a:latin typeface="微软雅黑" panose="020B0503020204020204" charset="-122"/>
                        <a:ea typeface="微软雅黑" panose="020B0503020204020204" charset="-122"/>
                        <a:cs typeface="Times New Roman" panose="02020603050405020304"/>
                        <a:sym typeface="+mn-ea"/>
                      </a:endParaRPr>
                    </a:p>
                  </a:txBody>
                  <a:tcPr marL="68580" marR="68580" marT="0" marB="0" anchor="ctr"/>
                </a:tc>
              </a:tr>
              <a:tr h="408305">
                <a:tc>
                  <a:txBody>
                    <a:bodyPr/>
                    <a:lstStyle/>
                    <a:p>
                      <a:pPr algn="ctr">
                        <a:spcAft>
                          <a:spcPts val="0"/>
                        </a:spcAft>
                        <a:buNone/>
                      </a:pPr>
                      <a:r>
                        <a:rPr lang="zh-CN" altLang="en-US" sz="1200" b="0" kern="100" dirty="0">
                          <a:latin typeface="微软雅黑" panose="020B0503020204020204" charset="-122"/>
                          <a:ea typeface="微软雅黑" panose="020B0503020204020204" charset="-122"/>
                          <a:cs typeface="Times New Roman" panose="02020603050405020304"/>
                        </a:rPr>
                        <a:t>其它</a:t>
                      </a:r>
                      <a:endParaRPr lang="zh-CN" altLang="en-US" sz="1200" b="0" kern="100" dirty="0">
                        <a:latin typeface="微软雅黑" panose="020B0503020204020204" charset="-122"/>
                        <a:ea typeface="微软雅黑" panose="020B0503020204020204" charset="-122"/>
                        <a:cs typeface="Times New Roman" panose="02020603050405020304"/>
                      </a:endParaRPr>
                    </a:p>
                  </a:txBody>
                  <a:tcPr marL="68580" marR="68580" marT="0" marB="0" anchor="ctr"/>
                </a:tc>
                <a:tc>
                  <a:txBody>
                    <a:bodyPr/>
                    <a:lstStyle/>
                    <a:p>
                      <a:pPr indent="0" algn="l">
                        <a:buNone/>
                      </a:pPr>
                      <a:endParaRPr lang="zh-CN" altLang="en-US" sz="1600" b="0" kern="100" dirty="0">
                        <a:latin typeface="微软雅黑" panose="020B0503020204020204" charset="-122"/>
                        <a:ea typeface="微软雅黑" panose="020B0503020204020204" charset="-122"/>
                        <a:cs typeface="Times New Roman" panose="02020603050405020304"/>
                        <a:sym typeface="+mn-ea"/>
                      </a:endParaRPr>
                    </a:p>
                  </a:txBody>
                  <a:tcPr marL="68580" marR="68580" marT="0" marB="0" anchor="ctr"/>
                </a:tc>
                <a:tc>
                  <a:txBody>
                    <a:bodyPr/>
                    <a:lstStyle/>
                    <a:p>
                      <a:pPr indent="0" algn="l">
                        <a:buNone/>
                      </a:pPr>
                      <a:endParaRPr lang="zh-CN" altLang="en-US" sz="1600" b="0" kern="100" dirty="0">
                        <a:latin typeface="微软雅黑" panose="020B0503020204020204" charset="-122"/>
                        <a:ea typeface="微软雅黑" panose="020B0503020204020204" charset="-122"/>
                        <a:cs typeface="Times New Roman" panose="02020603050405020304"/>
                        <a:sym typeface="+mn-ea"/>
                      </a:endParaRPr>
                    </a:p>
                  </a:txBody>
                  <a:tcPr marL="68580" marR="68580" marT="0" marB="0" anchor="ctr"/>
                </a:tc>
              </a:tr>
            </a:tbl>
          </a:graphicData>
        </a:graphic>
      </p:graphicFrame>
      <p:sp>
        <p:nvSpPr>
          <p:cNvPr id="15" name="Rectangle 4"/>
          <p:cNvSpPr>
            <a:spLocks noChangeArrowheads="1"/>
          </p:cNvSpPr>
          <p:nvPr/>
        </p:nvSpPr>
        <p:spPr bwMode="auto">
          <a:xfrm>
            <a:off x="709090" y="937966"/>
            <a:ext cx="10100397" cy="337185"/>
          </a:xfrm>
          <a:prstGeom prst="rect">
            <a:avLst/>
          </a:prstGeom>
          <a:gradFill rotWithShape="1">
            <a:gsLst>
              <a:gs pos="0">
                <a:srgbClr val="FFCC99">
                  <a:alpha val="85999"/>
                </a:srgbClr>
              </a:gs>
              <a:gs pos="100000">
                <a:schemeClr val="bg1"/>
              </a:gs>
            </a:gsLst>
            <a:lin ang="0" scaled="1"/>
          </a:gradFill>
          <a:ln>
            <a:noFill/>
          </a:ln>
        </p:spPr>
        <p:txBody>
          <a:bodyPr wrap="square">
            <a:spAutoFit/>
          </a:bodyPr>
          <a:lstStyle/>
          <a:p>
            <a:pPr fontAlgn="base">
              <a:spcBef>
                <a:spcPct val="20000"/>
              </a:spcBef>
              <a:spcAft>
                <a:spcPct val="0"/>
              </a:spcAft>
              <a:buClr>
                <a:srgbClr val="000099"/>
              </a:buClr>
              <a:buSzPct val="75000"/>
              <a:buFont typeface="Wingdings" panose="05000000000000000000" pitchFamily="2" charset="2"/>
              <a:buNone/>
              <a:defRPr/>
            </a:pPr>
            <a:r>
              <a:rPr lang="en-US" altLang="zh-CN" sz="1600" b="1" dirty="0">
                <a:solidFill>
                  <a:prstClr val="black"/>
                </a:solidFill>
                <a:latin typeface="微软雅黑" panose="020B0503020204020204" charset="-122"/>
                <a:ea typeface="微软雅黑" panose="020B0503020204020204" charset="-122"/>
              </a:rPr>
              <a:t>1. </a:t>
            </a:r>
            <a:r>
              <a:rPr lang="zh-CN" altLang="en-US" sz="1600" b="1" dirty="0">
                <a:solidFill>
                  <a:prstClr val="black"/>
                </a:solidFill>
                <a:latin typeface="微软雅黑" panose="020B0503020204020204" charset="-122"/>
                <a:ea typeface="微软雅黑" panose="020B0503020204020204" charset="-122"/>
              </a:rPr>
              <a:t>项目综述</a:t>
            </a:r>
            <a:endParaRPr lang="zh-CN" altLang="en-US" sz="1600" b="1" dirty="0">
              <a:solidFill>
                <a:prstClr val="black"/>
              </a:solidFill>
              <a:latin typeface="微软雅黑" panose="020B0503020204020204" charset="-122"/>
              <a:ea typeface="微软雅黑" panose="020B0503020204020204" charset="-122"/>
            </a:endParaRPr>
          </a:p>
        </p:txBody>
      </p:sp>
      <p:sp>
        <p:nvSpPr>
          <p:cNvPr id="16" name="矩形 15"/>
          <p:cNvSpPr/>
          <p:nvPr/>
        </p:nvSpPr>
        <p:spPr>
          <a:xfrm>
            <a:off x="612775" y="1290320"/>
            <a:ext cx="10903585" cy="2803525"/>
          </a:xfrm>
          <a:prstGeom prst="rect">
            <a:avLst/>
          </a:prstGeom>
        </p:spPr>
        <p:txBody>
          <a:bodyPr wrap="square">
            <a:spAutoFit/>
          </a:bodyPr>
          <a:lstStyle/>
          <a:p>
            <a:pPr marL="285750" indent="-285750">
              <a:lnSpc>
                <a:spcPct val="140000"/>
              </a:lnSpc>
              <a:buFont typeface="Wingdings" panose="05000000000000000000" charset="0"/>
              <a:buChar char="n"/>
            </a:pPr>
            <a:r>
              <a:rPr lang="zh-CN" sz="1400" b="1" dirty="0">
                <a:latin typeface="微软雅黑" panose="020B0503020204020204" charset="-122"/>
                <a:ea typeface="微软雅黑" panose="020B0503020204020204" charset="-122"/>
                <a:sym typeface="+mn-ea"/>
              </a:rPr>
              <a:t>项目简介：</a:t>
            </a:r>
            <a:r>
              <a:rPr lang="en-US" altLang="zh-CN" sz="1400" dirty="0">
                <a:latin typeface="微软雅黑" panose="020B0503020204020204" charset="-122"/>
                <a:ea typeface="微软雅黑" panose="020B0503020204020204" charset="-122"/>
                <a:sym typeface="+mn-ea"/>
              </a:rPr>
              <a:t>                                                                            </a:t>
            </a:r>
            <a:endParaRPr sz="1400" dirty="0">
              <a:solidFill>
                <a:srgbClr val="C00000"/>
              </a:solidFill>
              <a:latin typeface="微软雅黑" panose="020B0503020204020204" charset="-122"/>
              <a:ea typeface="微软雅黑" panose="020B0503020204020204" charset="-122"/>
              <a:sym typeface="+mn-ea"/>
            </a:endParaRPr>
          </a:p>
          <a:p>
            <a:pPr marL="285750" indent="-285750">
              <a:lnSpc>
                <a:spcPct val="140000"/>
              </a:lnSpc>
              <a:buFont typeface="Wingdings" panose="05000000000000000000" charset="0"/>
              <a:buChar char="n"/>
            </a:pPr>
            <a:r>
              <a:rPr lang="zh-CN" altLang="en-US" sz="1400" b="1" dirty="0">
                <a:latin typeface="微软雅黑" panose="020B0503020204020204" charset="-122"/>
                <a:ea typeface="微软雅黑" panose="020B0503020204020204" charset="-122"/>
                <a:sym typeface="+mn-ea"/>
              </a:rPr>
              <a:t>项目获取方式：</a:t>
            </a:r>
            <a:r>
              <a:rPr lang="zh-CN" altLang="en-US" sz="1400" dirty="0">
                <a:latin typeface="微软雅黑" panose="020B0503020204020204" charset="-122"/>
                <a:ea typeface="微软雅黑" panose="020B0503020204020204" charset="-122"/>
                <a:sym typeface="+mn-ea"/>
              </a:rPr>
              <a:t>（ 招投标</a:t>
            </a:r>
            <a:r>
              <a:rPr lang="en-US" altLang="zh-CN" sz="1400" dirty="0">
                <a:latin typeface="微软雅黑" panose="020B0503020204020204" charset="-122"/>
                <a:ea typeface="微软雅黑" panose="020B0503020204020204" charset="-122"/>
                <a:sym typeface="+mn-ea"/>
              </a:rPr>
              <a:t>/</a:t>
            </a:r>
            <a:r>
              <a:rPr lang="zh-CN" altLang="en-US" sz="1400" dirty="0">
                <a:latin typeface="微软雅黑" panose="020B0503020204020204" charset="-122"/>
                <a:ea typeface="微软雅黑" panose="020B0503020204020204" charset="-122"/>
                <a:sym typeface="+mn-ea"/>
              </a:rPr>
              <a:t>直签</a:t>
            </a:r>
            <a:r>
              <a:rPr lang="en-US" altLang="zh-CN" sz="1400" dirty="0">
                <a:latin typeface="微软雅黑" panose="020B0503020204020204" charset="-122"/>
                <a:ea typeface="微软雅黑" panose="020B0503020204020204" charset="-122"/>
                <a:sym typeface="+mn-ea"/>
              </a:rPr>
              <a:t>/</a:t>
            </a:r>
            <a:r>
              <a:rPr lang="zh-CN" altLang="en-US" sz="1400" dirty="0">
                <a:latin typeface="微软雅黑" panose="020B0503020204020204" charset="-122"/>
                <a:ea typeface="微软雅黑" panose="020B0503020204020204" charset="-122"/>
                <a:sym typeface="+mn-ea"/>
              </a:rPr>
              <a:t>双计回算，直签请明确预估收入金额）（详见附件</a:t>
            </a:r>
            <a:r>
              <a:rPr lang="en-US" altLang="zh-CN" sz="1400" dirty="0">
                <a:latin typeface="微软雅黑" panose="020B0503020204020204" charset="-122"/>
                <a:ea typeface="微软雅黑" panose="020B0503020204020204" charset="-122"/>
                <a:sym typeface="+mn-ea"/>
              </a:rPr>
              <a:t>1</a:t>
            </a:r>
            <a:r>
              <a:rPr lang="zh-CN" altLang="en-US" sz="1400" dirty="0">
                <a:latin typeface="微软雅黑" panose="020B0503020204020204" charset="-122"/>
                <a:ea typeface="微软雅黑" panose="020B0503020204020204" charset="-122"/>
                <a:sym typeface="+mn-ea"/>
              </a:rPr>
              <a:t>）</a:t>
            </a:r>
            <a:r>
              <a:rPr lang="en-US" altLang="zh-CN" sz="1400" dirty="0">
                <a:latin typeface="微软雅黑" panose="020B0503020204020204" charset="-122"/>
                <a:ea typeface="微软雅黑" panose="020B0503020204020204" charset="-122"/>
                <a:sym typeface="+mn-ea"/>
              </a:rPr>
              <a:t>                                                           </a:t>
            </a:r>
            <a:r>
              <a:rPr lang="zh-CN" altLang="en-US" sz="1400" b="1" dirty="0">
                <a:latin typeface="微软雅黑" panose="020B0503020204020204" charset="-122"/>
                <a:ea typeface="微软雅黑" panose="020B0503020204020204" charset="-122"/>
                <a:sym typeface="+mn-ea"/>
              </a:rPr>
              <a:t> </a:t>
            </a:r>
            <a:endParaRPr lang="zh-CN" altLang="en-US" sz="1400" b="1" dirty="0">
              <a:latin typeface="微软雅黑" panose="020B0503020204020204" charset="-122"/>
              <a:ea typeface="微软雅黑" panose="020B0503020204020204" charset="-122"/>
              <a:sym typeface="+mn-ea"/>
            </a:endParaRPr>
          </a:p>
          <a:p>
            <a:pPr marL="285750" indent="-285750">
              <a:lnSpc>
                <a:spcPct val="140000"/>
              </a:lnSpc>
              <a:buFont typeface="Wingdings" panose="05000000000000000000" charset="0"/>
              <a:buChar char="n"/>
            </a:pPr>
            <a:r>
              <a:rPr lang="zh-CN" altLang="en-US" sz="1400" b="1" dirty="0">
                <a:latin typeface="微软雅黑" panose="020B0503020204020204" charset="-122"/>
                <a:ea typeface="微软雅黑" panose="020B0503020204020204" charset="-122"/>
                <a:sym typeface="+mn-ea"/>
              </a:rPr>
              <a:t>项目是否通过客户侧财评：</a:t>
            </a:r>
            <a:r>
              <a:rPr lang="zh-CN" altLang="en-US" sz="1400" dirty="0">
                <a:latin typeface="微软雅黑" panose="020B0503020204020204" charset="-122"/>
                <a:ea typeface="微软雅黑" panose="020B0503020204020204" charset="-122"/>
                <a:sym typeface="+mn-ea"/>
              </a:rPr>
              <a:t>（资金来源、批复文号等）</a:t>
            </a:r>
            <a:endParaRPr lang="zh-CN" altLang="en-US" sz="1400" dirty="0">
              <a:latin typeface="微软雅黑" panose="020B0503020204020204" charset="-122"/>
              <a:ea typeface="微软雅黑" panose="020B0503020204020204" charset="-122"/>
              <a:sym typeface="+mn-ea"/>
            </a:endParaRPr>
          </a:p>
          <a:p>
            <a:pPr marL="285750" indent="-285750">
              <a:lnSpc>
                <a:spcPct val="140000"/>
              </a:lnSpc>
              <a:buFont typeface="Wingdings" panose="05000000000000000000" charset="0"/>
              <a:buChar char="n"/>
            </a:pPr>
            <a:r>
              <a:rPr lang="zh-CN" altLang="en-US" sz="1400" b="1" dirty="0" smtClean="0">
                <a:latin typeface="微软雅黑" panose="020B0503020204020204" charset="-122"/>
                <a:ea typeface="微软雅黑" panose="020B0503020204020204" charset="-122"/>
                <a:sym typeface="+mn-ea"/>
              </a:rPr>
              <a:t>招标限价及挂</a:t>
            </a:r>
            <a:r>
              <a:rPr lang="zh-CN" altLang="en-US" sz="1400" b="1" dirty="0">
                <a:latin typeface="微软雅黑" panose="020B0503020204020204" charset="-122"/>
                <a:ea typeface="微软雅黑" panose="020B0503020204020204" charset="-122"/>
                <a:sym typeface="+mn-ea"/>
              </a:rPr>
              <a:t>网时间</a:t>
            </a:r>
            <a:r>
              <a:rPr lang="zh-CN" altLang="en-US" sz="1400" dirty="0">
                <a:latin typeface="微软雅黑" panose="020B0503020204020204" charset="-122"/>
                <a:ea typeface="微软雅黑" panose="020B0503020204020204" charset="-122"/>
                <a:sym typeface="+mn-ea"/>
              </a:rPr>
              <a:t>（投标类项目须填写）</a:t>
            </a:r>
            <a:r>
              <a:rPr lang="zh-CN" altLang="en-US" sz="1400" b="1" dirty="0">
                <a:latin typeface="微软雅黑" panose="020B0503020204020204" charset="-122"/>
                <a:ea typeface="微软雅黑" panose="020B0503020204020204" charset="-122"/>
                <a:sym typeface="+mn-ea"/>
              </a:rPr>
              <a:t>： </a:t>
            </a:r>
            <a:endParaRPr lang="zh-CN" altLang="en-US" sz="1400" b="1" dirty="0">
              <a:latin typeface="微软雅黑" panose="020B0503020204020204" charset="-122"/>
              <a:ea typeface="微软雅黑" panose="020B0503020204020204" charset="-122"/>
              <a:sym typeface="+mn-ea"/>
            </a:endParaRPr>
          </a:p>
          <a:p>
            <a:pPr marL="285750" indent="-285750" algn="l">
              <a:lnSpc>
                <a:spcPct val="140000"/>
              </a:lnSpc>
              <a:buClrTx/>
              <a:buSzTx/>
              <a:buFont typeface="Wingdings" panose="05000000000000000000" charset="0"/>
              <a:buChar char="n"/>
            </a:pPr>
            <a:r>
              <a:rPr lang="zh-CN" altLang="en-US" sz="1400" b="1" dirty="0">
                <a:latin typeface="微软雅黑" panose="020B0503020204020204" charset="-122"/>
                <a:ea typeface="微软雅黑" panose="020B0503020204020204" charset="-122"/>
                <a:sym typeface="+mn-ea"/>
              </a:rPr>
              <a:t>商务决策时间（</a:t>
            </a:r>
            <a:r>
              <a:rPr lang="zh-CN" altLang="en-US" sz="1400" dirty="0">
                <a:latin typeface="微软雅黑" panose="020B0503020204020204" charset="-122"/>
                <a:ea typeface="微软雅黑" panose="020B0503020204020204" charset="-122"/>
                <a:sym typeface="+mn-ea"/>
              </a:rPr>
              <a:t>投标类项目须填写）</a:t>
            </a:r>
            <a:r>
              <a:rPr lang="zh-CN" altLang="en-US" sz="1400" b="1" dirty="0">
                <a:latin typeface="微软雅黑" panose="020B0503020204020204" charset="-122"/>
                <a:ea typeface="微软雅黑" panose="020B0503020204020204" charset="-122"/>
                <a:sym typeface="+mn-ea"/>
              </a:rPr>
              <a:t>：  </a:t>
            </a:r>
            <a:r>
              <a:rPr lang="zh-CN" altLang="en-US" sz="1400" dirty="0">
                <a:latin typeface="微软雅黑" panose="020B0503020204020204" charset="-122"/>
                <a:ea typeface="微软雅黑" panose="020B0503020204020204" charset="-122"/>
                <a:sym typeface="+mn-ea"/>
              </a:rPr>
              <a:t>（详见附件</a:t>
            </a:r>
            <a:r>
              <a:rPr lang="en-US" altLang="zh-CN" sz="1400" dirty="0">
                <a:latin typeface="微软雅黑" panose="020B0503020204020204" charset="-122"/>
                <a:ea typeface="微软雅黑" panose="020B0503020204020204" charset="-122"/>
                <a:sym typeface="+mn-ea"/>
              </a:rPr>
              <a:t>2</a:t>
            </a:r>
            <a:r>
              <a:rPr lang="zh-CN" altLang="en-US" sz="1400" b="1" dirty="0">
                <a:latin typeface="微软雅黑" panose="020B0503020204020204" charset="-122"/>
                <a:ea typeface="微软雅黑" panose="020B0503020204020204" charset="-122"/>
                <a:sym typeface="+mn-ea"/>
              </a:rPr>
              <a:t>）</a:t>
            </a:r>
            <a:endParaRPr lang="zh-CN" altLang="en-US" sz="1400" b="1" dirty="0">
              <a:latin typeface="微软雅黑" panose="020B0503020204020204" charset="-122"/>
              <a:ea typeface="微软雅黑" panose="020B0503020204020204" charset="-122"/>
            </a:endParaRPr>
          </a:p>
          <a:p>
            <a:pPr marL="285750" indent="-285750" algn="l">
              <a:lnSpc>
                <a:spcPct val="140000"/>
              </a:lnSpc>
              <a:buClrTx/>
              <a:buSzTx/>
              <a:buFont typeface="Wingdings" panose="05000000000000000000" charset="0"/>
              <a:buChar char="n"/>
            </a:pPr>
            <a:r>
              <a:rPr lang="zh-CN" altLang="en-US" sz="1400" b="1" dirty="0">
                <a:latin typeface="微软雅黑" panose="020B0503020204020204" charset="-122"/>
                <a:ea typeface="微软雅黑" panose="020B0503020204020204" charset="-122"/>
                <a:sym typeface="+mn-ea"/>
              </a:rPr>
              <a:t>中标时间及中标金额</a:t>
            </a:r>
            <a:r>
              <a:rPr lang="zh-CN" altLang="en-US" sz="1400" dirty="0">
                <a:latin typeface="微软雅黑" panose="020B0503020204020204" charset="-122"/>
                <a:ea typeface="微软雅黑" panose="020B0503020204020204" charset="-122"/>
                <a:sym typeface="+mn-ea"/>
              </a:rPr>
              <a:t>（投标类项目须填写）：（详见附件</a:t>
            </a:r>
            <a:r>
              <a:rPr lang="en-US" altLang="zh-CN" sz="1400" dirty="0">
                <a:latin typeface="微软雅黑" panose="020B0503020204020204" charset="-122"/>
                <a:ea typeface="微软雅黑" panose="020B0503020204020204" charset="-122"/>
                <a:sym typeface="+mn-ea"/>
              </a:rPr>
              <a:t>3</a:t>
            </a:r>
            <a:r>
              <a:rPr lang="zh-CN" altLang="en-US" sz="1400" dirty="0">
                <a:latin typeface="微软雅黑" panose="020B0503020204020204" charset="-122"/>
                <a:ea typeface="微软雅黑" panose="020B0503020204020204" charset="-122"/>
                <a:sym typeface="+mn-ea"/>
              </a:rPr>
              <a:t>）</a:t>
            </a:r>
            <a:endParaRPr lang="en-US" altLang="zh-CN" sz="1400" b="1" dirty="0" smtClean="0">
              <a:latin typeface="微软雅黑" panose="020B0503020204020204" charset="-122"/>
              <a:ea typeface="微软雅黑" panose="020B0503020204020204" charset="-122"/>
              <a:sym typeface="+mn-ea"/>
            </a:endParaRPr>
          </a:p>
          <a:p>
            <a:pPr marL="285750" indent="-285750">
              <a:lnSpc>
                <a:spcPct val="140000"/>
              </a:lnSpc>
              <a:buFont typeface="Wingdings" panose="05000000000000000000" charset="0"/>
              <a:buChar char="n"/>
            </a:pPr>
            <a:r>
              <a:rPr lang="zh-CN" sz="1400" b="1" dirty="0">
                <a:solidFill>
                  <a:prstClr val="black"/>
                </a:solidFill>
                <a:latin typeface="微软雅黑" panose="020B0503020204020204" charset="-122"/>
                <a:ea typeface="微软雅黑" panose="020B0503020204020204" charset="-122"/>
                <a:sym typeface="+mn-ea"/>
              </a:rPr>
              <a:t>合作方（供应商）确认方式：</a:t>
            </a:r>
            <a:r>
              <a:rPr lang="zh-CN" sz="1400" dirty="0">
                <a:solidFill>
                  <a:prstClr val="black"/>
                </a:solidFill>
                <a:latin typeface="微软雅黑" panose="020B0503020204020204" charset="-122"/>
                <a:ea typeface="微软雅黑" panose="020B0503020204020204" charset="-122"/>
                <a:sym typeface="+mn-ea"/>
              </a:rPr>
              <a:t>（采购</a:t>
            </a:r>
            <a:r>
              <a:rPr lang="en-US" altLang="zh-CN" sz="1400" dirty="0">
                <a:solidFill>
                  <a:prstClr val="black"/>
                </a:solidFill>
                <a:latin typeface="微软雅黑" panose="020B0503020204020204" charset="-122"/>
                <a:ea typeface="微软雅黑" panose="020B0503020204020204" charset="-122"/>
                <a:sym typeface="+mn-ea"/>
              </a:rPr>
              <a:t>/</a:t>
            </a:r>
            <a:r>
              <a:rPr lang="zh-CN" altLang="en-US" sz="1400" dirty="0">
                <a:solidFill>
                  <a:prstClr val="black"/>
                </a:solidFill>
                <a:latin typeface="微软雅黑" panose="020B0503020204020204" charset="-122"/>
                <a:ea typeface="微软雅黑" panose="020B0503020204020204" charset="-122"/>
                <a:sym typeface="+mn-ea"/>
              </a:rPr>
              <a:t>甄选）</a:t>
            </a:r>
            <a:endParaRPr lang="zh-CN" altLang="en-US" sz="1400" dirty="0">
              <a:solidFill>
                <a:prstClr val="black"/>
              </a:solidFill>
              <a:latin typeface="微软雅黑" panose="020B0503020204020204" charset="-122"/>
              <a:ea typeface="微软雅黑" panose="020B0503020204020204" charset="-122"/>
              <a:sym typeface="+mn-ea"/>
            </a:endParaRPr>
          </a:p>
          <a:p>
            <a:pPr marL="285750" indent="-285750">
              <a:lnSpc>
                <a:spcPct val="140000"/>
              </a:lnSpc>
              <a:buFont typeface="Wingdings" panose="05000000000000000000" charset="0"/>
              <a:buChar char="n"/>
            </a:pPr>
            <a:r>
              <a:rPr lang="zh-CN" altLang="en-US" sz="1400" b="1" dirty="0">
                <a:solidFill>
                  <a:prstClr val="black"/>
                </a:solidFill>
                <a:latin typeface="微软雅黑" panose="020B0503020204020204" charset="-122"/>
                <a:ea typeface="微软雅黑" panose="020B0503020204020204" charset="-122"/>
                <a:sym typeface="+mn-ea"/>
              </a:rPr>
              <a:t>是否通过售前会审及立项申请：</a:t>
            </a:r>
            <a:r>
              <a:rPr lang="zh-CN" altLang="en-US" sz="1400" dirty="0">
                <a:solidFill>
                  <a:prstClr val="black"/>
                </a:solidFill>
                <a:latin typeface="微软雅黑" panose="020B0503020204020204" charset="-122"/>
                <a:ea typeface="微软雅黑" panose="020B0503020204020204" charset="-122"/>
                <a:sym typeface="+mn-ea"/>
              </a:rPr>
              <a:t>是</a:t>
            </a:r>
            <a:r>
              <a:rPr lang="en-US" altLang="zh-CN" sz="1400" dirty="0">
                <a:solidFill>
                  <a:prstClr val="black"/>
                </a:solidFill>
                <a:latin typeface="微软雅黑" panose="020B0503020204020204" charset="-122"/>
                <a:ea typeface="微软雅黑" panose="020B0503020204020204" charset="-122"/>
                <a:sym typeface="+mn-ea"/>
              </a:rPr>
              <a:t>/</a:t>
            </a:r>
            <a:r>
              <a:rPr lang="zh-CN" altLang="en-US" sz="1400" dirty="0">
                <a:solidFill>
                  <a:prstClr val="black"/>
                </a:solidFill>
                <a:latin typeface="微软雅黑" panose="020B0503020204020204" charset="-122"/>
                <a:ea typeface="微软雅黑" panose="020B0503020204020204" charset="-122"/>
                <a:sym typeface="+mn-ea"/>
              </a:rPr>
              <a:t>否（详见附件</a:t>
            </a:r>
            <a:r>
              <a:rPr lang="en-US" altLang="zh-CN" sz="1400" dirty="0">
                <a:solidFill>
                  <a:prstClr val="black"/>
                </a:solidFill>
                <a:latin typeface="微软雅黑" panose="020B0503020204020204" charset="-122"/>
                <a:ea typeface="微软雅黑" panose="020B0503020204020204" charset="-122"/>
                <a:sym typeface="+mn-ea"/>
              </a:rPr>
              <a:t>4</a:t>
            </a:r>
            <a:r>
              <a:rPr lang="zh-CN" altLang="en-US" sz="1400" dirty="0">
                <a:solidFill>
                  <a:prstClr val="black"/>
                </a:solidFill>
                <a:latin typeface="微软雅黑" panose="020B0503020204020204" charset="-122"/>
                <a:ea typeface="微软雅黑" panose="020B0503020204020204" charset="-122"/>
                <a:sym typeface="+mn-ea"/>
              </a:rPr>
              <a:t>）</a:t>
            </a:r>
            <a:endParaRPr lang="zh-CN" sz="1400" b="1" dirty="0">
              <a:solidFill>
                <a:prstClr val="black"/>
              </a:solidFill>
              <a:latin typeface="微软雅黑" panose="020B0503020204020204" charset="-122"/>
              <a:ea typeface="微软雅黑" panose="020B0503020204020204" charset="-122"/>
              <a:sym typeface="+mn-ea"/>
            </a:endParaRPr>
          </a:p>
          <a:p>
            <a:pPr marL="285750" indent="-285750" algn="l">
              <a:lnSpc>
                <a:spcPct val="140000"/>
              </a:lnSpc>
              <a:buClrTx/>
              <a:buSzTx/>
              <a:buFont typeface="Wingdings" panose="05000000000000000000" charset="0"/>
              <a:buChar char="n"/>
            </a:pPr>
            <a:r>
              <a:rPr lang="zh-CN" sz="1400" b="1" dirty="0">
                <a:solidFill>
                  <a:prstClr val="black"/>
                </a:solidFill>
                <a:latin typeface="微软雅黑" panose="020B0503020204020204" charset="-122"/>
                <a:ea typeface="微软雅黑" panose="020B0503020204020204" charset="-122"/>
                <a:sym typeface="+mn-ea"/>
              </a:rPr>
              <a:t>前期是否有欠费</a:t>
            </a:r>
            <a:r>
              <a:rPr lang="zh-CN" sz="1400" dirty="0">
                <a:solidFill>
                  <a:prstClr val="black"/>
                </a:solidFill>
                <a:latin typeface="微软雅黑" panose="020B0503020204020204" charset="-122"/>
                <a:ea typeface="微软雅黑" panose="020B0503020204020204" charset="-122"/>
                <a:sym typeface="+mn-ea"/>
              </a:rPr>
              <a:t>（欠费金额）</a:t>
            </a:r>
            <a:r>
              <a:rPr lang="zh-CN" sz="1400" b="1" dirty="0">
                <a:solidFill>
                  <a:prstClr val="black"/>
                </a:solidFill>
                <a:latin typeface="微软雅黑" panose="020B0503020204020204" charset="-122"/>
                <a:ea typeface="微软雅黑" panose="020B0503020204020204" charset="-122"/>
                <a:sym typeface="+mn-ea"/>
              </a:rPr>
              <a:t>：</a:t>
            </a:r>
            <a:r>
              <a:rPr lang="zh-CN" sz="1400" dirty="0">
                <a:solidFill>
                  <a:prstClr val="black"/>
                </a:solidFill>
                <a:latin typeface="微软雅黑" panose="020B0503020204020204" charset="-122"/>
                <a:ea typeface="微软雅黑" panose="020B0503020204020204" charset="-122"/>
                <a:sym typeface="+mn-ea"/>
              </a:rPr>
              <a:t>（详见附件</a:t>
            </a:r>
            <a:r>
              <a:rPr lang="en-US" altLang="zh-CN" sz="1400" dirty="0">
                <a:solidFill>
                  <a:prstClr val="black"/>
                </a:solidFill>
                <a:latin typeface="微软雅黑" panose="020B0503020204020204" charset="-122"/>
                <a:ea typeface="微软雅黑" panose="020B0503020204020204" charset="-122"/>
                <a:sym typeface="+mn-ea"/>
              </a:rPr>
              <a:t>5</a:t>
            </a:r>
            <a:r>
              <a:rPr lang="zh-CN" sz="1400" dirty="0">
                <a:solidFill>
                  <a:prstClr val="black"/>
                </a:solidFill>
                <a:latin typeface="微软雅黑" panose="020B0503020204020204" charset="-122"/>
                <a:ea typeface="微软雅黑" panose="020B0503020204020204" charset="-122"/>
                <a:sym typeface="+mn-ea"/>
              </a:rPr>
              <a:t>）</a:t>
            </a:r>
            <a:endParaRPr lang="zh-CN" sz="1400" dirty="0">
              <a:solidFill>
                <a:prstClr val="black"/>
              </a:solidFill>
              <a:latin typeface="微软雅黑" panose="020B0503020204020204" charset="-122"/>
              <a:ea typeface="微软雅黑" panose="020B0503020204020204" charset="-122"/>
              <a:sym typeface="+mn-ea"/>
            </a:endParaRPr>
          </a:p>
        </p:txBody>
      </p:sp>
      <p:sp>
        <p:nvSpPr>
          <p:cNvPr id="2" name="灯片编号占位符 1"/>
          <p:cNvSpPr>
            <a:spLocks noGrp="1"/>
          </p:cNvSpPr>
          <p:nvPr>
            <p:ph type="sldNum" sz="quarter" idx="12"/>
          </p:nvPr>
        </p:nvSpPr>
        <p:spPr>
          <a:xfrm>
            <a:off x="9081770" y="6383020"/>
            <a:ext cx="2743200" cy="365125"/>
          </a:xfrm>
        </p:spPr>
        <p:txBody>
          <a:bodyPr/>
          <a:p>
            <a:r>
              <a:rPr lang="en-US" altLang="zh-CN" smtClean="0"/>
              <a:t>1</a:t>
            </a:r>
            <a:endParaRPr lang="en-US" altLang="zh-CN"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635" y="-8890"/>
            <a:ext cx="12192635" cy="892175"/>
          </a:xfrm>
          <a:prstGeom prst="rect">
            <a:avLst/>
          </a:prstGeom>
        </p:spPr>
      </p:pic>
      <p:sp>
        <p:nvSpPr>
          <p:cNvPr id="8" name="Rectangle 2"/>
          <p:cNvSpPr>
            <a:spLocks noChangeArrowheads="1"/>
          </p:cNvSpPr>
          <p:nvPr/>
        </p:nvSpPr>
        <p:spPr bwMode="auto">
          <a:xfrm>
            <a:off x="158750" y="144780"/>
            <a:ext cx="10915015" cy="584835"/>
          </a:xfrm>
          <a:prstGeom prst="rect">
            <a:avLst/>
          </a:prstGeom>
          <a:noFill/>
          <a:ln w="9525">
            <a:noFill/>
            <a:miter lim="800000"/>
          </a:ln>
        </p:spPr>
        <p:txBody>
          <a:bodyPr anchor="b"/>
          <a:lstStyle/>
          <a:p>
            <a:pPr eaLnBrk="0" hangingPunct="0"/>
            <a:r>
              <a:rPr lang="zh-CN" altLang="en-US" sz="2800" b="1" dirty="0" smtClean="0">
                <a:solidFill>
                  <a:schemeClr val="bg1"/>
                </a:solidFill>
                <a:latin typeface="黑体" panose="02010609060101010101" charset="-122"/>
                <a:ea typeface="黑体" panose="02010609060101010101" charset="-122"/>
              </a:rPr>
              <a:t>二、</a:t>
            </a:r>
            <a:r>
              <a:rPr lang="zh-CN" altLang="en-US" sz="2800" b="1" dirty="0">
                <a:solidFill>
                  <a:schemeClr val="bg1"/>
                </a:solidFill>
                <a:latin typeface="黑体" panose="02010609060101010101" charset="-122"/>
                <a:ea typeface="黑体" panose="02010609060101010101" charset="-122"/>
              </a:rPr>
              <a:t>项目内容</a:t>
            </a:r>
            <a:r>
              <a:rPr lang="en-US" altLang="zh-CN" sz="2800" b="1" dirty="0">
                <a:solidFill>
                  <a:schemeClr val="bg1"/>
                </a:solidFill>
                <a:latin typeface="黑体" panose="02010609060101010101" charset="-122"/>
                <a:ea typeface="黑体" panose="02010609060101010101" charset="-122"/>
              </a:rPr>
              <a:t>-</a:t>
            </a:r>
            <a:r>
              <a:rPr lang="zh-CN" altLang="en-US" sz="2800" b="1" dirty="0">
                <a:solidFill>
                  <a:schemeClr val="bg1"/>
                </a:solidFill>
                <a:latin typeface="黑体" panose="02010609060101010101" charset="-122"/>
                <a:ea typeface="黑体" panose="02010609060101010101" charset="-122"/>
              </a:rPr>
              <a:t>IT费用构成依据</a:t>
            </a:r>
            <a:r>
              <a:rPr lang="en-US" altLang="zh-CN" sz="2800" b="1" dirty="0">
                <a:solidFill>
                  <a:schemeClr val="bg1"/>
                </a:solidFill>
                <a:latin typeface="黑体" panose="02010609060101010101" charset="-122"/>
                <a:ea typeface="黑体" panose="02010609060101010101" charset="-122"/>
              </a:rPr>
              <a:t>-</a:t>
            </a:r>
            <a:r>
              <a:rPr lang="zh-CN" altLang="en-US" sz="2800" b="1" dirty="0">
                <a:solidFill>
                  <a:schemeClr val="bg1"/>
                </a:solidFill>
                <a:latin typeface="黑体" panose="02010609060101010101" charset="-122"/>
                <a:ea typeface="黑体" panose="02010609060101010101" charset="-122"/>
              </a:rPr>
              <a:t>甄选内容与结果</a:t>
            </a:r>
            <a:endParaRPr lang="zh-CN" altLang="en-US" sz="2800" b="1" dirty="0">
              <a:solidFill>
                <a:schemeClr val="bg1"/>
              </a:solidFill>
              <a:latin typeface="黑体" panose="02010609060101010101" charset="-122"/>
              <a:ea typeface="黑体" panose="02010609060101010101" charset="-122"/>
            </a:endParaRPr>
          </a:p>
        </p:txBody>
      </p:sp>
      <p:sp>
        <p:nvSpPr>
          <p:cNvPr id="10" name="文本框 9"/>
          <p:cNvSpPr txBox="1"/>
          <p:nvPr/>
        </p:nvSpPr>
        <p:spPr>
          <a:xfrm>
            <a:off x="205105" y="906145"/>
            <a:ext cx="11609070" cy="829945"/>
          </a:xfrm>
          <a:prstGeom prst="rect">
            <a:avLst/>
          </a:prstGeom>
          <a:noFill/>
        </p:spPr>
        <p:txBody>
          <a:bodyPr wrap="square" rtlCol="0">
            <a:spAutoFit/>
          </a:bodyPr>
          <a:lstStyle/>
          <a:p>
            <a:pPr>
              <a:lnSpc>
                <a:spcPct val="150000"/>
              </a:lnSpc>
            </a:pPr>
            <a:r>
              <a:rPr lang="en-US" altLang="zh-CN" sz="1600" b="1">
                <a:latin typeface="微软雅黑" panose="020B0503020204020204" charset="-122"/>
                <a:ea typeface="微软雅黑" panose="020B0503020204020204" charset="-122"/>
                <a:cs typeface="微软雅黑" panose="020B0503020204020204" charset="-122"/>
              </a:rPr>
              <a:t>1.</a:t>
            </a:r>
            <a:r>
              <a:rPr lang="zh-CN" altLang="en-US" sz="1600" b="1">
                <a:latin typeface="微软雅黑" panose="020B0503020204020204" charset="-122"/>
                <a:ea typeface="微软雅黑" panose="020B0503020204020204" charset="-122"/>
                <a:cs typeface="微软雅黑" panose="020B0503020204020204" charset="-122"/>
              </a:rPr>
              <a:t>甄选内容和方案（标准方案）：</a:t>
            </a:r>
            <a:r>
              <a:rPr lang="zh-CN" altLang="en-US" sz="1400">
                <a:latin typeface="微软雅黑" panose="020B0503020204020204" charset="-122"/>
                <a:ea typeface="微软雅黑" panose="020B0503020204020204" charset="-122"/>
                <a:cs typeface="微软雅黑" panose="020B0503020204020204" charset="-122"/>
              </a:rPr>
              <a:t>（详见附件</a:t>
            </a:r>
            <a:r>
              <a:rPr lang="en-US" altLang="zh-CN" sz="1400">
                <a:latin typeface="微软雅黑" panose="020B0503020204020204" charset="-122"/>
                <a:ea typeface="微软雅黑" panose="020B0503020204020204" charset="-122"/>
                <a:cs typeface="微软雅黑" panose="020B0503020204020204" charset="-122"/>
              </a:rPr>
              <a:t>6</a:t>
            </a:r>
            <a:r>
              <a:rPr lang="zh-CN" altLang="en-US" sz="1400">
                <a:latin typeface="微软雅黑" panose="020B0503020204020204" charset="-122"/>
                <a:ea typeface="微软雅黑" panose="020B0503020204020204" charset="-122"/>
                <a:cs typeface="微软雅黑" panose="020B0503020204020204" charset="-122"/>
              </a:rPr>
              <a:t>）</a:t>
            </a:r>
            <a:endParaRPr lang="zh-CN" altLang="en-US" sz="1400">
              <a:latin typeface="微软雅黑" panose="020B0503020204020204" charset="-122"/>
              <a:ea typeface="微软雅黑" panose="020B0503020204020204" charset="-122"/>
              <a:cs typeface="微软雅黑" panose="020B0503020204020204" charset="-122"/>
            </a:endParaRPr>
          </a:p>
          <a:p>
            <a:pPr>
              <a:lnSpc>
                <a:spcPct val="150000"/>
              </a:lnSpc>
            </a:pPr>
            <a:r>
              <a:rPr lang="zh-CN" altLang="en-US" sz="1600">
                <a:solidFill>
                  <a:srgbClr val="FF0000"/>
                </a:solidFill>
                <a:latin typeface="微软雅黑" panose="020B0503020204020204" charset="-122"/>
                <a:ea typeface="微软雅黑" panose="020B0503020204020204" charset="-122"/>
                <a:cs typeface="微软雅黑" panose="020B0503020204020204" charset="-122"/>
              </a:rPr>
              <a:t>（如非标准甄选方案，请提供甄选方案决策纪要相关文件，并将决策纪要/审批流程附后)</a:t>
            </a:r>
            <a:endParaRPr lang="zh-CN" altLang="en-US" sz="1600">
              <a:solidFill>
                <a:srgbClr val="FF0000"/>
              </a:solidFill>
              <a:latin typeface="微软雅黑" panose="020B0503020204020204" charset="-122"/>
              <a:ea typeface="微软雅黑" panose="020B0503020204020204" charset="-122"/>
              <a:cs typeface="微软雅黑" panose="020B0503020204020204" charset="-122"/>
            </a:endParaRPr>
          </a:p>
        </p:txBody>
      </p:sp>
      <p:graphicFrame>
        <p:nvGraphicFramePr>
          <p:cNvPr id="11" name="表格 10"/>
          <p:cNvGraphicFramePr/>
          <p:nvPr>
            <p:custDataLst>
              <p:tags r:id="rId2"/>
            </p:custDataLst>
          </p:nvPr>
        </p:nvGraphicFramePr>
        <p:xfrm>
          <a:off x="356870" y="1727835"/>
          <a:ext cx="11457940" cy="1867535"/>
        </p:xfrm>
        <a:graphic>
          <a:graphicData uri="http://schemas.openxmlformats.org/drawingml/2006/table">
            <a:tbl>
              <a:tblPr firstRow="1" bandRow="1">
                <a:tableStyleId>{5C22544A-7EE6-4342-B048-85BDC9FD1C3A}</a:tableStyleId>
              </a:tblPr>
              <a:tblGrid>
                <a:gridCol w="833120"/>
                <a:gridCol w="724535"/>
                <a:gridCol w="1511935"/>
                <a:gridCol w="532130"/>
                <a:gridCol w="842010"/>
                <a:gridCol w="612775"/>
                <a:gridCol w="758190"/>
                <a:gridCol w="601345"/>
                <a:gridCol w="993775"/>
                <a:gridCol w="1286510"/>
                <a:gridCol w="729615"/>
                <a:gridCol w="1202055"/>
                <a:gridCol w="829945"/>
              </a:tblGrid>
              <a:tr h="424180">
                <a:tc>
                  <a:txBody>
                    <a:bodyPr/>
                    <a:lstStyle/>
                    <a:p>
                      <a:pPr indent="0">
                        <a:buNone/>
                      </a:pPr>
                      <a:r>
                        <a:rPr lang="zh-CN" sz="1200" b="1" dirty="0">
                          <a:solidFill>
                            <a:srgbClr val="000000"/>
                          </a:solidFill>
                          <a:latin typeface="微软雅黑" panose="020B0503020204020204" charset="-122"/>
                          <a:ea typeface="微软雅黑" panose="020B0503020204020204" charset="-122"/>
                        </a:rPr>
                        <a:t>项目名称</a:t>
                      </a:r>
                      <a:endParaRPr lang="zh-CN" altLang="en-US" sz="1200" b="1" dirty="0">
                        <a:solidFill>
                          <a:srgbClr val="000000"/>
                        </a:solidFill>
                        <a:latin typeface="微软雅黑" panose="020B0503020204020204" charset="-122"/>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zh-CN" altLang="en-US" sz="1200" b="1" dirty="0" smtClean="0">
                          <a:solidFill>
                            <a:srgbClr val="000000"/>
                          </a:solidFill>
                          <a:latin typeface="微软雅黑" panose="020B0503020204020204" charset="-122"/>
                          <a:ea typeface="微软雅黑" panose="020B0503020204020204" charset="-122"/>
                        </a:rPr>
                        <a:t>内容</a:t>
                      </a:r>
                      <a:endParaRPr lang="zh-CN" altLang="en-US" sz="1200" b="1" dirty="0" smtClean="0">
                        <a:solidFill>
                          <a:srgbClr val="000000"/>
                        </a:solidFill>
                        <a:latin typeface="微软雅黑" panose="020B0503020204020204" charset="-122"/>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zh-CN" altLang="en-US" sz="1200" b="1">
                          <a:solidFill>
                            <a:srgbClr val="000000"/>
                          </a:solidFill>
                          <a:latin typeface="微软雅黑" panose="020B0503020204020204" charset="-122"/>
                          <a:ea typeface="微软雅黑" panose="020B0503020204020204" charset="-122"/>
                          <a:cs typeface="微软雅黑" panose="020B0503020204020204" charset="-122"/>
                        </a:rPr>
                        <a:t>甄选限价及依据</a:t>
                      </a:r>
                      <a:endParaRPr lang="zh-CN" altLang="en-US" sz="1200" b="1">
                        <a:solidFill>
                          <a:srgbClr val="000000"/>
                        </a:solidFill>
                        <a:latin typeface="微软雅黑" panose="020B0503020204020204" charset="-122"/>
                        <a:ea typeface="微软雅黑" panose="020B0503020204020204" charset="-122"/>
                        <a:cs typeface="微软雅黑" panose="020B0503020204020204" charset="-122"/>
                      </a:endParaRPr>
                    </a:p>
                    <a:p>
                      <a:pPr indent="0">
                        <a:buNone/>
                      </a:pPr>
                      <a:r>
                        <a:rPr lang="zh-CN" altLang="en-US" sz="1200" b="1">
                          <a:solidFill>
                            <a:srgbClr val="000000"/>
                          </a:solidFill>
                          <a:latin typeface="微软雅黑" panose="020B0503020204020204" charset="-122"/>
                          <a:ea typeface="微软雅黑" panose="020B0503020204020204" charset="-122"/>
                          <a:cs typeface="微软雅黑" panose="020B0503020204020204" charset="-122"/>
                        </a:rPr>
                        <a:t>（</a:t>
                      </a:r>
                      <a:r>
                        <a:rPr lang="zh-CN" altLang="en-US" sz="1200" b="0">
                          <a:solidFill>
                            <a:srgbClr val="000000"/>
                          </a:solidFill>
                          <a:latin typeface="微软雅黑" panose="020B0503020204020204" charset="-122"/>
                          <a:ea typeface="微软雅黑" panose="020B0503020204020204" charset="-122"/>
                          <a:cs typeface="微软雅黑" panose="020B0503020204020204" charset="-122"/>
                        </a:rPr>
                        <a:t>不含税，</a:t>
                      </a:r>
                      <a:r>
                        <a:rPr lang="zh-CN" altLang="en-US" sz="1200" b="0">
                          <a:solidFill>
                            <a:srgbClr val="000000"/>
                          </a:solidFill>
                          <a:latin typeface="微软雅黑" panose="020B0503020204020204" charset="-122"/>
                          <a:ea typeface="微软雅黑" panose="020B0503020204020204" charset="-122"/>
                          <a:cs typeface="微软雅黑" panose="020B0503020204020204" charset="-122"/>
                          <a:sym typeface="+mn-ea"/>
                        </a:rPr>
                        <a:t>税率</a:t>
                      </a:r>
                      <a:r>
                        <a:rPr lang="en-US" altLang="zh-CN" sz="1200" b="0">
                          <a:solidFill>
                            <a:srgbClr val="000000"/>
                          </a:solidFill>
                          <a:latin typeface="微软雅黑" panose="020B0503020204020204" charset="-122"/>
                          <a:ea typeface="微软雅黑" panose="020B0503020204020204" charset="-122"/>
                          <a:cs typeface="微软雅黑" panose="020B0503020204020204" charset="-122"/>
                          <a:sym typeface="+mn-ea"/>
                        </a:rPr>
                        <a:t>X%</a:t>
                      </a:r>
                      <a:r>
                        <a:rPr lang="zh-CN" altLang="en-US" sz="1200" b="1">
                          <a:solidFill>
                            <a:srgbClr val="000000"/>
                          </a:solidFill>
                          <a:latin typeface="微软雅黑" panose="020B0503020204020204" charset="-122"/>
                          <a:ea typeface="微软雅黑" panose="020B0503020204020204" charset="-122"/>
                          <a:cs typeface="微软雅黑" panose="020B0503020204020204" charset="-122"/>
                          <a:sym typeface="+mn-ea"/>
                        </a:rPr>
                        <a:t>）</a:t>
                      </a:r>
                      <a:endParaRPr lang="zh-CN" altLang="en-US" sz="1200" b="1">
                        <a:solidFill>
                          <a:srgbClr val="000000"/>
                        </a:solidFill>
                        <a:latin typeface="微软雅黑" panose="020B0503020204020204" charset="-122"/>
                        <a:ea typeface="微软雅黑" panose="020B0503020204020204" charset="-122"/>
                        <a:cs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zh-CN" sz="1200" b="1">
                          <a:solidFill>
                            <a:srgbClr val="000000"/>
                          </a:solidFill>
                          <a:latin typeface="微软雅黑" panose="020B0503020204020204" charset="-122"/>
                          <a:ea typeface="微软雅黑" panose="020B0503020204020204" charset="-122"/>
                          <a:cs typeface="微软雅黑" panose="020B0503020204020204" charset="-122"/>
                        </a:rPr>
                        <a:t>1技术规范</a:t>
                      </a:r>
                      <a:endParaRPr lang="zh-CN" altLang="en-US" sz="1200" b="1">
                        <a:solidFill>
                          <a:srgbClr val="000000"/>
                        </a:solidFill>
                        <a:latin typeface="微软雅黑" panose="020B0503020204020204" charset="-122"/>
                        <a:ea typeface="微软雅黑" panose="020B0503020204020204" charset="-122"/>
                        <a:cs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zh-CN" sz="1200" b="1">
                          <a:solidFill>
                            <a:srgbClr val="000000"/>
                          </a:solidFill>
                          <a:latin typeface="微软雅黑" panose="020B0503020204020204" charset="-122"/>
                          <a:ea typeface="微软雅黑" panose="020B0503020204020204" charset="-122"/>
                          <a:cs typeface="微软雅黑" panose="020B0503020204020204" charset="-122"/>
                        </a:rPr>
                        <a:t>2商务规范</a:t>
                      </a:r>
                      <a:endParaRPr lang="zh-CN" altLang="en-US" sz="1200" b="1">
                        <a:solidFill>
                          <a:srgbClr val="000000"/>
                        </a:solidFill>
                        <a:latin typeface="微软雅黑" panose="020B0503020204020204" charset="-122"/>
                        <a:ea typeface="微软雅黑" panose="020B0503020204020204" charset="-122"/>
                        <a:cs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zh-CN" sz="1200" b="1">
                          <a:solidFill>
                            <a:srgbClr val="000000"/>
                          </a:solidFill>
                          <a:latin typeface="微软雅黑" panose="020B0503020204020204" charset="-122"/>
                          <a:ea typeface="微软雅黑" panose="020B0503020204020204" charset="-122"/>
                          <a:cs typeface="微软雅黑" panose="020B0503020204020204" charset="-122"/>
                        </a:rPr>
                        <a:t>3评审办法</a:t>
                      </a:r>
                      <a:endParaRPr lang="zh-CN" altLang="en-US" sz="1200" b="1">
                        <a:solidFill>
                          <a:srgbClr val="000000"/>
                        </a:solidFill>
                        <a:latin typeface="微软雅黑" panose="020B0503020204020204" charset="-122"/>
                        <a:ea typeface="微软雅黑" panose="020B0503020204020204" charset="-122"/>
                        <a:cs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zh-CN" sz="1200" b="1">
                          <a:solidFill>
                            <a:srgbClr val="000000"/>
                          </a:solidFill>
                          <a:latin typeface="微软雅黑" panose="020B0503020204020204" charset="-122"/>
                          <a:ea typeface="微软雅黑" panose="020B0503020204020204" charset="-122"/>
                          <a:cs typeface="微软雅黑" panose="020B0503020204020204" charset="-122"/>
                        </a:rPr>
                        <a:t>4评审标准</a:t>
                      </a:r>
                      <a:endParaRPr lang="zh-CN" altLang="en-US" sz="1200" b="1">
                        <a:solidFill>
                          <a:srgbClr val="000000"/>
                        </a:solidFill>
                        <a:latin typeface="微软雅黑" panose="020B0503020204020204" charset="-122"/>
                        <a:ea typeface="微软雅黑" panose="020B0503020204020204" charset="-122"/>
                        <a:cs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zh-CN" sz="1200" b="1">
                          <a:solidFill>
                            <a:srgbClr val="000000"/>
                          </a:solidFill>
                          <a:latin typeface="微软雅黑" panose="020B0503020204020204" charset="-122"/>
                          <a:ea typeface="微软雅黑" panose="020B0503020204020204" charset="-122"/>
                          <a:cs typeface="微软雅黑" panose="020B0503020204020204" charset="-122"/>
                        </a:rPr>
                        <a:t>5甄选方式</a:t>
                      </a:r>
                      <a:endParaRPr lang="zh-CN" altLang="en-US" sz="1200" b="1">
                        <a:solidFill>
                          <a:srgbClr val="000000"/>
                        </a:solidFill>
                        <a:latin typeface="微软雅黑" panose="020B0503020204020204" charset="-122"/>
                        <a:ea typeface="微软雅黑" panose="020B0503020204020204" charset="-122"/>
                        <a:cs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zh-CN" sz="1200" b="1">
                          <a:solidFill>
                            <a:srgbClr val="000000"/>
                          </a:solidFill>
                          <a:latin typeface="微软雅黑" panose="020B0503020204020204" charset="-122"/>
                          <a:ea typeface="微软雅黑" panose="020B0503020204020204" charset="-122"/>
                          <a:cs typeface="微软雅黑" panose="020B0503020204020204" charset="-122"/>
                        </a:rPr>
                        <a:t>6甄选范围</a:t>
                      </a:r>
                      <a:endParaRPr lang="zh-CN" altLang="en-US" sz="1200" b="1">
                        <a:solidFill>
                          <a:srgbClr val="000000"/>
                        </a:solidFill>
                        <a:latin typeface="微软雅黑" panose="020B0503020204020204" charset="-122"/>
                        <a:ea typeface="微软雅黑" panose="020B0503020204020204" charset="-122"/>
                        <a:cs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zh-CN" sz="1200" b="1">
                          <a:solidFill>
                            <a:srgbClr val="000000"/>
                          </a:solidFill>
                          <a:latin typeface="微软雅黑" panose="020B0503020204020204" charset="-122"/>
                          <a:ea typeface="微软雅黑" panose="020B0503020204020204" charset="-122"/>
                          <a:cs typeface="微软雅黑" panose="020B0503020204020204" charset="-122"/>
                        </a:rPr>
                        <a:t>7评选小组</a:t>
                      </a:r>
                      <a:endParaRPr lang="zh-CN" altLang="en-US" sz="1200" b="1">
                        <a:solidFill>
                          <a:srgbClr val="000000"/>
                        </a:solidFill>
                        <a:latin typeface="微软雅黑" panose="020B0503020204020204" charset="-122"/>
                        <a:ea typeface="微软雅黑" panose="020B0503020204020204" charset="-122"/>
                        <a:cs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zh-CN" sz="1200" b="1">
                          <a:solidFill>
                            <a:srgbClr val="000000"/>
                          </a:solidFill>
                          <a:latin typeface="微软雅黑" panose="020B0503020204020204" charset="-122"/>
                          <a:ea typeface="微软雅黑" panose="020B0503020204020204" charset="-122"/>
                          <a:cs typeface="微软雅黑" panose="020B0503020204020204" charset="-122"/>
                        </a:rPr>
                        <a:t>8甄选评审计划</a:t>
                      </a:r>
                      <a:endParaRPr lang="zh-CN" altLang="en-US" sz="1200" b="1">
                        <a:solidFill>
                          <a:srgbClr val="000000"/>
                        </a:solidFill>
                        <a:latin typeface="微软雅黑" panose="020B0503020204020204" charset="-122"/>
                        <a:ea typeface="微软雅黑" panose="020B0503020204020204" charset="-122"/>
                        <a:cs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zh-CN" sz="1200" b="1">
                          <a:solidFill>
                            <a:srgbClr val="000000"/>
                          </a:solidFill>
                          <a:latin typeface="微软雅黑" panose="020B0503020204020204" charset="-122"/>
                          <a:ea typeface="微软雅黑" panose="020B0503020204020204" charset="-122"/>
                          <a:cs typeface="微软雅黑" panose="020B0503020204020204" charset="-122"/>
                        </a:rPr>
                        <a:t>9特殊情况处理原则</a:t>
                      </a:r>
                      <a:endParaRPr lang="zh-CN" altLang="en-US" sz="1200" b="1">
                        <a:solidFill>
                          <a:srgbClr val="000000"/>
                        </a:solidFill>
                        <a:latin typeface="微软雅黑" panose="020B0503020204020204" charset="-122"/>
                        <a:ea typeface="微软雅黑" panose="020B0503020204020204" charset="-122"/>
                        <a:cs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zh-CN" sz="1200" b="1">
                          <a:solidFill>
                            <a:srgbClr val="000000"/>
                          </a:solidFill>
                          <a:latin typeface="微软雅黑" panose="020B0503020204020204" charset="-122"/>
                          <a:ea typeface="微软雅黑" panose="020B0503020204020204" charset="-122"/>
                          <a:cs typeface="微软雅黑" panose="020B0503020204020204" charset="-122"/>
                        </a:rPr>
                        <a:t>10二次报价及二次谈判</a:t>
                      </a:r>
                      <a:endParaRPr lang="zh-CN" altLang="en-US" sz="1200" b="1">
                        <a:solidFill>
                          <a:srgbClr val="000000"/>
                        </a:solidFill>
                        <a:latin typeface="微软雅黑" panose="020B0503020204020204" charset="-122"/>
                        <a:ea typeface="微软雅黑" panose="020B0503020204020204" charset="-122"/>
                        <a:cs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721995">
                <a:tc rowSpan="2">
                  <a:txBody>
                    <a:bodyPr/>
                    <a:lstStyle/>
                    <a:p>
                      <a:pPr indent="0">
                        <a:buNone/>
                      </a:pPr>
                      <a:endParaRPr lang="zh-CN" altLang="en-US" sz="1200" b="0">
                        <a:solidFill>
                          <a:srgbClr val="000000"/>
                        </a:solidFill>
                        <a:latin typeface="微软雅黑" panose="020B0503020204020204" charset="-122"/>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zh-CN" sz="1200" b="0" dirty="0">
                        <a:solidFill>
                          <a:srgbClr val="000000"/>
                        </a:solidFill>
                        <a:latin typeface="微软雅黑" panose="020B0503020204020204" charset="-122"/>
                        <a:ea typeface="微软雅黑" panose="020B0503020204020204" charset="-122"/>
                        <a:sym typeface="+mn-ea"/>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l">
                        <a:buNone/>
                      </a:pPr>
                      <a:endParaRPr lang="zh-CN" altLang="en-US" sz="1200" b="0">
                        <a:solidFill>
                          <a:srgbClr val="000000"/>
                        </a:solidFill>
                        <a:latin typeface="微软雅黑" panose="020B0503020204020204" charset="-122"/>
                        <a:ea typeface="微软雅黑" panose="020B0503020204020204" charset="-122"/>
                        <a:cs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rowSpan="2">
                  <a:txBody>
                    <a:bodyPr/>
                    <a:lstStyle/>
                    <a:p>
                      <a:pPr indent="0" algn="ctr">
                        <a:buNone/>
                      </a:pPr>
                      <a:endParaRPr lang="en-US" altLang="en-US" sz="1200" b="0">
                        <a:solidFill>
                          <a:srgbClr val="000000"/>
                        </a:solidFill>
                        <a:latin typeface="微软雅黑" panose="020B0503020204020204" charset="-122"/>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rowSpan="2">
                  <a:txBody>
                    <a:bodyPr/>
                    <a:lstStyle/>
                    <a:p>
                      <a:pPr indent="0">
                        <a:buNone/>
                      </a:pPr>
                      <a:endParaRPr lang="zh-CN" altLang="en-US" sz="1200" b="0">
                        <a:solidFill>
                          <a:srgbClr val="000000"/>
                        </a:solidFill>
                        <a:latin typeface="微软雅黑" panose="020B0503020204020204" charset="-122"/>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zh-CN" altLang="en-US" sz="1200" b="0">
                        <a:solidFill>
                          <a:srgbClr val="000000"/>
                        </a:solidFill>
                        <a:latin typeface="微软雅黑" panose="020B0503020204020204" charset="-122"/>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zh-CN" altLang="en-US" sz="1200" b="0">
                        <a:solidFill>
                          <a:srgbClr val="000000"/>
                        </a:solidFill>
                        <a:latin typeface="微软雅黑" panose="020B0503020204020204" charset="-122"/>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zh-CN" altLang="en-US" sz="1200" b="1">
                        <a:solidFill>
                          <a:srgbClr val="000000"/>
                        </a:solidFill>
                        <a:latin typeface="微软雅黑" panose="020B0503020204020204" charset="-122"/>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zh-CN" altLang="en-US" sz="1200" b="1">
                        <a:solidFill>
                          <a:srgbClr val="000000"/>
                        </a:solidFill>
                        <a:latin typeface="微软雅黑" panose="020B0503020204020204" charset="-122"/>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zh-CN" altLang="en-US" sz="1200" b="0">
                        <a:solidFill>
                          <a:srgbClr val="000000"/>
                        </a:solidFill>
                        <a:latin typeface="微软雅黑" panose="020B0503020204020204" charset="-122"/>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rowSpan="2">
                  <a:txBody>
                    <a:bodyPr/>
                    <a:lstStyle/>
                    <a:p>
                      <a:pPr indent="0">
                        <a:buNone/>
                      </a:pPr>
                      <a:endParaRPr lang="zh-CN" altLang="en-US" sz="1200" b="0">
                        <a:solidFill>
                          <a:srgbClr val="000000"/>
                        </a:solidFill>
                        <a:latin typeface="微软雅黑" panose="020B0503020204020204" charset="-122"/>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zh-CN" altLang="en-US" sz="1200" b="0">
                        <a:solidFill>
                          <a:srgbClr val="000000"/>
                        </a:solidFill>
                        <a:latin typeface="微软雅黑" panose="020B0503020204020204" charset="-122"/>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rowSpan="2">
                  <a:txBody>
                    <a:bodyPr/>
                    <a:lstStyle/>
                    <a:p>
                      <a:pPr indent="0">
                        <a:buNone/>
                      </a:pPr>
                      <a:endParaRPr lang="zh-CN" altLang="en-US" sz="1200" b="0">
                        <a:solidFill>
                          <a:srgbClr val="000000"/>
                        </a:solidFill>
                        <a:latin typeface="微软雅黑" panose="020B0503020204020204" charset="-122"/>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72136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indent="0">
                        <a:buNone/>
                      </a:pPr>
                      <a:endParaRPr lang="zh-CN" altLang="en-US" sz="1200" b="0" dirty="0">
                        <a:solidFill>
                          <a:srgbClr val="000000"/>
                        </a:solidFill>
                        <a:latin typeface="微软雅黑" panose="020B0503020204020204" charset="-122"/>
                        <a:ea typeface="微软雅黑" panose="020B0503020204020204" charset="-122"/>
                        <a:sym typeface="+mn-ea"/>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l">
                        <a:buNone/>
                      </a:pPr>
                      <a:endParaRPr lang="zh-CN" altLang="en-US" sz="1200" b="0">
                        <a:solidFill>
                          <a:srgbClr val="000000"/>
                        </a:solidFill>
                        <a:latin typeface="微软雅黑" panose="020B0503020204020204" charset="-122"/>
                        <a:ea typeface="微软雅黑" panose="020B0503020204020204" charset="-122"/>
                        <a:cs typeface="微软雅黑" panose="020B0503020204020204" charset="-122"/>
                        <a:sym typeface="+mn-ea"/>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vMerge="1">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indent="0">
                        <a:buNone/>
                      </a:pPr>
                      <a:endParaRPr lang="zh-CN" altLang="en-US" sz="1200" b="0">
                        <a:solidFill>
                          <a:srgbClr val="000000"/>
                        </a:solidFill>
                        <a:latin typeface="微软雅黑" panose="020B0503020204020204" charset="-122"/>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zh-CN" altLang="en-US" sz="1200" b="0">
                        <a:solidFill>
                          <a:srgbClr val="000000"/>
                        </a:solidFill>
                        <a:latin typeface="微软雅黑" panose="020B0503020204020204" charset="-122"/>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zh-CN" altLang="en-US" sz="1200" b="1">
                        <a:solidFill>
                          <a:srgbClr val="000000"/>
                        </a:solidFill>
                        <a:latin typeface="微软雅黑" panose="020B0503020204020204" charset="-122"/>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zh-CN" altLang="en-US" sz="1200" b="1">
                        <a:solidFill>
                          <a:srgbClr val="000000"/>
                        </a:solidFill>
                        <a:latin typeface="微软雅黑" panose="020B0503020204020204" charset="-122"/>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zh-CN" altLang="en-US" sz="1200" b="0">
                        <a:solidFill>
                          <a:srgbClr val="000000"/>
                        </a:solidFill>
                        <a:latin typeface="微软雅黑" panose="020B0503020204020204" charset="-122"/>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indent="0">
                        <a:buNone/>
                      </a:pPr>
                      <a:endParaRPr lang="zh-CN" altLang="en-US" sz="1200" b="0">
                        <a:solidFill>
                          <a:srgbClr val="000000"/>
                        </a:solidFill>
                        <a:latin typeface="微软雅黑" panose="020B0503020204020204" charset="-122"/>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bl>
          </a:graphicData>
        </a:graphic>
      </p:graphicFrame>
      <p:sp>
        <p:nvSpPr>
          <p:cNvPr id="1048626" name="文本框 13"/>
          <p:cNvSpPr txBox="1"/>
          <p:nvPr/>
        </p:nvSpPr>
        <p:spPr>
          <a:xfrm>
            <a:off x="205105" y="3686810"/>
            <a:ext cx="11351895" cy="1153160"/>
          </a:xfrm>
          <a:prstGeom prst="rect">
            <a:avLst/>
          </a:prstGeom>
          <a:noFill/>
        </p:spPr>
        <p:txBody>
          <a:bodyPr wrap="square" rtlCol="0" anchor="t">
            <a:spAutoFit/>
          </a:bodyPr>
          <a:lstStyle/>
          <a:p>
            <a:pPr>
              <a:lnSpc>
                <a:spcPct val="150000"/>
              </a:lnSpc>
            </a:pPr>
            <a:r>
              <a:rPr lang="en-US" altLang="zh-CN" sz="1600" b="1">
                <a:latin typeface="微软雅黑" panose="020B0503020204020204" charset="-122"/>
                <a:ea typeface="微软雅黑" panose="020B0503020204020204" charset="-122"/>
                <a:cs typeface="微软雅黑" panose="020B0503020204020204" charset="-122"/>
                <a:sym typeface="+mn-ea"/>
              </a:rPr>
              <a:t>2.</a:t>
            </a:r>
            <a:r>
              <a:rPr lang="zh-CN" altLang="en-US" sz="1600" b="1">
                <a:latin typeface="微软雅黑" panose="020B0503020204020204" charset="-122"/>
                <a:ea typeface="微软雅黑" panose="020B0503020204020204" charset="-122"/>
                <a:cs typeface="微软雅黑" panose="020B0503020204020204" charset="-122"/>
                <a:sym typeface="+mn-ea"/>
              </a:rPr>
              <a:t>甄选过程：</a:t>
            </a:r>
            <a:endParaRPr lang="zh-CN" altLang="en-US" sz="1600" b="1">
              <a:latin typeface="微软雅黑" panose="020B0503020204020204" charset="-122"/>
              <a:ea typeface="微软雅黑" panose="020B0503020204020204" charset="-122"/>
              <a:cs typeface="微软雅黑" panose="020B0503020204020204" charset="-122"/>
              <a:sym typeface="+mn-ea"/>
            </a:endParaRPr>
          </a:p>
          <a:p>
            <a:pPr>
              <a:lnSpc>
                <a:spcPct val="150000"/>
              </a:lnSpc>
            </a:pPr>
            <a:r>
              <a:rPr lang="zh-CN" altLang="en-US" sz="1600" b="1">
                <a:latin typeface="微软雅黑" panose="020B0503020204020204" charset="-122"/>
                <a:ea typeface="微软雅黑" panose="020B0503020204020204" charset="-122"/>
                <a:cs typeface="微软雅黑" panose="020B0503020204020204" charset="-122"/>
                <a:sym typeface="+mn-ea"/>
              </a:rPr>
              <a:t> </a:t>
            </a:r>
            <a:r>
              <a:rPr lang="en-US" altLang="zh-CN" sz="1600" b="1">
                <a:latin typeface="微软雅黑" panose="020B0503020204020204" charset="-122"/>
                <a:ea typeface="微软雅黑" panose="020B0503020204020204" charset="-122"/>
                <a:cs typeface="微软雅黑" panose="020B0503020204020204" charset="-122"/>
                <a:sym typeface="+mn-ea"/>
              </a:rPr>
              <a:t>   </a:t>
            </a:r>
            <a:r>
              <a:rPr lang="zh-CN" sz="1400">
                <a:latin typeface="微软雅黑" panose="020B0503020204020204" charset="-122"/>
                <a:ea typeface="微软雅黑" panose="020B0503020204020204" charset="-122"/>
                <a:cs typeface="微软雅黑" panose="020B0503020204020204" charset="-122"/>
                <a:sym typeface="+mn-ea"/>
              </a:rPr>
              <a:t>（1）邀请及应答情况：政企部于XXXX年XX月XX号收到甄选需求，XXXX年XX月XX号向入围XX行业的XX家合作伙伴发布邀请文件，截止XXXX年XX月XX号XX时XX分，递交应答文件情况如下：</a:t>
            </a:r>
            <a:endParaRPr lang="zh-CN" sz="1400">
              <a:latin typeface="微软雅黑" panose="020B0503020204020204" charset="-122"/>
              <a:ea typeface="微软雅黑" panose="020B0503020204020204" charset="-122"/>
              <a:cs typeface="微软雅黑" panose="020B0503020204020204" charset="-122"/>
              <a:sym typeface="+mn-ea"/>
            </a:endParaRPr>
          </a:p>
        </p:txBody>
      </p:sp>
      <p:graphicFrame>
        <p:nvGraphicFramePr>
          <p:cNvPr id="3" name="表格 2"/>
          <p:cNvGraphicFramePr/>
          <p:nvPr/>
        </p:nvGraphicFramePr>
        <p:xfrm>
          <a:off x="1478280" y="5020310"/>
          <a:ext cx="6863715" cy="640080"/>
        </p:xfrm>
        <a:graphic>
          <a:graphicData uri="http://schemas.openxmlformats.org/drawingml/2006/table">
            <a:tbl>
              <a:tblPr firstRow="1" bandRow="1">
                <a:tableStyleId>{5940675A-B579-460E-94D1-54222C63F5DA}</a:tableStyleId>
              </a:tblPr>
              <a:tblGrid>
                <a:gridCol w="831215"/>
                <a:gridCol w="4521835"/>
                <a:gridCol w="1510665"/>
              </a:tblGrid>
              <a:tr h="213360">
                <a:tc>
                  <a:txBody>
                    <a:bodyPr/>
                    <a:lstStyle/>
                    <a:p>
                      <a:pPr indent="0" algn="ctr">
                        <a:buNone/>
                      </a:pPr>
                      <a:r>
                        <a:rPr lang="en-US" sz="1200" b="1">
                          <a:latin typeface="微软雅黑" panose="020B0503020204020204" charset="-122"/>
                          <a:ea typeface="微软雅黑" panose="020B0503020204020204" charset="-122"/>
                          <a:cs typeface="宋体" pitchFamily="2" charset="-122"/>
                        </a:rPr>
                        <a:t>序号</a:t>
                      </a:r>
                      <a:endParaRPr lang="en-US" altLang="en-US" sz="1200" b="1">
                        <a:latin typeface="微软雅黑" panose="020B0503020204020204" charset="-122"/>
                        <a:ea typeface="微软雅黑" panose="020B0503020204020204" charset="-122"/>
                        <a:cs typeface="宋体"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200" b="1">
                          <a:latin typeface="微软雅黑" panose="020B0503020204020204" charset="-122"/>
                          <a:ea typeface="微软雅黑" panose="020B0503020204020204" charset="-122"/>
                          <a:cs typeface="宋体" pitchFamily="2" charset="-122"/>
                        </a:rPr>
                        <a:t>邀请供应商名称</a:t>
                      </a:r>
                      <a:endParaRPr lang="en-US" altLang="en-US" sz="1200" b="1">
                        <a:latin typeface="微软雅黑" panose="020B0503020204020204" charset="-122"/>
                        <a:ea typeface="微软雅黑" panose="020B0503020204020204" charset="-122"/>
                        <a:cs typeface="宋体"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200" b="1">
                          <a:latin typeface="微软雅黑" panose="020B0503020204020204" charset="-122"/>
                          <a:ea typeface="微软雅黑" panose="020B0503020204020204" charset="-122"/>
                          <a:cs typeface="宋体" pitchFamily="2" charset="-122"/>
                        </a:rPr>
                        <a:t>应答情况</a:t>
                      </a:r>
                      <a:endParaRPr lang="en-US" altLang="en-US" sz="1200" b="1">
                        <a:latin typeface="微软雅黑" panose="020B0503020204020204" charset="-122"/>
                        <a:ea typeface="微软雅黑" panose="020B0503020204020204" charset="-122"/>
                        <a:cs typeface="宋体"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13360">
                <a:tc>
                  <a:txBody>
                    <a:bodyPr/>
                    <a:lstStyle/>
                    <a:p>
                      <a:pPr indent="0" algn="ctr">
                        <a:buNone/>
                      </a:pPr>
                      <a:r>
                        <a:rPr lang="en-US" sz="1200" b="0">
                          <a:latin typeface="微软雅黑" panose="020B0503020204020204" charset="-122"/>
                          <a:ea typeface="微软雅黑" panose="020B0503020204020204" charset="-122"/>
                          <a:cs typeface="宋体" pitchFamily="2" charset="-122"/>
                        </a:rPr>
                        <a:t>1</a:t>
                      </a:r>
                      <a:endParaRPr lang="en-US" altLang="en-US" sz="1200" b="0">
                        <a:latin typeface="微软雅黑" panose="020B0503020204020204" charset="-122"/>
                        <a:ea typeface="微软雅黑" panose="020B0503020204020204" charset="-122"/>
                        <a:cs typeface="宋体"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200" b="1" dirty="0">
                          <a:solidFill>
                            <a:srgbClr val="FF0000"/>
                          </a:solidFill>
                          <a:latin typeface="微软雅黑" panose="020B0503020204020204" charset="-122"/>
                          <a:ea typeface="微软雅黑" panose="020B0503020204020204" charset="-122"/>
                          <a:sym typeface="+mn-ea"/>
                        </a:rPr>
                        <a:t>XX</a:t>
                      </a:r>
                      <a:endParaRPr lang="en-US" altLang="zh-CN" sz="1200" b="1" dirty="0">
                        <a:solidFill>
                          <a:srgbClr val="FF0000"/>
                        </a:solidFill>
                        <a:latin typeface="微软雅黑" panose="020B0503020204020204" charset="-122"/>
                        <a:ea typeface="微软雅黑" panose="020B0503020204020204" charset="-122"/>
                        <a:cs typeface="宋体" pitchFamily="2" charset="-122"/>
                        <a:sym typeface="+mn-ea"/>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200" b="0">
                          <a:latin typeface="微软雅黑" panose="020B0503020204020204" charset="-122"/>
                          <a:ea typeface="微软雅黑" panose="020B0503020204020204" charset="-122"/>
                          <a:cs typeface="宋体" pitchFamily="2" charset="-122"/>
                        </a:rPr>
                        <a:t>按时应答</a:t>
                      </a:r>
                      <a:endParaRPr lang="en-US" altLang="en-US" sz="1200" b="0">
                        <a:latin typeface="微软雅黑" panose="020B0503020204020204" charset="-122"/>
                        <a:ea typeface="微软雅黑" panose="020B0503020204020204" charset="-122"/>
                        <a:cs typeface="宋体"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13360">
                <a:tc>
                  <a:txBody>
                    <a:bodyPr/>
                    <a:lstStyle/>
                    <a:p>
                      <a:pPr indent="0" algn="ctr">
                        <a:buNone/>
                      </a:pPr>
                      <a:r>
                        <a:rPr lang="en-US" altLang="en-US" sz="1200" b="0">
                          <a:latin typeface="微软雅黑" panose="020B0503020204020204" charset="-122"/>
                          <a:ea typeface="微软雅黑" panose="020B0503020204020204" charset="-122"/>
                          <a:cs typeface="宋体" pitchFamily="2" charset="-122"/>
                        </a:rPr>
                        <a:t>......</a:t>
                      </a:r>
                      <a:endParaRPr lang="en-US" altLang="en-US" sz="1200" b="0">
                        <a:latin typeface="微软雅黑" panose="020B0503020204020204" charset="-122"/>
                        <a:ea typeface="微软雅黑" panose="020B0503020204020204" charset="-122"/>
                        <a:cs typeface="宋体"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200" b="1" dirty="0">
                          <a:solidFill>
                            <a:srgbClr val="FF0000"/>
                          </a:solidFill>
                          <a:latin typeface="微软雅黑" panose="020B0503020204020204" charset="-122"/>
                          <a:ea typeface="微软雅黑" panose="020B0503020204020204" charset="-122"/>
                          <a:sym typeface="+mn-ea"/>
                        </a:rPr>
                        <a:t>XX</a:t>
                      </a:r>
                      <a:endParaRPr lang="en-US" altLang="zh-CN" sz="1200" b="1" dirty="0">
                        <a:solidFill>
                          <a:srgbClr val="FF0000"/>
                        </a:solidFill>
                        <a:latin typeface="微软雅黑" panose="020B0503020204020204" charset="-122"/>
                        <a:ea typeface="微软雅黑" panose="020B0503020204020204" charset="-122"/>
                        <a:cs typeface="宋体" pitchFamily="2" charset="-122"/>
                        <a:sym typeface="+mn-ea"/>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200">
                          <a:latin typeface="微软雅黑" panose="020B0503020204020204" charset="-122"/>
                          <a:ea typeface="微软雅黑" panose="020B0503020204020204" charset="-122"/>
                          <a:cs typeface="宋体" pitchFamily="2" charset="-122"/>
                          <a:sym typeface="+mn-ea"/>
                        </a:rPr>
                        <a:t>按时应答</a:t>
                      </a:r>
                      <a:endParaRPr lang="en-US" altLang="en-US" sz="1200" b="0">
                        <a:latin typeface="微软雅黑" panose="020B0503020204020204" charset="-122"/>
                        <a:ea typeface="微软雅黑" panose="020B0503020204020204" charset="-122"/>
                        <a:cs typeface="宋体" pitchFamily="2" charset="-122"/>
                        <a:sym typeface="+mn-ea"/>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5" name="文本框 4"/>
          <p:cNvSpPr txBox="1"/>
          <p:nvPr/>
        </p:nvSpPr>
        <p:spPr>
          <a:xfrm>
            <a:off x="294005" y="5786120"/>
            <a:ext cx="11418570" cy="564515"/>
          </a:xfrm>
          <a:prstGeom prst="rect">
            <a:avLst/>
          </a:prstGeom>
          <a:noFill/>
          <a:ln w="9525">
            <a:noFill/>
          </a:ln>
        </p:spPr>
        <p:txBody>
          <a:bodyPr wrap="square">
            <a:spAutoFit/>
          </a:bodyPr>
          <a:lstStyle/>
          <a:p>
            <a:pPr indent="266700">
              <a:lnSpc>
                <a:spcPct val="110000"/>
              </a:lnSpc>
            </a:pPr>
            <a:r>
              <a:rPr lang="zh-CN" sz="1400" b="0">
                <a:latin typeface="微软雅黑" panose="020B0503020204020204" charset="-122"/>
                <a:ea typeface="微软雅黑" panose="020B0503020204020204" charset="-122"/>
                <a:cs typeface="微软雅黑" panose="020B0503020204020204" charset="-122"/>
              </a:rPr>
              <a:t>（</a:t>
            </a:r>
            <a:r>
              <a:rPr lang="en-US" altLang="zh-CN" sz="1400" b="0">
                <a:latin typeface="微软雅黑" panose="020B0503020204020204" charset="-122"/>
                <a:ea typeface="微软雅黑" panose="020B0503020204020204" charset="-122"/>
                <a:cs typeface="微软雅黑" panose="020B0503020204020204" charset="-122"/>
              </a:rPr>
              <a:t>2</a:t>
            </a:r>
            <a:r>
              <a:rPr lang="zh-CN" sz="1400" b="0">
                <a:latin typeface="微软雅黑" panose="020B0503020204020204" charset="-122"/>
                <a:ea typeface="微软雅黑" panose="020B0503020204020204" charset="-122"/>
                <a:cs typeface="微软雅黑" panose="020B0503020204020204" charset="-122"/>
              </a:rPr>
              <a:t>）评审委员会组成：评审委员会由</a:t>
            </a:r>
            <a:r>
              <a:rPr lang="en-US" sz="1400" b="0">
                <a:latin typeface="微软雅黑" panose="020B0503020204020204" charset="-122"/>
                <a:ea typeface="微软雅黑" panose="020B0503020204020204" charset="-122"/>
                <a:cs typeface="微软雅黑" panose="020B0503020204020204" charset="-122"/>
              </a:rPr>
              <a:t>5</a:t>
            </a:r>
            <a:r>
              <a:rPr lang="zh-CN" sz="1400" b="0">
                <a:latin typeface="微软雅黑" panose="020B0503020204020204" charset="-122"/>
                <a:ea typeface="微软雅黑" panose="020B0503020204020204" charset="-122"/>
                <a:cs typeface="微软雅黑" panose="020B0503020204020204" charset="-122"/>
              </a:rPr>
              <a:t>人组成，其中项目代表</a:t>
            </a:r>
            <a:r>
              <a:rPr lang="en-US" sz="1400" b="0">
                <a:latin typeface="微软雅黑" panose="020B0503020204020204" charset="-122"/>
                <a:ea typeface="微软雅黑" panose="020B0503020204020204" charset="-122"/>
                <a:cs typeface="微软雅黑" panose="020B0503020204020204" charset="-122"/>
              </a:rPr>
              <a:t>1</a:t>
            </a:r>
            <a:r>
              <a:rPr lang="zh-CN" sz="1400" b="0">
                <a:latin typeface="微软雅黑" panose="020B0503020204020204" charset="-122"/>
                <a:ea typeface="微软雅黑" panose="020B0503020204020204" charset="-122"/>
                <a:cs typeface="微软雅黑" panose="020B0503020204020204" charset="-122"/>
              </a:rPr>
              <a:t>名，技术专家</a:t>
            </a:r>
            <a:r>
              <a:rPr lang="en-US" altLang="zh-CN" sz="1400" dirty="0">
                <a:solidFill>
                  <a:srgbClr val="FF0000"/>
                </a:solidFill>
                <a:latin typeface="微软雅黑" panose="020B0503020204020204" charset="-122"/>
                <a:ea typeface="微软雅黑" panose="020B0503020204020204" charset="-122"/>
                <a:cs typeface="微软雅黑" panose="020B0503020204020204" charset="-122"/>
                <a:sym typeface="+mn-ea"/>
              </a:rPr>
              <a:t>XX</a:t>
            </a:r>
            <a:r>
              <a:rPr lang="zh-CN" sz="1400">
                <a:latin typeface="微软雅黑" panose="020B0503020204020204" charset="-122"/>
                <a:ea typeface="微软雅黑" panose="020B0503020204020204" charset="-122"/>
                <a:cs typeface="微软雅黑" panose="020B0503020204020204" charset="-122"/>
              </a:rPr>
              <a:t>名（</a:t>
            </a:r>
            <a:r>
              <a:rPr lang="en-US" altLang="zh-CN" sz="1400" dirty="0">
                <a:solidFill>
                  <a:srgbClr val="FF0000"/>
                </a:solidFill>
                <a:latin typeface="微软雅黑" panose="020B0503020204020204" charset="-122"/>
                <a:ea typeface="微软雅黑" panose="020B0503020204020204" charset="-122"/>
                <a:cs typeface="微软雅黑" panose="020B0503020204020204" charset="-122"/>
                <a:sym typeface="+mn-ea"/>
              </a:rPr>
              <a:t>XXXX</a:t>
            </a:r>
            <a:r>
              <a:rPr lang="zh-CN" altLang="en-US" sz="1400">
                <a:latin typeface="微软雅黑" panose="020B0503020204020204" charset="-122"/>
                <a:ea typeface="微软雅黑" panose="020B0503020204020204" charset="-122"/>
                <a:cs typeface="微软雅黑" panose="020B0503020204020204" charset="-122"/>
                <a:sym typeface="+mn-ea"/>
              </a:rPr>
              <a:t>年</a:t>
            </a:r>
            <a:r>
              <a:rPr lang="en-US" altLang="zh-CN" sz="1400" dirty="0">
                <a:solidFill>
                  <a:srgbClr val="FF0000"/>
                </a:solidFill>
                <a:latin typeface="微软雅黑" panose="020B0503020204020204" charset="-122"/>
                <a:ea typeface="微软雅黑" panose="020B0503020204020204" charset="-122"/>
                <a:cs typeface="微软雅黑" panose="020B0503020204020204" charset="-122"/>
                <a:sym typeface="+mn-ea"/>
              </a:rPr>
              <a:t>XX</a:t>
            </a:r>
            <a:r>
              <a:rPr lang="zh-CN" altLang="en-US" sz="1400">
                <a:latin typeface="微软雅黑" panose="020B0503020204020204" charset="-122"/>
                <a:ea typeface="微软雅黑" panose="020B0503020204020204" charset="-122"/>
                <a:cs typeface="微软雅黑" panose="020B0503020204020204" charset="-122"/>
                <a:sym typeface="+mn-ea"/>
              </a:rPr>
              <a:t>月</a:t>
            </a:r>
            <a:r>
              <a:rPr lang="en-US" altLang="zh-CN" sz="1400" dirty="0">
                <a:solidFill>
                  <a:srgbClr val="FF0000"/>
                </a:solidFill>
                <a:latin typeface="微软雅黑" panose="020B0503020204020204" charset="-122"/>
                <a:ea typeface="微软雅黑" panose="020B0503020204020204" charset="-122"/>
                <a:cs typeface="微软雅黑" panose="020B0503020204020204" charset="-122"/>
                <a:sym typeface="+mn-ea"/>
              </a:rPr>
              <a:t>XX</a:t>
            </a:r>
            <a:r>
              <a:rPr lang="zh-CN" altLang="en-US" sz="1400">
                <a:latin typeface="微软雅黑" panose="020B0503020204020204" charset="-122"/>
                <a:ea typeface="微软雅黑" panose="020B0503020204020204" charset="-122"/>
                <a:cs typeface="微软雅黑" panose="020B0503020204020204" charset="-122"/>
                <a:sym typeface="+mn-ea"/>
              </a:rPr>
              <a:t>号</a:t>
            </a:r>
            <a:r>
              <a:rPr lang="en-US" altLang="zh-CN" sz="1400" dirty="0">
                <a:solidFill>
                  <a:srgbClr val="FF0000"/>
                </a:solidFill>
                <a:latin typeface="微软雅黑" panose="020B0503020204020204" charset="-122"/>
                <a:ea typeface="微软雅黑" panose="020B0503020204020204" charset="-122"/>
                <a:cs typeface="微软雅黑" panose="020B0503020204020204" charset="-122"/>
                <a:sym typeface="+mn-ea"/>
              </a:rPr>
              <a:t>XX</a:t>
            </a:r>
            <a:r>
              <a:rPr lang="zh-CN" sz="1400">
                <a:latin typeface="微软雅黑" panose="020B0503020204020204" charset="-122"/>
                <a:ea typeface="微软雅黑" panose="020B0503020204020204" charset="-122"/>
                <a:cs typeface="微软雅黑" panose="020B0503020204020204" charset="-122"/>
                <a:sym typeface="+mn-ea"/>
              </a:rPr>
              <a:t>时</a:t>
            </a:r>
            <a:r>
              <a:rPr lang="en-US" altLang="zh-CN" sz="1400" dirty="0">
                <a:solidFill>
                  <a:srgbClr val="FF0000"/>
                </a:solidFill>
                <a:latin typeface="微软雅黑" panose="020B0503020204020204" charset="-122"/>
                <a:ea typeface="微软雅黑" panose="020B0503020204020204" charset="-122"/>
                <a:cs typeface="微软雅黑" panose="020B0503020204020204" charset="-122"/>
                <a:sym typeface="+mn-ea"/>
              </a:rPr>
              <a:t>XX</a:t>
            </a:r>
            <a:r>
              <a:rPr lang="zh-CN" sz="1400">
                <a:latin typeface="微软雅黑" panose="020B0503020204020204" charset="-122"/>
                <a:ea typeface="微软雅黑" panose="020B0503020204020204" charset="-122"/>
                <a:cs typeface="微软雅黑" panose="020B0503020204020204" charset="-122"/>
                <a:sym typeface="+mn-ea"/>
              </a:rPr>
              <a:t>分</a:t>
            </a:r>
            <a:r>
              <a:rPr lang="zh-CN" sz="1400" b="0">
                <a:latin typeface="微软雅黑" panose="020B0503020204020204" charset="-122"/>
                <a:ea typeface="微软雅黑" panose="020B0503020204020204" charset="-122"/>
                <a:cs typeface="微软雅黑" panose="020B0503020204020204" charset="-122"/>
              </a:rPr>
              <a:t>在评审专家库内随机抽取），详见评审报告。</a:t>
            </a:r>
            <a:endParaRPr lang="zh-CN" altLang="en-US" sz="1400" b="0">
              <a:latin typeface="微软雅黑" panose="020B0503020204020204" charset="-122"/>
              <a:ea typeface="微软雅黑" panose="020B0503020204020204" charset="-122"/>
              <a:cs typeface="微软雅黑" panose="020B0503020204020204" charset="-122"/>
            </a:endParaRPr>
          </a:p>
        </p:txBody>
      </p:sp>
      <p:graphicFrame>
        <p:nvGraphicFramePr>
          <p:cNvPr id="7" name="表格 6"/>
          <p:cNvGraphicFramePr/>
          <p:nvPr/>
        </p:nvGraphicFramePr>
        <p:xfrm>
          <a:off x="5618163" y="3698240"/>
          <a:ext cx="955675" cy="226060"/>
        </p:xfrm>
        <a:graphic>
          <a:graphicData uri="http://schemas.openxmlformats.org/drawingml/2006/table">
            <a:tbl>
              <a:tblPr firstRow="1" bandRow="1">
                <a:tableStyleId>{5C22544A-7EE6-4342-B048-85BDC9FD1C3A}</a:tableStyleId>
              </a:tblPr>
              <a:tblGrid>
                <a:gridCol w="955675"/>
              </a:tblGrid>
              <a:tr h="190500">
                <a:tc>
                  <a:txBody>
                    <a:bodyPr/>
                    <a:lstStyle/>
                    <a:p>
                      <a:pPr indent="0">
                        <a:buNone/>
                      </a:pPr>
                      <a:endParaRPr lang="en-US" altLang="en-US" sz="1100" b="0">
                        <a:solidFill>
                          <a:srgbClr val="000000"/>
                        </a:solidFill>
                        <a:latin typeface="微软雅黑" panose="020B0503020204020204" charset="-122"/>
                        <a:ea typeface="微软雅黑" panose="020B0503020204020204" charset="-122"/>
                      </a:endParaRPr>
                    </a:p>
                  </a:txBody>
                  <a:tcPr marL="12700" marR="12700" marT="12700" anchor="ctr">
                    <a:lnL>
                      <a:noFill/>
                    </a:lnL>
                    <a:lnR cap="flat">
                      <a:noFill/>
                    </a:lnR>
                    <a:lnT cap="flat">
                      <a:noFill/>
                    </a:lnT>
                    <a:lnB cap="flat">
                      <a:noFill/>
                    </a:lnB>
                    <a:lnTlToBr>
                      <a:noFill/>
                    </a:lnTlToBr>
                    <a:lnBlToTr>
                      <a:noFill/>
                    </a:lnBlToTr>
                    <a:noFill/>
                  </a:tcPr>
                </a:tc>
              </a:tr>
            </a:tbl>
          </a:graphicData>
        </a:graphic>
      </p:graphicFrame>
      <p:sp>
        <p:nvSpPr>
          <p:cNvPr id="9" name="灯片编号占位符 8"/>
          <p:cNvSpPr>
            <a:spLocks noGrp="1"/>
          </p:cNvSpPr>
          <p:nvPr>
            <p:ph type="sldNum" sz="quarter" idx="12"/>
          </p:nvPr>
        </p:nvSpPr>
        <p:spPr>
          <a:xfrm>
            <a:off x="9108440" y="6356350"/>
            <a:ext cx="2743200" cy="365125"/>
          </a:xfrm>
        </p:spPr>
        <p:txBody>
          <a:bodyPr/>
          <a:p>
            <a:r>
              <a:rPr lang="en-US" altLang="zh-CN" smtClean="0"/>
              <a:t>2</a:t>
            </a:r>
            <a:endParaRPr lang="en-US" altLang="zh-CN"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635" y="-85090"/>
            <a:ext cx="12192635" cy="892175"/>
          </a:xfrm>
          <a:prstGeom prst="rect">
            <a:avLst/>
          </a:prstGeom>
        </p:spPr>
      </p:pic>
      <p:sp>
        <p:nvSpPr>
          <p:cNvPr id="8" name="Rectangle 2"/>
          <p:cNvSpPr>
            <a:spLocks noChangeArrowheads="1"/>
          </p:cNvSpPr>
          <p:nvPr/>
        </p:nvSpPr>
        <p:spPr bwMode="auto">
          <a:xfrm>
            <a:off x="158750" y="68580"/>
            <a:ext cx="10915015" cy="584835"/>
          </a:xfrm>
          <a:prstGeom prst="rect">
            <a:avLst/>
          </a:prstGeom>
          <a:noFill/>
          <a:ln w="9525">
            <a:noFill/>
            <a:miter lim="800000"/>
          </a:ln>
        </p:spPr>
        <p:txBody>
          <a:bodyPr anchor="b"/>
          <a:lstStyle/>
          <a:p>
            <a:pPr eaLnBrk="0" hangingPunct="0"/>
            <a:r>
              <a:rPr lang="zh-CN" altLang="en-US" sz="2800" b="1" dirty="0" smtClean="0">
                <a:solidFill>
                  <a:schemeClr val="bg1"/>
                </a:solidFill>
                <a:latin typeface="黑体" panose="02010609060101010101" charset="-122"/>
                <a:ea typeface="黑体" panose="02010609060101010101" charset="-122"/>
              </a:rPr>
              <a:t>三、</a:t>
            </a:r>
            <a:r>
              <a:rPr lang="zh-CN" altLang="en-US" sz="2800" b="1" dirty="0">
                <a:solidFill>
                  <a:schemeClr val="bg1"/>
                </a:solidFill>
                <a:latin typeface="黑体" panose="02010609060101010101" charset="-122"/>
                <a:ea typeface="黑体" panose="02010609060101010101" charset="-122"/>
              </a:rPr>
              <a:t>项目内容</a:t>
            </a:r>
            <a:r>
              <a:rPr lang="en-US" altLang="zh-CN" sz="2800" b="1" dirty="0">
                <a:solidFill>
                  <a:schemeClr val="bg1"/>
                </a:solidFill>
                <a:latin typeface="黑体" panose="02010609060101010101" charset="-122"/>
                <a:ea typeface="黑体" panose="02010609060101010101" charset="-122"/>
              </a:rPr>
              <a:t>-</a:t>
            </a:r>
            <a:r>
              <a:rPr lang="zh-CN" altLang="en-US" sz="2800" b="1" dirty="0">
                <a:solidFill>
                  <a:schemeClr val="bg1"/>
                </a:solidFill>
                <a:latin typeface="黑体" panose="02010609060101010101" charset="-122"/>
                <a:ea typeface="黑体" panose="02010609060101010101" charset="-122"/>
              </a:rPr>
              <a:t>IT费用构成依据</a:t>
            </a:r>
            <a:r>
              <a:rPr lang="en-US" altLang="zh-CN" sz="2800" b="1" dirty="0">
                <a:solidFill>
                  <a:schemeClr val="bg1"/>
                </a:solidFill>
                <a:latin typeface="黑体" panose="02010609060101010101" charset="-122"/>
                <a:ea typeface="黑体" panose="02010609060101010101" charset="-122"/>
              </a:rPr>
              <a:t>-</a:t>
            </a:r>
            <a:r>
              <a:rPr lang="zh-CN" altLang="en-US" sz="2800" b="1" dirty="0">
                <a:solidFill>
                  <a:schemeClr val="bg1"/>
                </a:solidFill>
                <a:latin typeface="黑体" panose="02010609060101010101" charset="-122"/>
                <a:ea typeface="黑体" panose="02010609060101010101" charset="-122"/>
              </a:rPr>
              <a:t>甄选内容与结果</a:t>
            </a:r>
            <a:endParaRPr lang="zh-CN" altLang="en-US" sz="2800" b="1" dirty="0">
              <a:solidFill>
                <a:schemeClr val="bg1"/>
              </a:solidFill>
              <a:latin typeface="黑体" panose="02010609060101010101" charset="-122"/>
              <a:ea typeface="黑体" panose="02010609060101010101" charset="-122"/>
            </a:endParaRPr>
          </a:p>
        </p:txBody>
      </p:sp>
      <p:sp>
        <p:nvSpPr>
          <p:cNvPr id="1048626" name="文本框 13"/>
          <p:cNvSpPr txBox="1"/>
          <p:nvPr/>
        </p:nvSpPr>
        <p:spPr>
          <a:xfrm>
            <a:off x="307975" y="3521710"/>
            <a:ext cx="11469370" cy="828675"/>
          </a:xfrm>
          <a:prstGeom prst="rect">
            <a:avLst/>
          </a:prstGeom>
          <a:noFill/>
        </p:spPr>
        <p:txBody>
          <a:bodyPr wrap="square" rtlCol="0" anchor="t">
            <a:spAutoFit/>
          </a:bodyPr>
          <a:lstStyle/>
          <a:p>
            <a:pPr>
              <a:lnSpc>
                <a:spcPct val="120000"/>
              </a:lnSpc>
            </a:pPr>
            <a:r>
              <a:rPr lang="en-US" altLang="zh-CN" sz="1600" b="1">
                <a:latin typeface="微软雅黑" panose="020B0503020204020204" charset="-122"/>
                <a:ea typeface="微软雅黑" panose="020B0503020204020204" charset="-122"/>
                <a:cs typeface="微软雅黑" panose="020B0503020204020204" charset="-122"/>
                <a:sym typeface="+mn-ea"/>
              </a:rPr>
              <a:t>3.</a:t>
            </a:r>
            <a:r>
              <a:rPr lang="zh-CN" altLang="en-US" sz="1600" b="1">
                <a:latin typeface="微软雅黑" panose="020B0503020204020204" charset="-122"/>
                <a:ea typeface="微软雅黑" panose="020B0503020204020204" charset="-122"/>
                <a:cs typeface="微软雅黑" panose="020B0503020204020204" charset="-122"/>
                <a:sym typeface="+mn-ea"/>
              </a:rPr>
              <a:t>甄选结果</a:t>
            </a:r>
            <a:r>
              <a:rPr lang="zh-CN" altLang="en-US" sz="1600">
                <a:latin typeface="微软雅黑" panose="020B0503020204020204" charset="-122"/>
                <a:ea typeface="微软雅黑" panose="020B0503020204020204" charset="-122"/>
                <a:cs typeface="微软雅黑" panose="020B0503020204020204" charset="-122"/>
                <a:sym typeface="+mn-ea"/>
              </a:rPr>
              <a:t>：通过评审专家详细评审，并进行评审二次谈判（</a:t>
            </a:r>
            <a:r>
              <a:rPr lang="zh-CN" altLang="en-US" sz="1600" b="1">
                <a:solidFill>
                  <a:srgbClr val="FF0000"/>
                </a:solidFill>
                <a:latin typeface="微软雅黑" panose="020B0503020204020204" charset="-122"/>
                <a:ea typeface="微软雅黑" panose="020B0503020204020204" charset="-122"/>
                <a:cs typeface="微软雅黑" panose="020B0503020204020204" charset="-122"/>
                <a:sym typeface="+mn-ea"/>
              </a:rPr>
              <a:t>如无谈判则无此句</a:t>
            </a:r>
            <a:r>
              <a:rPr lang="zh-CN" altLang="en-US" sz="1600">
                <a:latin typeface="微软雅黑" panose="020B0503020204020204" charset="-122"/>
                <a:ea typeface="微软雅黑" panose="020B0503020204020204" charset="-122"/>
                <a:cs typeface="微软雅黑" panose="020B0503020204020204" charset="-122"/>
                <a:sym typeface="+mn-ea"/>
              </a:rPr>
              <a:t>），最终结果如下：</a:t>
            </a:r>
            <a:r>
              <a:rPr lang="zh-CN" altLang="en-US" sz="1400">
                <a:latin typeface="微软雅黑" panose="020B0503020204020204" charset="-122"/>
                <a:ea typeface="微软雅黑" panose="020B0503020204020204" charset="-122"/>
                <a:cs typeface="微软雅黑" panose="020B0503020204020204" charset="-122"/>
                <a:sym typeface="+mn-ea"/>
              </a:rPr>
              <a:t>（详见附件</a:t>
            </a:r>
            <a:r>
              <a:rPr lang="en-US" altLang="zh-CN" sz="1400">
                <a:latin typeface="微软雅黑" panose="020B0503020204020204" charset="-122"/>
                <a:ea typeface="微软雅黑" panose="020B0503020204020204" charset="-122"/>
                <a:cs typeface="微软雅黑" panose="020B0503020204020204" charset="-122"/>
                <a:sym typeface="+mn-ea"/>
              </a:rPr>
              <a:t>7</a:t>
            </a:r>
            <a:r>
              <a:rPr lang="zh-CN" altLang="en-US" sz="1400">
                <a:latin typeface="微软雅黑" panose="020B0503020204020204" charset="-122"/>
                <a:ea typeface="微软雅黑" panose="020B0503020204020204" charset="-122"/>
                <a:cs typeface="微软雅黑" panose="020B0503020204020204" charset="-122"/>
                <a:sym typeface="+mn-ea"/>
              </a:rPr>
              <a:t>）</a:t>
            </a:r>
            <a:endParaRPr lang="zh-CN" altLang="en-US" sz="1600">
              <a:latin typeface="微软雅黑" panose="020B0503020204020204" charset="-122"/>
              <a:ea typeface="微软雅黑" panose="020B0503020204020204" charset="-122"/>
              <a:cs typeface="微软雅黑" panose="020B0503020204020204" charset="-122"/>
              <a:sym typeface="+mn-ea"/>
            </a:endParaRPr>
          </a:p>
          <a:p>
            <a:pPr>
              <a:lnSpc>
                <a:spcPct val="120000"/>
              </a:lnSpc>
            </a:pPr>
            <a:r>
              <a:rPr lang="zh-CN" altLang="en-US" sz="1200" dirty="0">
                <a:latin typeface="微软雅黑" panose="020B0503020204020204" charset="-122"/>
                <a:ea typeface="微软雅黑" panose="020B0503020204020204" charset="-122"/>
                <a:cs typeface="微软雅黑" panose="020B0503020204020204" charset="-122"/>
                <a:sym typeface="+mn-ea"/>
              </a:rPr>
              <a:t>（1</a:t>
            </a:r>
            <a:r>
              <a:rPr lang="zh-CN" altLang="en-US" sz="1200" dirty="0" smtClean="0">
                <a:latin typeface="微软雅黑" panose="020B0503020204020204" charset="-122"/>
                <a:ea typeface="微软雅黑" panose="020B0503020204020204" charset="-122"/>
                <a:cs typeface="微软雅黑" panose="020B0503020204020204" charset="-122"/>
                <a:sym typeface="+mn-ea"/>
              </a:rPr>
              <a:t>）部分</a:t>
            </a:r>
            <a:r>
              <a:rPr lang="en-US" altLang="zh-CN" sz="1200" dirty="0" smtClean="0">
                <a:latin typeface="微软雅黑" panose="020B0503020204020204" charset="-122"/>
                <a:ea typeface="微软雅黑" panose="020B0503020204020204" charset="-122"/>
                <a:cs typeface="微软雅黑" panose="020B0503020204020204" charset="-122"/>
                <a:sym typeface="+mn-ea"/>
              </a:rPr>
              <a:t>1</a:t>
            </a:r>
            <a:r>
              <a:rPr lang="zh-CN" altLang="en-US" sz="1200" dirty="0" smtClean="0">
                <a:latin typeface="微软雅黑" panose="020B0503020204020204" charset="-122"/>
                <a:ea typeface="微软雅黑" panose="020B0503020204020204" charset="-122"/>
                <a:cs typeface="微软雅黑" panose="020B0503020204020204" charset="-122"/>
                <a:sym typeface="+mn-ea"/>
              </a:rPr>
              <a:t>：</a:t>
            </a:r>
            <a:endParaRPr lang="zh-CN" altLang="en-US" sz="1200" dirty="0">
              <a:latin typeface="微软雅黑" panose="020B0503020204020204" charset="-122"/>
              <a:ea typeface="微软雅黑" panose="020B0503020204020204" charset="-122"/>
              <a:cs typeface="微软雅黑" panose="020B0503020204020204" charset="-122"/>
            </a:endParaRPr>
          </a:p>
          <a:p>
            <a:pPr>
              <a:lnSpc>
                <a:spcPct val="120000"/>
              </a:lnSpc>
            </a:pPr>
            <a:endParaRPr lang="zh-CN" altLang="en-US" sz="1200" dirty="0">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332740" y="852805"/>
            <a:ext cx="11668125" cy="2802255"/>
          </a:xfrm>
          <a:prstGeom prst="rect">
            <a:avLst/>
          </a:prstGeom>
          <a:noFill/>
        </p:spPr>
        <p:txBody>
          <a:bodyPr wrap="square" rtlCol="0">
            <a:spAutoFit/>
          </a:bodyPr>
          <a:lstStyle/>
          <a:p>
            <a:pPr>
              <a:lnSpc>
                <a:spcPct val="90000"/>
              </a:lnSpc>
            </a:pPr>
            <a:r>
              <a:rPr lang="zh-CN" altLang="en-US" sz="1400">
                <a:latin typeface="微软雅黑" panose="020B0503020204020204" charset="-122"/>
                <a:ea typeface="微软雅黑" panose="020B0503020204020204" charset="-122"/>
                <a:cs typeface="微软雅黑" panose="020B0503020204020204" charset="-122"/>
              </a:rPr>
              <a:t>（</a:t>
            </a:r>
            <a:r>
              <a:rPr lang="en-US" altLang="zh-CN" sz="1400">
                <a:latin typeface="微软雅黑" panose="020B0503020204020204" charset="-122"/>
                <a:ea typeface="微软雅黑" panose="020B0503020204020204" charset="-122"/>
                <a:cs typeface="微软雅黑" panose="020B0503020204020204" charset="-122"/>
              </a:rPr>
              <a:t>3</a:t>
            </a:r>
            <a:r>
              <a:rPr lang="zh-CN" altLang="en-US" sz="1400">
                <a:latin typeface="微软雅黑" panose="020B0503020204020204" charset="-122"/>
                <a:ea typeface="微软雅黑" panose="020B0503020204020204" charset="-122"/>
                <a:cs typeface="微软雅黑" panose="020B0503020204020204" charset="-122"/>
              </a:rPr>
              <a:t>）评审过程：根据甄选文件规定，本次评审分为初步评审和详细评审两部分。</a:t>
            </a:r>
            <a:endParaRPr lang="zh-CN" altLang="en-US" sz="1400">
              <a:latin typeface="微软雅黑" panose="020B0503020204020204" charset="-122"/>
              <a:ea typeface="微软雅黑" panose="020B0503020204020204" charset="-122"/>
              <a:cs typeface="微软雅黑" panose="020B0503020204020204" charset="-122"/>
            </a:endParaRPr>
          </a:p>
          <a:p>
            <a:pPr marL="285750" indent="-285750">
              <a:lnSpc>
                <a:spcPct val="90000"/>
              </a:lnSpc>
              <a:buFont typeface="Wingdings" panose="05000000000000000000" charset="0"/>
              <a:buChar char="n"/>
            </a:pPr>
            <a:r>
              <a:rPr lang="zh-CN" altLang="en-US" sz="1400">
                <a:latin typeface="微软雅黑" panose="020B0503020204020204" charset="-122"/>
                <a:ea typeface="微软雅黑" panose="020B0503020204020204" charset="-122"/>
                <a:cs typeface="微软雅黑" panose="020B0503020204020204" charset="-122"/>
              </a:rPr>
              <a:t>初步评审：经初步评审，</a:t>
            </a:r>
            <a:r>
              <a:rPr lang="en-US" altLang="zh-CN" sz="1400" b="1" dirty="0">
                <a:solidFill>
                  <a:srgbClr val="FF0000"/>
                </a:solidFill>
                <a:latin typeface="微软雅黑" panose="020B0503020204020204" charset="-122"/>
                <a:ea typeface="微软雅黑" panose="020B0503020204020204" charset="-122"/>
                <a:cs typeface="微软雅黑" panose="020B0503020204020204" charset="-122"/>
                <a:sym typeface="+mn-ea"/>
              </a:rPr>
              <a:t>XX</a:t>
            </a:r>
            <a:r>
              <a:rPr lang="zh-CN" altLang="en-US" sz="1400">
                <a:latin typeface="微软雅黑" panose="020B0503020204020204" charset="-122"/>
                <a:ea typeface="微软雅黑" panose="020B0503020204020204" charset="-122"/>
                <a:cs typeface="微软雅黑" panose="020B0503020204020204" charset="-122"/>
              </a:rPr>
              <a:t>个应答人通过初步评审；</a:t>
            </a:r>
            <a:endParaRPr lang="zh-CN" altLang="en-US" sz="1400">
              <a:latin typeface="微软雅黑" panose="020B0503020204020204" charset="-122"/>
              <a:ea typeface="微软雅黑" panose="020B0503020204020204" charset="-122"/>
              <a:cs typeface="微软雅黑" panose="020B0503020204020204" charset="-122"/>
            </a:endParaRPr>
          </a:p>
          <a:p>
            <a:pPr marL="285750" indent="-285750">
              <a:lnSpc>
                <a:spcPct val="90000"/>
              </a:lnSpc>
              <a:buFont typeface="Wingdings" panose="05000000000000000000" charset="0"/>
              <a:buChar char="n"/>
            </a:pPr>
            <a:r>
              <a:rPr lang="zh-CN" altLang="en-US" sz="1400">
                <a:latin typeface="微软雅黑" panose="020B0503020204020204" charset="-122"/>
                <a:ea typeface="微软雅黑" panose="020B0503020204020204" charset="-122"/>
                <a:cs typeface="微软雅黑" panose="020B0503020204020204" charset="-122"/>
              </a:rPr>
              <a:t>谈判情况</a:t>
            </a:r>
            <a:r>
              <a:rPr lang="zh-CN" altLang="en-US" sz="1400">
                <a:latin typeface="微软雅黑" panose="020B0503020204020204" charset="-122"/>
                <a:ea typeface="微软雅黑" panose="020B0503020204020204" charset="-122"/>
                <a:cs typeface="微软雅黑" panose="020B0503020204020204" charset="-122"/>
                <a:sym typeface="+mn-ea"/>
              </a:rPr>
              <a:t>（</a:t>
            </a:r>
            <a:r>
              <a:rPr lang="zh-CN" altLang="en-US" sz="1400" b="1">
                <a:solidFill>
                  <a:srgbClr val="FF0000"/>
                </a:solidFill>
                <a:latin typeface="微软雅黑" panose="020B0503020204020204" charset="-122"/>
                <a:ea typeface="微软雅黑" panose="020B0503020204020204" charset="-122"/>
                <a:cs typeface="微软雅黑" panose="020B0503020204020204" charset="-122"/>
                <a:sym typeface="+mn-ea"/>
              </a:rPr>
              <a:t>如无谈判则无此项</a:t>
            </a:r>
            <a:r>
              <a:rPr lang="zh-CN" altLang="en-US" sz="1400">
                <a:latin typeface="微软雅黑" panose="020B0503020204020204" charset="-122"/>
                <a:ea typeface="微软雅黑" panose="020B0503020204020204" charset="-122"/>
                <a:cs typeface="微软雅黑" panose="020B0503020204020204" charset="-122"/>
                <a:sym typeface="+mn-ea"/>
              </a:rPr>
              <a:t>）</a:t>
            </a:r>
            <a:r>
              <a:rPr lang="zh-CN" altLang="en-US" sz="1400">
                <a:latin typeface="微软雅黑" panose="020B0503020204020204" charset="-122"/>
                <a:ea typeface="微软雅黑" panose="020B0503020204020204" charset="-122"/>
                <a:cs typeface="微软雅黑" panose="020B0503020204020204" charset="-122"/>
              </a:rPr>
              <a:t>：</a:t>
            </a:r>
            <a:r>
              <a:rPr lang="zh-CN" altLang="en-US" sz="1400">
                <a:latin typeface="微软雅黑" panose="020B0503020204020204" charset="-122"/>
                <a:ea typeface="微软雅黑" panose="020B0503020204020204" charset="-122"/>
                <a:cs typeface="微软雅黑" panose="020B0503020204020204" charset="-122"/>
                <a:sym typeface="+mn-ea"/>
              </a:rPr>
              <a:t>递交甄选应答文件并满足初审条件的合作伙伴不足三家时，可组织谈判，若符合降价要求以现场谈判后的报价作为有效最终报价。</a:t>
            </a:r>
            <a:endParaRPr lang="zh-CN" altLang="en-US" sz="1400">
              <a:latin typeface="微软雅黑" panose="020B0503020204020204" charset="-122"/>
              <a:ea typeface="微软雅黑" panose="020B0503020204020204" charset="-122"/>
              <a:cs typeface="微软雅黑" panose="020B0503020204020204" charset="-122"/>
              <a:sym typeface="+mn-ea"/>
            </a:endParaRPr>
          </a:p>
          <a:p>
            <a:pPr marL="285750" indent="-285750">
              <a:lnSpc>
                <a:spcPct val="90000"/>
              </a:lnSpc>
              <a:buFont typeface="Wingdings" panose="05000000000000000000" charset="0"/>
              <a:buChar char="n"/>
            </a:pPr>
            <a:endParaRPr lang="zh-CN" altLang="en-US" sz="1400">
              <a:latin typeface="微软雅黑" panose="020B0503020204020204" charset="-122"/>
              <a:ea typeface="微软雅黑" panose="020B0503020204020204" charset="-122"/>
              <a:cs typeface="微软雅黑" panose="020B0503020204020204" charset="-122"/>
              <a:sym typeface="+mn-ea"/>
            </a:endParaRPr>
          </a:p>
          <a:p>
            <a:pPr marL="285750" indent="-285750">
              <a:lnSpc>
                <a:spcPct val="90000"/>
              </a:lnSpc>
              <a:buFont typeface="Wingdings" panose="05000000000000000000" charset="0"/>
              <a:buChar char="n"/>
            </a:pPr>
            <a:endParaRPr lang="zh-CN" altLang="en-US" sz="1400">
              <a:latin typeface="微软雅黑" panose="020B0503020204020204" charset="-122"/>
              <a:ea typeface="微软雅黑" panose="020B0503020204020204" charset="-122"/>
              <a:cs typeface="微软雅黑" panose="020B0503020204020204" charset="-122"/>
              <a:sym typeface="+mn-ea"/>
            </a:endParaRPr>
          </a:p>
          <a:p>
            <a:pPr marL="285750" indent="-285750">
              <a:lnSpc>
                <a:spcPct val="90000"/>
              </a:lnSpc>
              <a:buFont typeface="Wingdings" panose="05000000000000000000" charset="0"/>
              <a:buChar char="n"/>
            </a:pPr>
            <a:endParaRPr lang="zh-CN" altLang="en-US" sz="1400">
              <a:latin typeface="微软雅黑" panose="020B0503020204020204" charset="-122"/>
              <a:ea typeface="微软雅黑" panose="020B0503020204020204" charset="-122"/>
              <a:cs typeface="微软雅黑" panose="020B0503020204020204" charset="-122"/>
              <a:sym typeface="+mn-ea"/>
            </a:endParaRPr>
          </a:p>
          <a:p>
            <a:pPr marL="285750" indent="-285750">
              <a:lnSpc>
                <a:spcPct val="90000"/>
              </a:lnSpc>
              <a:buFont typeface="Wingdings" panose="05000000000000000000" charset="0"/>
              <a:buChar char="n"/>
            </a:pPr>
            <a:endParaRPr lang="zh-CN" altLang="en-US" sz="1400">
              <a:latin typeface="微软雅黑" panose="020B0503020204020204" charset="-122"/>
              <a:ea typeface="微软雅黑" panose="020B0503020204020204" charset="-122"/>
              <a:cs typeface="微软雅黑" panose="020B0503020204020204" charset="-122"/>
              <a:sym typeface="+mn-ea"/>
            </a:endParaRPr>
          </a:p>
          <a:p>
            <a:pPr marL="285750" indent="-285750">
              <a:lnSpc>
                <a:spcPct val="90000"/>
              </a:lnSpc>
              <a:buFont typeface="Wingdings" panose="05000000000000000000" charset="0"/>
              <a:buChar char="n"/>
            </a:pPr>
            <a:endParaRPr lang="zh-CN" altLang="en-US" sz="1400">
              <a:latin typeface="微软雅黑" panose="020B0503020204020204" charset="-122"/>
              <a:ea typeface="微软雅黑" panose="020B0503020204020204" charset="-122"/>
              <a:cs typeface="微软雅黑" panose="020B0503020204020204" charset="-122"/>
              <a:sym typeface="+mn-ea"/>
            </a:endParaRPr>
          </a:p>
          <a:p>
            <a:pPr marL="285750" indent="-285750">
              <a:lnSpc>
                <a:spcPct val="90000"/>
              </a:lnSpc>
              <a:buFont typeface="Wingdings" panose="05000000000000000000" charset="0"/>
              <a:buChar char="n"/>
            </a:pPr>
            <a:endParaRPr lang="zh-CN" altLang="en-US" sz="1400">
              <a:latin typeface="微软雅黑" panose="020B0503020204020204" charset="-122"/>
              <a:ea typeface="微软雅黑" panose="020B0503020204020204" charset="-122"/>
              <a:cs typeface="微软雅黑" panose="020B0503020204020204" charset="-122"/>
              <a:sym typeface="+mn-ea"/>
            </a:endParaRPr>
          </a:p>
          <a:p>
            <a:pPr marL="285750" indent="-285750">
              <a:lnSpc>
                <a:spcPct val="90000"/>
              </a:lnSpc>
              <a:buFont typeface="Wingdings" panose="05000000000000000000" charset="0"/>
              <a:buChar char="n"/>
            </a:pPr>
            <a:endParaRPr lang="zh-CN" altLang="en-US" sz="1400">
              <a:latin typeface="微软雅黑" panose="020B0503020204020204" charset="-122"/>
              <a:ea typeface="微软雅黑" panose="020B0503020204020204" charset="-122"/>
              <a:cs typeface="微软雅黑" panose="020B0503020204020204" charset="-122"/>
              <a:sym typeface="+mn-ea"/>
            </a:endParaRPr>
          </a:p>
          <a:p>
            <a:pPr marL="285750" indent="-285750">
              <a:lnSpc>
                <a:spcPct val="90000"/>
              </a:lnSpc>
              <a:buFont typeface="Wingdings" panose="05000000000000000000" charset="0"/>
              <a:buChar char="n"/>
            </a:pPr>
            <a:endParaRPr lang="zh-CN" altLang="en-US" sz="1400">
              <a:latin typeface="微软雅黑" panose="020B0503020204020204" charset="-122"/>
              <a:ea typeface="微软雅黑" panose="020B0503020204020204" charset="-122"/>
              <a:cs typeface="微软雅黑" panose="020B0503020204020204" charset="-122"/>
              <a:sym typeface="+mn-ea"/>
            </a:endParaRPr>
          </a:p>
          <a:p>
            <a:pPr marL="285750" indent="-285750">
              <a:lnSpc>
                <a:spcPct val="90000"/>
              </a:lnSpc>
              <a:buFont typeface="Wingdings" panose="05000000000000000000" charset="0"/>
              <a:buChar char="n"/>
            </a:pPr>
            <a:endParaRPr lang="zh-CN" altLang="en-US" sz="1400">
              <a:latin typeface="微软雅黑" panose="020B0503020204020204" charset="-122"/>
              <a:ea typeface="微软雅黑" panose="020B0503020204020204" charset="-122"/>
              <a:cs typeface="微软雅黑" panose="020B0503020204020204" charset="-122"/>
              <a:sym typeface="+mn-ea"/>
            </a:endParaRPr>
          </a:p>
          <a:p>
            <a:pPr marL="285750" indent="-285750">
              <a:lnSpc>
                <a:spcPct val="90000"/>
              </a:lnSpc>
              <a:buFont typeface="Wingdings" panose="05000000000000000000" charset="0"/>
              <a:buChar char="n"/>
            </a:pPr>
            <a:r>
              <a:rPr lang="zh-CN" altLang="en-US" sz="1400">
                <a:latin typeface="微软雅黑" panose="020B0503020204020204" charset="-122"/>
                <a:ea typeface="微软雅黑" panose="020B0503020204020204" charset="-122"/>
                <a:cs typeface="微软雅黑" panose="020B0503020204020204" charset="-122"/>
                <a:sym typeface="+mn-ea"/>
              </a:rPr>
              <a:t>详细评审，参见甄选结果</a:t>
            </a:r>
            <a:endParaRPr lang="zh-CN" altLang="en-US" sz="1600">
              <a:latin typeface="微软雅黑" panose="020B0503020204020204" charset="-122"/>
              <a:ea typeface="微软雅黑" panose="020B0503020204020204" charset="-122"/>
              <a:cs typeface="微软雅黑" panose="020B0503020204020204" charset="-122"/>
            </a:endParaRPr>
          </a:p>
        </p:txBody>
      </p:sp>
      <p:graphicFrame>
        <p:nvGraphicFramePr>
          <p:cNvPr id="13" name="表格 12"/>
          <p:cNvGraphicFramePr/>
          <p:nvPr>
            <p:custDataLst>
              <p:tags r:id="rId2"/>
            </p:custDataLst>
          </p:nvPr>
        </p:nvGraphicFramePr>
        <p:xfrm>
          <a:off x="368300" y="1653540"/>
          <a:ext cx="10852150" cy="1586865"/>
        </p:xfrm>
        <a:graphic>
          <a:graphicData uri="http://schemas.openxmlformats.org/drawingml/2006/table">
            <a:tbl>
              <a:tblPr firstRow="1" bandRow="1">
                <a:tableStyleId>{5C22544A-7EE6-4342-B048-85BDC9FD1C3A}</a:tableStyleId>
              </a:tblPr>
              <a:tblGrid>
                <a:gridCol w="1315085"/>
                <a:gridCol w="2226310"/>
                <a:gridCol w="1172845"/>
                <a:gridCol w="1858010"/>
                <a:gridCol w="1236980"/>
                <a:gridCol w="1801495"/>
                <a:gridCol w="1241425"/>
              </a:tblGrid>
              <a:tr h="226695">
                <a:tc>
                  <a:txBody>
                    <a:bodyPr/>
                    <a:lstStyle/>
                    <a:p>
                      <a:pPr indent="0" algn="ctr">
                        <a:buNone/>
                      </a:pPr>
                      <a:r>
                        <a:rPr lang="zh-CN" sz="1200" b="1">
                          <a:solidFill>
                            <a:srgbClr val="000000"/>
                          </a:solidFill>
                          <a:latin typeface="微软雅黑" panose="020B0503020204020204" charset="-122"/>
                          <a:ea typeface="微软雅黑" panose="020B0503020204020204" charset="-122"/>
                        </a:rPr>
                        <a:t>报价</a:t>
                      </a:r>
                      <a:endParaRPr lang="zh-CN" altLang="en-US" sz="1200" b="1">
                        <a:solidFill>
                          <a:srgbClr val="000000"/>
                        </a:solidFill>
                        <a:latin typeface="微软雅黑" panose="020B0503020204020204" charset="-122"/>
                        <a:ea typeface="微软雅黑" panose="020B0503020204020204" charset="-122"/>
                      </a:endParaRP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1200" b="1">
                          <a:solidFill>
                            <a:srgbClr val="000000"/>
                          </a:solidFill>
                          <a:latin typeface="微软雅黑" panose="020B0503020204020204" charset="-122"/>
                          <a:ea typeface="微软雅黑" panose="020B0503020204020204" charset="-122"/>
                        </a:rPr>
                        <a:t>内容</a:t>
                      </a:r>
                      <a:endParaRPr lang="zh-CN" altLang="en-US" sz="1200" b="1">
                        <a:solidFill>
                          <a:srgbClr val="000000"/>
                        </a:solidFill>
                        <a:latin typeface="微软雅黑" panose="020B0503020204020204" charset="-122"/>
                        <a:ea typeface="微软雅黑" panose="020B0503020204020204" charset="-122"/>
                      </a:endParaRP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1200" b="1">
                          <a:solidFill>
                            <a:srgbClr val="000000"/>
                          </a:solidFill>
                          <a:latin typeface="微软雅黑" panose="020B0503020204020204" charset="-122"/>
                          <a:ea typeface="微软雅黑" panose="020B0503020204020204" charset="-122"/>
                        </a:rPr>
                        <a:t>费用</a:t>
                      </a:r>
                      <a:endParaRPr lang="zh-CN" altLang="en-US" sz="1200" b="1">
                        <a:solidFill>
                          <a:srgbClr val="000000"/>
                        </a:solidFill>
                        <a:latin typeface="微软雅黑" panose="020B0503020204020204" charset="-122"/>
                        <a:ea typeface="微软雅黑" panose="020B0503020204020204" charset="-122"/>
                      </a:endParaRP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200" b="1">
                          <a:solidFill>
                            <a:srgbClr val="000000"/>
                          </a:solidFill>
                          <a:latin typeface="微软雅黑" panose="020B0503020204020204" charset="-122"/>
                          <a:ea typeface="微软雅黑" panose="020B0503020204020204" charset="-122"/>
                        </a:rPr>
                        <a:t>不含税总报价（元）</a:t>
                      </a:r>
                      <a:endParaRPr lang="zh-CN" altLang="en-US" sz="1200" b="1">
                        <a:solidFill>
                          <a:srgbClr val="000000"/>
                        </a:solidFill>
                        <a:latin typeface="微软雅黑" panose="020B0503020204020204" charset="-122"/>
                        <a:ea typeface="微软雅黑" panose="020B0503020204020204" charset="-122"/>
                      </a:endParaRP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200" b="1">
                          <a:solidFill>
                            <a:srgbClr val="000000"/>
                          </a:solidFill>
                          <a:latin typeface="微软雅黑" panose="020B0503020204020204" charset="-122"/>
                          <a:ea typeface="微软雅黑" panose="020B0503020204020204" charset="-122"/>
                        </a:rPr>
                        <a:t>税率</a:t>
                      </a:r>
                      <a:endParaRPr lang="zh-CN" altLang="en-US" sz="1200" b="1">
                        <a:solidFill>
                          <a:srgbClr val="000000"/>
                        </a:solidFill>
                        <a:latin typeface="微软雅黑" panose="020B0503020204020204" charset="-122"/>
                        <a:ea typeface="微软雅黑" panose="020B0503020204020204" charset="-122"/>
                      </a:endParaRP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gridSpan="2">
                  <a:txBody>
                    <a:bodyPr/>
                    <a:lstStyle/>
                    <a:p>
                      <a:pPr indent="0" algn="ctr">
                        <a:buNone/>
                      </a:pPr>
                      <a:r>
                        <a:rPr lang="zh-CN" sz="1200" b="1">
                          <a:solidFill>
                            <a:srgbClr val="000000"/>
                          </a:solidFill>
                          <a:latin typeface="微软雅黑" panose="020B0503020204020204" charset="-122"/>
                          <a:ea typeface="微软雅黑" panose="020B0503020204020204" charset="-122"/>
                        </a:rPr>
                        <a:t>含税总报价（元）</a:t>
                      </a:r>
                      <a:endParaRPr lang="zh-CN" altLang="en-US" sz="1200" b="1">
                        <a:solidFill>
                          <a:srgbClr val="000000"/>
                        </a:solidFill>
                        <a:latin typeface="微软雅黑" panose="020B0503020204020204" charset="-122"/>
                        <a:ea typeface="微软雅黑" panose="020B0503020204020204" charset="-122"/>
                      </a:endParaRP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hMerge="1">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26695">
                <a:tc rowSpan="3">
                  <a:txBody>
                    <a:bodyPr/>
                    <a:lstStyle/>
                    <a:p>
                      <a:pPr indent="0" algn="ctr">
                        <a:buNone/>
                      </a:pPr>
                      <a:r>
                        <a:rPr lang="zh-CN" sz="1200" b="0">
                          <a:solidFill>
                            <a:srgbClr val="000000"/>
                          </a:solidFill>
                          <a:latin typeface="微软雅黑" panose="020B0503020204020204" charset="-122"/>
                          <a:ea typeface="微软雅黑" panose="020B0503020204020204" charset="-122"/>
                        </a:rPr>
                        <a:t>初始报价</a:t>
                      </a:r>
                      <a:endParaRPr lang="zh-CN" sz="1200" b="0">
                        <a:solidFill>
                          <a:srgbClr val="000000"/>
                        </a:solidFill>
                        <a:latin typeface="微软雅黑" panose="020B0503020204020204" charset="-122"/>
                        <a:ea typeface="微软雅黑" panose="020B0503020204020204" charset="-122"/>
                      </a:endParaRP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rowSpan="2">
                  <a:txBody>
                    <a:bodyPr/>
                    <a:lstStyle/>
                    <a:p>
                      <a:pPr indent="0" algn="l">
                        <a:buNone/>
                      </a:pPr>
                      <a:endParaRPr lang="zh-CN" sz="1200">
                        <a:solidFill>
                          <a:srgbClr val="000000"/>
                        </a:solidFill>
                        <a:latin typeface="微软雅黑" panose="020B0503020204020204" charset="-122"/>
                        <a:ea typeface="微软雅黑" panose="020B0503020204020204" charset="-122"/>
                        <a:cs typeface="微软雅黑" panose="020B0503020204020204" charset="-122"/>
                        <a:sym typeface="+mn-ea"/>
                      </a:endParaRP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zh-CN" sz="1200" b="0">
                        <a:solidFill>
                          <a:srgbClr val="000000"/>
                        </a:solidFill>
                        <a:latin typeface="微软雅黑" panose="020B0503020204020204" charset="-122"/>
                        <a:ea typeface="微软雅黑" panose="020B0503020204020204" charset="-122"/>
                      </a:endParaRP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zh-CN" sz="1200" b="0">
                        <a:solidFill>
                          <a:srgbClr val="000000"/>
                        </a:solidFill>
                        <a:latin typeface="微软雅黑" panose="020B0503020204020204" charset="-122"/>
                        <a:ea typeface="微软雅黑" panose="020B0503020204020204" charset="-122"/>
                      </a:endParaRP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zh-CN" sz="1200" b="0">
                        <a:solidFill>
                          <a:srgbClr val="000000"/>
                        </a:solidFill>
                        <a:latin typeface="微软雅黑" panose="020B0503020204020204" charset="-122"/>
                        <a:ea typeface="微软雅黑" panose="020B0503020204020204" charset="-122"/>
                      </a:endParaRP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zh-CN" sz="1200" b="0">
                        <a:solidFill>
                          <a:srgbClr val="000000"/>
                        </a:solidFill>
                        <a:latin typeface="微软雅黑" panose="020B0503020204020204" charset="-122"/>
                        <a:ea typeface="微软雅黑" panose="020B0503020204020204" charset="-122"/>
                      </a:endParaRP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rowSpan="3">
                  <a:txBody>
                    <a:bodyPr/>
                    <a:lstStyle/>
                    <a:p>
                      <a:pPr indent="0" algn="ctr">
                        <a:buNone/>
                      </a:pPr>
                      <a:endParaRPr lang="en-US" altLang="en-US" sz="1200" b="1">
                        <a:solidFill>
                          <a:srgbClr val="000000"/>
                        </a:solidFill>
                        <a:latin typeface="微软雅黑" panose="020B0503020204020204" charset="-122"/>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26695">
                <a:tc vMerge="1">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vMerge="1">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zh-CN" sz="1200" b="0">
                        <a:solidFill>
                          <a:srgbClr val="000000"/>
                        </a:solidFill>
                        <a:latin typeface="微软雅黑" panose="020B0503020204020204" charset="-122"/>
                        <a:ea typeface="微软雅黑" panose="020B0503020204020204" charset="-122"/>
                      </a:endParaRP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zh-CN" sz="1200" b="0">
                        <a:solidFill>
                          <a:srgbClr val="000000"/>
                        </a:solidFill>
                        <a:latin typeface="微软雅黑" panose="020B0503020204020204" charset="-122"/>
                        <a:ea typeface="微软雅黑" panose="020B0503020204020204" charset="-122"/>
                      </a:endParaRP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zh-CN" sz="1200" b="0">
                        <a:solidFill>
                          <a:srgbClr val="000000"/>
                        </a:solidFill>
                        <a:latin typeface="微软雅黑" panose="020B0503020204020204" charset="-122"/>
                        <a:ea typeface="微软雅黑" panose="020B0503020204020204" charset="-122"/>
                      </a:endParaRP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zh-CN" sz="1200" b="0">
                        <a:solidFill>
                          <a:srgbClr val="000000"/>
                        </a:solidFill>
                        <a:latin typeface="微软雅黑" panose="020B0503020204020204" charset="-122"/>
                        <a:ea typeface="微软雅黑" panose="020B0503020204020204" charset="-122"/>
                      </a:endParaRP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vMerge="1">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26695">
                <a:tc vMerge="1">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l">
                        <a:buNone/>
                      </a:pPr>
                      <a:endParaRPr lang="zh-CN" sz="1200" b="0">
                        <a:solidFill>
                          <a:srgbClr val="000000"/>
                        </a:solidFill>
                        <a:latin typeface="微软雅黑" panose="020B0503020204020204" charset="-122"/>
                        <a:ea typeface="微软雅黑" panose="020B0503020204020204" charset="-122"/>
                        <a:cs typeface="微软雅黑" panose="020B0503020204020204" charset="-122"/>
                        <a:sym typeface="+mn-ea"/>
                      </a:endParaRP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zh-CN" sz="1200" b="0">
                        <a:solidFill>
                          <a:srgbClr val="000000"/>
                        </a:solidFill>
                        <a:latin typeface="微软雅黑" panose="020B0503020204020204" charset="-122"/>
                        <a:ea typeface="微软雅黑" panose="020B0503020204020204" charset="-122"/>
                        <a:sym typeface="+mn-ea"/>
                      </a:endParaRP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zh-CN" altLang="en-US" sz="1200" dirty="0">
                        <a:solidFill>
                          <a:srgbClr val="000000"/>
                        </a:solidFill>
                        <a:latin typeface="微软雅黑" panose="020B0503020204020204" charset="-122"/>
                        <a:ea typeface="微软雅黑" panose="020B0503020204020204" charset="-122"/>
                      </a:endParaRP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zh-CN" sz="1200" dirty="0">
                        <a:solidFill>
                          <a:srgbClr val="000000"/>
                        </a:solidFill>
                        <a:latin typeface="微软雅黑" panose="020B0503020204020204" charset="-122"/>
                        <a:ea typeface="微软雅黑" panose="020B0503020204020204" charset="-122"/>
                        <a:sym typeface="+mn-ea"/>
                      </a:endParaRP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zh-CN" altLang="en-US" sz="1200" b="0" dirty="0">
                        <a:solidFill>
                          <a:srgbClr val="000000"/>
                        </a:solidFill>
                        <a:latin typeface="微软雅黑" panose="020B0503020204020204" charset="-122"/>
                        <a:ea typeface="微软雅黑" panose="020B0503020204020204" charset="-122"/>
                        <a:sym typeface="+mn-ea"/>
                      </a:endParaRP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vMerge="1">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26695">
                <a:tc rowSpan="3">
                  <a:txBody>
                    <a:bodyPr/>
                    <a:lstStyle/>
                    <a:p>
                      <a:pPr indent="0" algn="ctr">
                        <a:buNone/>
                      </a:pPr>
                      <a:r>
                        <a:rPr lang="zh-CN" sz="1200" b="0">
                          <a:solidFill>
                            <a:srgbClr val="000000"/>
                          </a:solidFill>
                          <a:latin typeface="微软雅黑" panose="020B0503020204020204" charset="-122"/>
                          <a:ea typeface="微软雅黑" panose="020B0503020204020204" charset="-122"/>
                        </a:rPr>
                        <a:t>最终报价</a:t>
                      </a:r>
                      <a:endParaRPr lang="zh-CN" sz="1200" b="0">
                        <a:solidFill>
                          <a:srgbClr val="000000"/>
                        </a:solidFill>
                        <a:latin typeface="微软雅黑" panose="020B0503020204020204" charset="-122"/>
                        <a:ea typeface="微软雅黑" panose="020B0503020204020204" charset="-122"/>
                      </a:endParaRP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rowSpan="2">
                  <a:txBody>
                    <a:bodyPr/>
                    <a:lstStyle/>
                    <a:p>
                      <a:pPr indent="0" algn="l">
                        <a:buNone/>
                      </a:pPr>
                      <a:endParaRPr lang="zh-CN" sz="1200" b="0">
                        <a:solidFill>
                          <a:srgbClr val="000000"/>
                        </a:solidFill>
                        <a:latin typeface="微软雅黑" panose="020B0503020204020204" charset="-122"/>
                        <a:ea typeface="微软雅黑" panose="020B0503020204020204" charset="-122"/>
                        <a:cs typeface="微软雅黑" panose="020B0503020204020204" charset="-122"/>
                        <a:sym typeface="+mn-ea"/>
                      </a:endParaRP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zh-CN" sz="1200" b="0">
                        <a:solidFill>
                          <a:srgbClr val="000000"/>
                        </a:solidFill>
                        <a:latin typeface="微软雅黑" panose="020B0503020204020204" charset="-122"/>
                        <a:ea typeface="微软雅黑" panose="020B0503020204020204" charset="-122"/>
                      </a:endParaRP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zh-CN" altLang="en-US" sz="1200" dirty="0">
                        <a:solidFill>
                          <a:srgbClr val="000000"/>
                        </a:solidFill>
                        <a:latin typeface="微软雅黑" panose="020B0503020204020204" charset="-122"/>
                        <a:ea typeface="微软雅黑" panose="020B0503020204020204" charset="-122"/>
                      </a:endParaRP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zh-CN" altLang="en-US" sz="1200" dirty="0">
                        <a:solidFill>
                          <a:srgbClr val="000000"/>
                        </a:solidFill>
                        <a:latin typeface="微软雅黑" panose="020B0503020204020204" charset="-122"/>
                        <a:ea typeface="微软雅黑" panose="020B0503020204020204" charset="-122"/>
                        <a:sym typeface="+mn-ea"/>
                      </a:endParaRP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zh-CN" altLang="en-US" sz="1200" b="0" dirty="0">
                        <a:solidFill>
                          <a:srgbClr val="000000"/>
                        </a:solidFill>
                        <a:latin typeface="微软雅黑" panose="020B0503020204020204" charset="-122"/>
                        <a:ea typeface="微软雅黑" panose="020B0503020204020204" charset="-122"/>
                        <a:sym typeface="+mn-ea"/>
                      </a:endParaRP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rowSpan="3">
                  <a:txBody>
                    <a:bodyPr/>
                    <a:lstStyle/>
                    <a:p>
                      <a:pPr indent="0" algn="ctr">
                        <a:buNone/>
                      </a:pPr>
                      <a:endParaRPr lang="en-US" altLang="en-US" sz="1200" b="1" dirty="0">
                        <a:solidFill>
                          <a:srgbClr val="000000"/>
                        </a:solidFill>
                        <a:latin typeface="微软雅黑" panose="020B0503020204020204" charset="-122"/>
                        <a:ea typeface="微软雅黑" panose="020B0503020204020204" charset="-122"/>
                        <a:cs typeface="宋体" pitchFamily="2" charset="-122"/>
                        <a:sym typeface="+mn-ea"/>
                      </a:endParaRP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26695">
                <a:tc vMerge="1">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vMerge="1">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zh-CN" sz="1200" b="0">
                        <a:solidFill>
                          <a:srgbClr val="000000"/>
                        </a:solidFill>
                        <a:latin typeface="微软雅黑" panose="020B0503020204020204" charset="-122"/>
                        <a:ea typeface="微软雅黑" panose="020B0503020204020204" charset="-122"/>
                      </a:endParaRP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zh-CN" altLang="en-US" sz="1200" dirty="0">
                        <a:solidFill>
                          <a:srgbClr val="000000"/>
                        </a:solidFill>
                        <a:latin typeface="微软雅黑" panose="020B0503020204020204" charset="-122"/>
                        <a:ea typeface="微软雅黑" panose="020B0503020204020204" charset="-122"/>
                      </a:endParaRP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zh-CN" altLang="en-US" sz="1200" dirty="0">
                        <a:solidFill>
                          <a:srgbClr val="000000"/>
                        </a:solidFill>
                        <a:latin typeface="微软雅黑" panose="020B0503020204020204" charset="-122"/>
                        <a:ea typeface="微软雅黑" panose="020B0503020204020204" charset="-122"/>
                      </a:endParaRP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zh-CN" sz="1200" b="0" dirty="0">
                        <a:solidFill>
                          <a:srgbClr val="000000"/>
                        </a:solidFill>
                        <a:latin typeface="微软雅黑" panose="020B0503020204020204" charset="-122"/>
                        <a:ea typeface="微软雅黑" panose="020B0503020204020204" charset="-122"/>
                        <a:sym typeface="+mn-ea"/>
                      </a:endParaRP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vMerge="1">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26695">
                <a:tc vMerge="1">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l">
                        <a:buNone/>
                      </a:pPr>
                      <a:endParaRPr lang="zh-CN" sz="1200" b="0">
                        <a:solidFill>
                          <a:srgbClr val="000000"/>
                        </a:solidFill>
                        <a:latin typeface="微软雅黑" panose="020B0503020204020204" charset="-122"/>
                        <a:ea typeface="微软雅黑" panose="020B0503020204020204" charset="-122"/>
                        <a:cs typeface="微软雅黑" panose="020B0503020204020204" charset="-122"/>
                        <a:sym typeface="+mn-ea"/>
                      </a:endParaRP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zh-CN" sz="1200" b="0">
                        <a:solidFill>
                          <a:srgbClr val="000000"/>
                        </a:solidFill>
                        <a:latin typeface="微软雅黑" panose="020B0503020204020204" charset="-122"/>
                        <a:ea typeface="微软雅黑" panose="020B0503020204020204" charset="-122"/>
                        <a:sym typeface="+mn-ea"/>
                      </a:endParaRP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algn="ctr">
                        <a:buClrTx/>
                        <a:buSzTx/>
                        <a:buFontTx/>
                        <a:buNone/>
                      </a:pPr>
                      <a:endParaRPr lang="zh-CN" altLang="en-US" sz="1200" b="0" dirty="0">
                        <a:solidFill>
                          <a:srgbClr val="000000"/>
                        </a:solidFill>
                        <a:latin typeface="微软雅黑" panose="020B0503020204020204" charset="-122"/>
                        <a:ea typeface="微软雅黑" panose="020B0503020204020204" charset="-122"/>
                      </a:endParaRP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zh-CN" sz="1200" b="0" dirty="0">
                        <a:solidFill>
                          <a:srgbClr val="000000"/>
                        </a:solidFill>
                        <a:latin typeface="微软雅黑" panose="020B0503020204020204" charset="-122"/>
                        <a:ea typeface="微软雅黑" panose="020B0503020204020204" charset="-122"/>
                        <a:sym typeface="+mn-ea"/>
                      </a:endParaRP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zh-CN" altLang="en-US" sz="1200" b="0" dirty="0">
                        <a:solidFill>
                          <a:srgbClr val="000000"/>
                        </a:solidFill>
                        <a:latin typeface="微软雅黑" panose="020B0503020204020204" charset="-122"/>
                        <a:ea typeface="微软雅黑" panose="020B0503020204020204" charset="-122"/>
                        <a:sym typeface="+mn-ea"/>
                      </a:endParaRPr>
                    </a:p>
                  </a:txBody>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vMerge="1">
                  <a:tcPr marL="9525" marR="9525" marT="9525" marB="3429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bl>
          </a:graphicData>
        </a:graphic>
      </p:graphicFrame>
      <p:graphicFrame>
        <p:nvGraphicFramePr>
          <p:cNvPr id="15" name="表格 14"/>
          <p:cNvGraphicFramePr/>
          <p:nvPr>
            <p:custDataLst>
              <p:tags r:id="rId3"/>
            </p:custDataLst>
          </p:nvPr>
        </p:nvGraphicFramePr>
        <p:xfrm>
          <a:off x="1378585" y="3916045"/>
          <a:ext cx="9576435" cy="1005840"/>
        </p:xfrm>
        <a:graphic>
          <a:graphicData uri="http://schemas.openxmlformats.org/drawingml/2006/table">
            <a:tbl>
              <a:tblPr firstRow="1" bandRow="1">
                <a:tableStyleId>{5C22544A-7EE6-4342-B048-85BDC9FD1C3A}</a:tableStyleId>
              </a:tblPr>
              <a:tblGrid>
                <a:gridCol w="2678862"/>
                <a:gridCol w="1153920"/>
                <a:gridCol w="1063374"/>
                <a:gridCol w="859155"/>
                <a:gridCol w="1280291"/>
                <a:gridCol w="1249988"/>
                <a:gridCol w="824308"/>
                <a:gridCol w="466537"/>
              </a:tblGrid>
              <a:tr h="365760">
                <a:tc>
                  <a:txBody>
                    <a:bodyPr/>
                    <a:lstStyle/>
                    <a:p>
                      <a:pPr indent="0" algn="ctr">
                        <a:buNone/>
                      </a:pPr>
                      <a:r>
                        <a:rPr lang="zh-CN" sz="1200" b="1" dirty="0">
                          <a:solidFill>
                            <a:srgbClr val="000000"/>
                          </a:solidFill>
                          <a:latin typeface="微软雅黑" panose="020B0503020204020204" charset="-122"/>
                          <a:ea typeface="微软雅黑" panose="020B0503020204020204" charset="-122"/>
                        </a:rPr>
                        <a:t>应答人名称</a:t>
                      </a:r>
                      <a:endParaRPr lang="zh-CN" altLang="en-US" sz="1200" b="1" dirty="0">
                        <a:solidFill>
                          <a:srgbClr val="000000"/>
                        </a:solidFill>
                        <a:latin typeface="微软雅黑" panose="020B0503020204020204" charset="-122"/>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algn="ctr">
                        <a:buClrTx/>
                        <a:buSzTx/>
                        <a:buFontTx/>
                        <a:buNone/>
                      </a:pPr>
                      <a:r>
                        <a:rPr lang="zh-CN" sz="1200" b="1">
                          <a:solidFill>
                            <a:srgbClr val="000000"/>
                          </a:solidFill>
                          <a:latin typeface="微软雅黑" panose="020B0503020204020204" charset="-122"/>
                          <a:ea typeface="微软雅黑" panose="020B0503020204020204" charset="-122"/>
                          <a:cs typeface="微软雅黑" panose="020B0503020204020204" charset="-122"/>
                        </a:rPr>
                        <a:t>服务部分得分（</a:t>
                      </a:r>
                      <a:r>
                        <a:rPr lang="en-US" altLang="zh-CN" sz="1200" dirty="0">
                          <a:solidFill>
                            <a:srgbClr val="FF0000"/>
                          </a:solidFill>
                          <a:latin typeface="微软雅黑" panose="020B0503020204020204" charset="-122"/>
                          <a:ea typeface="微软雅黑" panose="020B0503020204020204" charset="-122"/>
                          <a:cs typeface="微软雅黑" panose="020B0503020204020204" charset="-122"/>
                          <a:sym typeface="+mn-ea"/>
                        </a:rPr>
                        <a:t>XX</a:t>
                      </a:r>
                      <a:r>
                        <a:rPr lang="zh-CN" sz="1200" b="1">
                          <a:solidFill>
                            <a:srgbClr val="000000"/>
                          </a:solidFill>
                          <a:latin typeface="微软雅黑" panose="020B0503020204020204" charset="-122"/>
                          <a:ea typeface="微软雅黑" panose="020B0503020204020204" charset="-122"/>
                          <a:cs typeface="微软雅黑" panose="020B0503020204020204" charset="-122"/>
                        </a:rPr>
                        <a:t>分）</a:t>
                      </a:r>
                      <a:endParaRPr lang="zh-CN" sz="1200" b="1">
                        <a:solidFill>
                          <a:srgbClr val="000000"/>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algn="ctr">
                        <a:buClrTx/>
                        <a:buSzTx/>
                        <a:buFontTx/>
                        <a:buNone/>
                      </a:pPr>
                      <a:r>
                        <a:rPr lang="zh-CN" sz="1200" b="1">
                          <a:solidFill>
                            <a:srgbClr val="000000"/>
                          </a:solidFill>
                          <a:latin typeface="微软雅黑" panose="020B0503020204020204" charset="-122"/>
                          <a:ea typeface="微软雅黑" panose="020B0503020204020204" charset="-122"/>
                          <a:cs typeface="微软雅黑" panose="020B0503020204020204" charset="-122"/>
                        </a:rPr>
                        <a:t>商务部分得分（</a:t>
                      </a:r>
                      <a:r>
                        <a:rPr lang="en-US" altLang="zh-CN" sz="1200" dirty="0">
                          <a:solidFill>
                            <a:srgbClr val="FF0000"/>
                          </a:solidFill>
                          <a:latin typeface="微软雅黑" panose="020B0503020204020204" charset="-122"/>
                          <a:ea typeface="微软雅黑" panose="020B0503020204020204" charset="-122"/>
                          <a:cs typeface="微软雅黑" panose="020B0503020204020204" charset="-122"/>
                          <a:sym typeface="+mn-ea"/>
                        </a:rPr>
                        <a:t>XX</a:t>
                      </a:r>
                      <a:r>
                        <a:rPr lang="zh-CN" sz="1200" b="1">
                          <a:solidFill>
                            <a:srgbClr val="000000"/>
                          </a:solidFill>
                          <a:latin typeface="微软雅黑" panose="020B0503020204020204" charset="-122"/>
                          <a:ea typeface="微软雅黑" panose="020B0503020204020204" charset="-122"/>
                          <a:cs typeface="微软雅黑" panose="020B0503020204020204" charset="-122"/>
                        </a:rPr>
                        <a:t>分）</a:t>
                      </a:r>
                      <a:endParaRPr lang="zh-CN" sz="1200" b="1">
                        <a:solidFill>
                          <a:srgbClr val="000000"/>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algn="ctr">
                        <a:buClrTx/>
                        <a:buSzTx/>
                        <a:buFontTx/>
                        <a:buNone/>
                      </a:pPr>
                      <a:r>
                        <a:rPr lang="zh-CN" sz="1200" b="1">
                          <a:solidFill>
                            <a:srgbClr val="000000"/>
                          </a:solidFill>
                          <a:latin typeface="微软雅黑" panose="020B0503020204020204" charset="-122"/>
                          <a:ea typeface="微软雅黑" panose="020B0503020204020204" charset="-122"/>
                          <a:cs typeface="微软雅黑" panose="020B0503020204020204" charset="-122"/>
                        </a:rPr>
                        <a:t>价格得分（</a:t>
                      </a:r>
                      <a:r>
                        <a:rPr lang="en-US" altLang="zh-CN" sz="1200" dirty="0">
                          <a:solidFill>
                            <a:srgbClr val="FF0000"/>
                          </a:solidFill>
                          <a:latin typeface="微软雅黑" panose="020B0503020204020204" charset="-122"/>
                          <a:ea typeface="微软雅黑" panose="020B0503020204020204" charset="-122"/>
                          <a:cs typeface="微软雅黑" panose="020B0503020204020204" charset="-122"/>
                          <a:sym typeface="+mn-ea"/>
                        </a:rPr>
                        <a:t>XX</a:t>
                      </a:r>
                      <a:r>
                        <a:rPr lang="zh-CN" sz="1200" b="1">
                          <a:solidFill>
                            <a:srgbClr val="000000"/>
                          </a:solidFill>
                          <a:latin typeface="微软雅黑" panose="020B0503020204020204" charset="-122"/>
                          <a:ea typeface="微软雅黑" panose="020B0503020204020204" charset="-122"/>
                          <a:cs typeface="微软雅黑" panose="020B0503020204020204" charset="-122"/>
                        </a:rPr>
                        <a:t>分）</a:t>
                      </a:r>
                      <a:endParaRPr lang="zh-CN" sz="1200" b="1">
                        <a:solidFill>
                          <a:srgbClr val="000000"/>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algn="ctr">
                        <a:buClrTx/>
                        <a:buSzTx/>
                        <a:buFontTx/>
                        <a:buNone/>
                      </a:pPr>
                      <a:r>
                        <a:rPr lang="zh-CN" altLang="en-US" sz="1200" b="1">
                          <a:solidFill>
                            <a:srgbClr val="000000"/>
                          </a:solidFill>
                          <a:latin typeface="微软雅黑" panose="020B0503020204020204" charset="-122"/>
                          <a:ea typeface="微软雅黑" panose="020B0503020204020204" charset="-122"/>
                        </a:rPr>
                        <a:t>不含税总价（元）</a:t>
                      </a:r>
                      <a:endParaRPr lang="zh-CN" altLang="en-US" sz="1200" b="1">
                        <a:solidFill>
                          <a:srgbClr val="000000"/>
                        </a:solidFill>
                        <a:latin typeface="微软雅黑" panose="020B0503020204020204" charset="-122"/>
                        <a:ea typeface="微软雅黑" panose="020B0503020204020204" charset="-122"/>
                      </a:endParaRP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algn="ctr">
                        <a:buClrTx/>
                        <a:buSzTx/>
                        <a:buFontTx/>
                        <a:buNone/>
                      </a:pPr>
                      <a:r>
                        <a:rPr lang="zh-CN" altLang="en-US" sz="1200">
                          <a:solidFill>
                            <a:srgbClr val="000000"/>
                          </a:solidFill>
                          <a:latin typeface="微软雅黑" panose="020B0503020204020204" charset="-122"/>
                          <a:ea typeface="微软雅黑" panose="020B0503020204020204" charset="-122"/>
                          <a:sym typeface="+mn-ea"/>
                        </a:rPr>
                        <a:t>含税总价（元）</a:t>
                      </a:r>
                      <a:endParaRPr lang="zh-CN" altLang="en-US" sz="1200" b="1">
                        <a:solidFill>
                          <a:srgbClr val="000000"/>
                        </a:solidFill>
                        <a:latin typeface="微软雅黑" panose="020B0503020204020204" charset="-122"/>
                        <a:ea typeface="微软雅黑" panose="020B0503020204020204" charset="-122"/>
                        <a:sym typeface="+mn-ea"/>
                      </a:endParaRP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algn="ctr">
                        <a:buClrTx/>
                        <a:buSzTx/>
                        <a:buFontTx/>
                        <a:buNone/>
                      </a:pPr>
                      <a:r>
                        <a:rPr lang="zh-CN" sz="1200" b="1">
                          <a:solidFill>
                            <a:srgbClr val="000000"/>
                          </a:solidFill>
                          <a:latin typeface="微软雅黑" panose="020B0503020204020204" charset="-122"/>
                          <a:ea typeface="微软雅黑" panose="020B0503020204020204" charset="-122"/>
                        </a:rPr>
                        <a:t>综合得分</a:t>
                      </a:r>
                      <a:endParaRPr lang="zh-CN" sz="1200" b="1">
                        <a:solidFill>
                          <a:srgbClr val="000000"/>
                        </a:solidFill>
                        <a:latin typeface="微软雅黑" panose="020B0503020204020204" charset="-122"/>
                        <a:ea typeface="微软雅黑" panose="020B0503020204020204" charset="-122"/>
                      </a:endParaRP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algn="ctr">
                        <a:buClrTx/>
                        <a:buSzTx/>
                        <a:buFontTx/>
                        <a:buNone/>
                      </a:pPr>
                      <a:r>
                        <a:rPr lang="zh-CN" sz="1200" b="1">
                          <a:solidFill>
                            <a:srgbClr val="000000"/>
                          </a:solidFill>
                          <a:latin typeface="微软雅黑" panose="020B0503020204020204" charset="-122"/>
                          <a:ea typeface="微软雅黑" panose="020B0503020204020204" charset="-122"/>
                        </a:rPr>
                        <a:t>排名</a:t>
                      </a:r>
                      <a:endParaRPr lang="zh-CN" sz="1200" b="1">
                        <a:solidFill>
                          <a:srgbClr val="000000"/>
                        </a:solidFill>
                        <a:latin typeface="微软雅黑" panose="020B0503020204020204" charset="-122"/>
                        <a:ea typeface="微软雅黑" panose="020B0503020204020204" charset="-122"/>
                      </a:endParaRP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13360">
                <a:tc>
                  <a:txBody>
                    <a:bodyPr/>
                    <a:lstStyle/>
                    <a:p>
                      <a:pPr indent="0" algn="ctr">
                        <a:buNone/>
                      </a:pPr>
                      <a:endParaRPr lang="en-US" altLang="en-US" sz="1400" b="0" dirty="0">
                        <a:latin typeface="微软雅黑" panose="020B0503020204020204" charset="-122"/>
                        <a:ea typeface="微软雅黑" panose="020B0503020204020204" charset="-122"/>
                        <a:cs typeface="宋体" pitchFamily="2" charset="-122"/>
                      </a:endParaRP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400" b="0">
                        <a:latin typeface="微软雅黑" panose="020B0503020204020204" charset="-122"/>
                        <a:ea typeface="微软雅黑" panose="020B0503020204020204" charset="-122"/>
                        <a:cs typeface="宋体" pitchFamily="2" charset="-122"/>
                      </a:endParaRP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400" b="0">
                        <a:latin typeface="微软雅黑" panose="020B0503020204020204" charset="-122"/>
                        <a:ea typeface="微软雅黑" panose="020B0503020204020204" charset="-122"/>
                        <a:cs typeface="宋体" pitchFamily="2" charset="-122"/>
                      </a:endParaRP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400" b="0">
                        <a:latin typeface="微软雅黑" panose="020B0503020204020204" charset="-122"/>
                        <a:ea typeface="微软雅黑" panose="020B0503020204020204" charset="-122"/>
                        <a:cs typeface="宋体" pitchFamily="2" charset="-122"/>
                      </a:endParaRP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400" b="0">
                        <a:latin typeface="微软雅黑" panose="020B0503020204020204" charset="-122"/>
                        <a:ea typeface="微软雅黑" panose="020B0503020204020204" charset="-122"/>
                        <a:cs typeface="宋体" pitchFamily="2" charset="-122"/>
                      </a:endParaRP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400" b="0">
                        <a:latin typeface="微软雅黑" panose="020B0503020204020204" charset="-122"/>
                        <a:ea typeface="微软雅黑" panose="020B0503020204020204" charset="-122"/>
                        <a:cs typeface="宋体" pitchFamily="2" charset="-122"/>
                      </a:endParaRP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400" b="0">
                        <a:latin typeface="微软雅黑" panose="020B0503020204020204" charset="-122"/>
                        <a:ea typeface="微软雅黑" panose="020B0503020204020204" charset="-122"/>
                        <a:cs typeface="宋体" pitchFamily="2" charset="-122"/>
                      </a:endParaRP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algn="ctr">
                        <a:buClrTx/>
                        <a:buSzTx/>
                        <a:buFontTx/>
                        <a:buNone/>
                      </a:pPr>
                      <a:endParaRPr lang="en-US" altLang="zh-CN" sz="1200" b="0">
                        <a:solidFill>
                          <a:srgbClr val="000000"/>
                        </a:solidFill>
                        <a:latin typeface="微软雅黑" panose="020B0503020204020204" charset="-122"/>
                        <a:ea typeface="微软雅黑" panose="020B0503020204020204" charset="-122"/>
                      </a:endParaRP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13360">
                <a:tc>
                  <a:txBody>
                    <a:bodyPr/>
                    <a:lstStyle/>
                    <a:p>
                      <a:pPr indent="0" algn="ctr">
                        <a:buNone/>
                      </a:pPr>
                      <a:endParaRPr lang="en-US" altLang="en-US" sz="1400" b="0" dirty="0">
                        <a:latin typeface="微软雅黑" panose="020B0503020204020204" charset="-122"/>
                        <a:ea typeface="微软雅黑" panose="020B0503020204020204" charset="-122"/>
                        <a:cs typeface="宋体" pitchFamily="2" charset="-122"/>
                      </a:endParaRP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400" b="0">
                        <a:latin typeface="微软雅黑" panose="020B0503020204020204" charset="-122"/>
                        <a:ea typeface="微软雅黑" panose="020B0503020204020204" charset="-122"/>
                        <a:cs typeface="宋体" pitchFamily="2" charset="-122"/>
                      </a:endParaRP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400" b="0">
                        <a:solidFill>
                          <a:srgbClr val="000000"/>
                        </a:solidFill>
                        <a:latin typeface="微软雅黑" panose="020B0503020204020204" charset="-122"/>
                        <a:ea typeface="微软雅黑" panose="020B0503020204020204" charset="-122"/>
                        <a:cs typeface="宋体" pitchFamily="2" charset="-122"/>
                      </a:endParaRP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400" b="0">
                        <a:latin typeface="微软雅黑" panose="020B0503020204020204" charset="-122"/>
                        <a:ea typeface="微软雅黑" panose="020B0503020204020204" charset="-122"/>
                        <a:cs typeface="宋体" pitchFamily="2" charset="-122"/>
                      </a:endParaRP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400" b="0">
                        <a:latin typeface="微软雅黑" panose="020B0503020204020204" charset="-122"/>
                        <a:ea typeface="微软雅黑" panose="020B0503020204020204" charset="-122"/>
                        <a:cs typeface="宋体" pitchFamily="2" charset="-122"/>
                      </a:endParaRP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400" b="0">
                        <a:latin typeface="微软雅黑" panose="020B0503020204020204" charset="-122"/>
                        <a:ea typeface="微软雅黑" panose="020B0503020204020204" charset="-122"/>
                        <a:cs typeface="宋体" pitchFamily="2" charset="-122"/>
                      </a:endParaRP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400" b="0">
                        <a:latin typeface="微软雅黑" panose="020B0503020204020204" charset="-122"/>
                        <a:ea typeface="微软雅黑" panose="020B0503020204020204" charset="-122"/>
                        <a:cs typeface="宋体" pitchFamily="2" charset="-122"/>
                      </a:endParaRP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algn="ctr">
                        <a:buClrTx/>
                        <a:buSzTx/>
                        <a:buFontTx/>
                        <a:buNone/>
                      </a:pPr>
                      <a:endParaRPr lang="en-US" altLang="zh-CN" sz="1200" b="0">
                        <a:solidFill>
                          <a:srgbClr val="000000"/>
                        </a:solidFill>
                        <a:latin typeface="微软雅黑" panose="020B0503020204020204" charset="-122"/>
                        <a:ea typeface="微软雅黑" panose="020B0503020204020204" charset="-122"/>
                      </a:endParaRP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13360">
                <a:tc>
                  <a:txBody>
                    <a:bodyPr/>
                    <a:lstStyle/>
                    <a:p>
                      <a:pPr indent="0" algn="ctr">
                        <a:buNone/>
                      </a:pPr>
                      <a:endParaRPr lang="en-US" altLang="en-US" sz="1400" b="0">
                        <a:latin typeface="微软雅黑" panose="020B0503020204020204" charset="-122"/>
                        <a:ea typeface="微软雅黑" panose="020B0503020204020204" charset="-122"/>
                        <a:cs typeface="宋体" pitchFamily="2" charset="-122"/>
                      </a:endParaRP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400" b="0">
                        <a:latin typeface="微软雅黑" panose="020B0503020204020204" charset="-122"/>
                        <a:ea typeface="微软雅黑" panose="020B0503020204020204" charset="-122"/>
                        <a:cs typeface="宋体" pitchFamily="2" charset="-122"/>
                      </a:endParaRP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400" b="0">
                        <a:solidFill>
                          <a:srgbClr val="000000"/>
                        </a:solidFill>
                        <a:latin typeface="微软雅黑" panose="020B0503020204020204" charset="-122"/>
                        <a:ea typeface="微软雅黑" panose="020B0503020204020204" charset="-122"/>
                        <a:cs typeface="宋体" pitchFamily="2" charset="-122"/>
                      </a:endParaRP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400" b="0">
                        <a:latin typeface="微软雅黑" panose="020B0503020204020204" charset="-122"/>
                        <a:ea typeface="微软雅黑" panose="020B0503020204020204" charset="-122"/>
                        <a:cs typeface="宋体" pitchFamily="2" charset="-122"/>
                      </a:endParaRP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400" b="0">
                        <a:latin typeface="微软雅黑" panose="020B0503020204020204" charset="-122"/>
                        <a:ea typeface="微软雅黑" panose="020B0503020204020204" charset="-122"/>
                        <a:cs typeface="宋体" pitchFamily="2" charset="-122"/>
                      </a:endParaRP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400" b="0">
                        <a:latin typeface="微软雅黑" panose="020B0503020204020204" charset="-122"/>
                        <a:ea typeface="微软雅黑" panose="020B0503020204020204" charset="-122"/>
                        <a:cs typeface="宋体" pitchFamily="2" charset="-122"/>
                      </a:endParaRP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400" b="0">
                        <a:latin typeface="微软雅黑" panose="020B0503020204020204" charset="-122"/>
                        <a:ea typeface="微软雅黑" panose="020B0503020204020204" charset="-122"/>
                        <a:cs typeface="宋体" pitchFamily="2" charset="-122"/>
                      </a:endParaRP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algn="ctr">
                        <a:buClrTx/>
                        <a:buSzTx/>
                        <a:buFontTx/>
                        <a:buNone/>
                      </a:pPr>
                      <a:endParaRPr lang="en-US" altLang="zh-CN" sz="1200" b="0">
                        <a:solidFill>
                          <a:srgbClr val="000000"/>
                        </a:solidFill>
                        <a:latin typeface="微软雅黑" panose="020B0503020204020204" charset="-122"/>
                        <a:ea typeface="微软雅黑" panose="020B0503020204020204" charset="-122"/>
                      </a:endParaRP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17" name="文本框 16"/>
          <p:cNvSpPr txBox="1"/>
          <p:nvPr/>
        </p:nvSpPr>
        <p:spPr>
          <a:xfrm>
            <a:off x="146050" y="4995545"/>
            <a:ext cx="5937885" cy="1884045"/>
          </a:xfrm>
          <a:prstGeom prst="rect">
            <a:avLst/>
          </a:prstGeom>
          <a:noFill/>
        </p:spPr>
        <p:txBody>
          <a:bodyPr wrap="square" rtlCol="0">
            <a:spAutoFit/>
          </a:bodyPr>
          <a:lstStyle/>
          <a:p>
            <a:pPr algn="l">
              <a:lnSpc>
                <a:spcPct val="97000"/>
              </a:lnSpc>
            </a:pPr>
            <a:r>
              <a:rPr lang="en-US" altLang="zh-CN" sz="1200" dirty="0">
                <a:latin typeface="微软雅黑" panose="020B0503020204020204" charset="-122"/>
                <a:ea typeface="微软雅黑" panose="020B0503020204020204" charset="-122"/>
                <a:cs typeface="微软雅黑" panose="020B0503020204020204" charset="-122"/>
                <a:sym typeface="+mn-ea"/>
              </a:rPr>
              <a:t>  </a:t>
            </a:r>
            <a:r>
              <a:rPr lang="zh-CN" altLang="en-US" sz="1200" dirty="0">
                <a:latin typeface="微软雅黑" panose="020B0503020204020204" charset="-122"/>
                <a:ea typeface="微软雅黑" panose="020B0503020204020204" charset="-122"/>
                <a:cs typeface="微软雅黑" panose="020B0503020204020204" charset="-122"/>
                <a:sym typeface="+mn-ea"/>
              </a:rPr>
              <a:t>评审委员会推荐的中选候选人名单如下：</a:t>
            </a:r>
            <a:endParaRPr lang="zh-CN" altLang="en-US" sz="1200" dirty="0">
              <a:latin typeface="微软雅黑" panose="020B0503020204020204" charset="-122"/>
              <a:ea typeface="微软雅黑" panose="020B0503020204020204" charset="-122"/>
              <a:cs typeface="微软雅黑" panose="020B0503020204020204" charset="-122"/>
            </a:endParaRPr>
          </a:p>
          <a:p>
            <a:pPr algn="l">
              <a:lnSpc>
                <a:spcPct val="97000"/>
              </a:lnSpc>
              <a:spcBef>
                <a:spcPct val="20000"/>
              </a:spcBef>
              <a:buClrTx/>
              <a:buSzTx/>
              <a:buFontTx/>
            </a:pPr>
            <a:r>
              <a:rPr lang="en-US" altLang="zh-CN" sz="1200" dirty="0">
                <a:latin typeface="微软雅黑" panose="020B0503020204020204" charset="-122"/>
                <a:ea typeface="微软雅黑" panose="020B0503020204020204" charset="-122"/>
                <a:cs typeface="微软雅黑" panose="020B0503020204020204" charset="-122"/>
                <a:sym typeface="+mn-ea"/>
              </a:rPr>
              <a:t>       </a:t>
            </a:r>
            <a:r>
              <a:rPr lang="zh-CN" altLang="en-US" sz="1200" dirty="0">
                <a:latin typeface="微软雅黑" panose="020B0503020204020204" charset="-122"/>
                <a:ea typeface="微软雅黑" panose="020B0503020204020204" charset="-122"/>
                <a:cs typeface="微软雅黑" panose="020B0503020204020204" charset="-122"/>
                <a:sym typeface="+mn-ea"/>
              </a:rPr>
              <a:t>第一中选候选人：</a:t>
            </a:r>
            <a:r>
              <a:rPr lang="en-US" altLang="zh-CN" sz="1200" b="1" dirty="0">
                <a:solidFill>
                  <a:srgbClr val="FF0000"/>
                </a:solidFill>
                <a:latin typeface="微软雅黑" panose="020B0503020204020204" charset="-122"/>
                <a:ea typeface="微软雅黑" panose="020B0503020204020204" charset="-122"/>
                <a:cs typeface="微软雅黑" panose="020B0503020204020204" charset="-122"/>
                <a:sym typeface="+mn-ea"/>
              </a:rPr>
              <a:t>XXXXXXXX</a:t>
            </a:r>
            <a:r>
              <a:rPr lang="zh-CN" altLang="en-US" sz="1200" dirty="0">
                <a:latin typeface="微软雅黑" panose="020B0503020204020204" charset="-122"/>
                <a:ea typeface="微软雅黑" panose="020B0503020204020204" charset="-122"/>
                <a:cs typeface="微软雅黑" panose="020B0503020204020204" charset="-122"/>
                <a:sym typeface="+mn-ea"/>
              </a:rPr>
              <a:t>，中选份额100%，中选金额：</a:t>
            </a:r>
            <a:r>
              <a:rPr lang="zh-CN" altLang="en-US" sz="1200" b="1" dirty="0">
                <a:solidFill>
                  <a:srgbClr val="FF0000"/>
                </a:solidFill>
                <a:latin typeface="微软雅黑" panose="020B0503020204020204" charset="-122"/>
                <a:ea typeface="微软雅黑" panose="020B0503020204020204" charset="-122"/>
                <a:cs typeface="微软雅黑" panose="020B0503020204020204" charset="-122"/>
                <a:sym typeface="+mn-ea"/>
              </a:rPr>
              <a:t>不含税</a:t>
            </a:r>
            <a:r>
              <a:rPr lang="en-US" altLang="zh-CN" sz="1200" b="1" dirty="0">
                <a:solidFill>
                  <a:srgbClr val="FF0000"/>
                </a:solidFill>
                <a:latin typeface="微软雅黑" panose="020B0503020204020204" charset="-122"/>
                <a:ea typeface="微软雅黑" panose="020B0503020204020204" charset="-122"/>
                <a:cs typeface="微软雅黑" panose="020B0503020204020204" charset="-122"/>
                <a:sym typeface="+mn-ea"/>
              </a:rPr>
              <a:t>XXXXXX</a:t>
            </a:r>
            <a:r>
              <a:rPr lang="zh-CN" altLang="en-US" sz="1200" b="1" dirty="0">
                <a:solidFill>
                  <a:srgbClr val="FF0000"/>
                </a:solidFill>
                <a:latin typeface="微软雅黑" panose="020B0503020204020204" charset="-122"/>
                <a:ea typeface="微软雅黑" panose="020B0503020204020204" charset="-122"/>
                <a:cs typeface="微软雅黑" panose="020B0503020204020204" charset="-122"/>
                <a:sym typeface="+mn-ea"/>
              </a:rPr>
              <a:t>元，含税</a:t>
            </a:r>
            <a:r>
              <a:rPr lang="en-US" altLang="zh-CN" sz="1200" b="1" dirty="0">
                <a:solidFill>
                  <a:srgbClr val="FF0000"/>
                </a:solidFill>
                <a:latin typeface="微软雅黑" panose="020B0503020204020204" charset="-122"/>
                <a:ea typeface="微软雅黑" panose="020B0503020204020204" charset="-122"/>
                <a:cs typeface="微软雅黑" panose="020B0503020204020204" charset="-122"/>
                <a:sym typeface="+mn-ea"/>
              </a:rPr>
              <a:t>XXXXXXXX</a:t>
            </a:r>
            <a:r>
              <a:rPr lang="zh-CN" altLang="en-US" sz="1200" b="1" dirty="0">
                <a:solidFill>
                  <a:srgbClr val="FF0000"/>
                </a:solidFill>
                <a:latin typeface="微软雅黑" panose="020B0503020204020204" charset="-122"/>
                <a:ea typeface="微软雅黑" panose="020B0503020204020204" charset="-122"/>
                <a:cs typeface="微软雅黑" panose="020B0503020204020204" charset="-122"/>
                <a:sym typeface="+mn-ea"/>
              </a:rPr>
              <a:t>元</a:t>
            </a:r>
            <a:r>
              <a:rPr lang="zh-CN" altLang="en-US" sz="1200" dirty="0">
                <a:solidFill>
                  <a:srgbClr val="FF0000"/>
                </a:solidFill>
                <a:latin typeface="微软雅黑" panose="020B0503020204020204" charset="-122"/>
                <a:ea typeface="微软雅黑" panose="020B0503020204020204" charset="-122"/>
                <a:cs typeface="微软雅黑" panose="020B0503020204020204" charset="-122"/>
                <a:sym typeface="+mn-ea"/>
              </a:rPr>
              <a:t>；</a:t>
            </a:r>
            <a:endParaRPr lang="zh-CN" altLang="en-US" sz="1200" dirty="0">
              <a:latin typeface="微软雅黑" panose="020B0503020204020204" charset="-122"/>
              <a:ea typeface="微软雅黑" panose="020B0503020204020204" charset="-122"/>
              <a:cs typeface="微软雅黑" panose="020B0503020204020204" charset="-122"/>
              <a:sym typeface="+mn-ea"/>
            </a:endParaRPr>
          </a:p>
          <a:p>
            <a:pPr algn="l">
              <a:lnSpc>
                <a:spcPct val="97000"/>
              </a:lnSpc>
              <a:spcBef>
                <a:spcPct val="20000"/>
              </a:spcBef>
              <a:buClrTx/>
              <a:buSzTx/>
              <a:buFontTx/>
            </a:pPr>
            <a:r>
              <a:rPr lang="zh-CN" altLang="en-US" sz="1200" dirty="0">
                <a:latin typeface="微软雅黑" panose="020B0503020204020204" charset="-122"/>
                <a:ea typeface="微软雅黑" panose="020B0503020204020204" charset="-122"/>
                <a:cs typeface="微软雅黑" panose="020B0503020204020204" charset="-122"/>
                <a:sym typeface="+mn-ea"/>
              </a:rPr>
              <a:t>       第二中选候选人：</a:t>
            </a:r>
            <a:r>
              <a:rPr lang="en-US" altLang="zh-CN" sz="1200" dirty="0">
                <a:latin typeface="微软雅黑" panose="020B0503020204020204" charset="-122"/>
                <a:ea typeface="微软雅黑" panose="020B0503020204020204" charset="-122"/>
                <a:cs typeface="微软雅黑" panose="020B0503020204020204" charset="-122"/>
                <a:sym typeface="+mn-ea"/>
              </a:rPr>
              <a:t>XXXXXXXXXX</a:t>
            </a:r>
            <a:endParaRPr lang="en-US" altLang="zh-CN" sz="1200" dirty="0">
              <a:latin typeface="微软雅黑" panose="020B0503020204020204" charset="-122"/>
              <a:ea typeface="微软雅黑" panose="020B0503020204020204" charset="-122"/>
              <a:cs typeface="微软雅黑" panose="020B0503020204020204" charset="-122"/>
              <a:sym typeface="+mn-ea"/>
            </a:endParaRPr>
          </a:p>
          <a:p>
            <a:pPr algn="l">
              <a:lnSpc>
                <a:spcPct val="97000"/>
              </a:lnSpc>
              <a:spcBef>
                <a:spcPct val="20000"/>
              </a:spcBef>
              <a:buClrTx/>
              <a:buSzTx/>
              <a:buFontTx/>
            </a:pPr>
            <a:r>
              <a:rPr lang="zh-CN" altLang="en-US" sz="1200" dirty="0">
                <a:latin typeface="微软雅黑" panose="020B0503020204020204" charset="-122"/>
                <a:ea typeface="微软雅黑" panose="020B0503020204020204" charset="-122"/>
                <a:cs typeface="微软雅黑" panose="020B0503020204020204" charset="-122"/>
                <a:sym typeface="+mn-ea"/>
              </a:rPr>
              <a:t>（2）部分2：</a:t>
            </a:r>
            <a:r>
              <a:rPr lang="zh-CN" altLang="en-US" sz="1200" b="1" dirty="0">
                <a:solidFill>
                  <a:srgbClr val="FF0000"/>
                </a:solidFill>
                <a:latin typeface="微软雅黑" panose="020B0503020204020204" charset="-122"/>
                <a:ea typeface="微软雅黑" panose="020B0503020204020204" charset="-122"/>
                <a:cs typeface="微软雅黑" panose="020B0503020204020204" charset="-122"/>
                <a:sym typeface="+mn-ea"/>
              </a:rPr>
              <a:t>（模板同上）</a:t>
            </a:r>
            <a:endParaRPr lang="zh-CN" altLang="en-US" sz="1200" dirty="0">
              <a:latin typeface="微软雅黑" panose="020B0503020204020204" charset="-122"/>
              <a:ea typeface="微软雅黑" panose="020B0503020204020204" charset="-122"/>
              <a:cs typeface="微软雅黑" panose="020B0503020204020204" charset="-122"/>
              <a:sym typeface="+mn-ea"/>
            </a:endParaRPr>
          </a:p>
          <a:p>
            <a:pPr algn="l">
              <a:lnSpc>
                <a:spcPct val="97000"/>
              </a:lnSpc>
              <a:spcBef>
                <a:spcPct val="20000"/>
              </a:spcBef>
              <a:buClrTx/>
              <a:buSzTx/>
              <a:buFontTx/>
            </a:pPr>
            <a:r>
              <a:rPr lang="zh-CN" altLang="en-US" sz="1200">
                <a:latin typeface="微软雅黑" panose="020B0503020204020204" charset="-122"/>
                <a:ea typeface="微软雅黑" panose="020B0503020204020204" charset="-122"/>
                <a:cs typeface="微软雅黑" panose="020B0503020204020204" charset="-122"/>
              </a:rPr>
              <a:t>（</a:t>
            </a:r>
            <a:r>
              <a:rPr lang="en-US" altLang="zh-CN" sz="1200">
                <a:latin typeface="微软雅黑" panose="020B0503020204020204" charset="-122"/>
                <a:ea typeface="微软雅黑" panose="020B0503020204020204" charset="-122"/>
                <a:cs typeface="微软雅黑" panose="020B0503020204020204" charset="-122"/>
              </a:rPr>
              <a:t>3</a:t>
            </a:r>
            <a:r>
              <a:rPr lang="zh-CN" altLang="en-US" sz="1200">
                <a:latin typeface="微软雅黑" panose="020B0503020204020204" charset="-122"/>
                <a:ea typeface="微软雅黑" panose="020B0503020204020204" charset="-122"/>
                <a:cs typeface="微软雅黑" panose="020B0503020204020204" charset="-122"/>
              </a:rPr>
              <a:t>）第一中选候选人经营情况：</a:t>
            </a:r>
            <a:endParaRPr lang="zh-CN" altLang="en-US" sz="1200">
              <a:latin typeface="微软雅黑" panose="020B0503020204020204" charset="-122"/>
              <a:ea typeface="微软雅黑" panose="020B0503020204020204" charset="-122"/>
              <a:cs typeface="微软雅黑" panose="020B0503020204020204" charset="-122"/>
            </a:endParaRPr>
          </a:p>
          <a:p>
            <a:pPr algn="l">
              <a:lnSpc>
                <a:spcPct val="97000"/>
              </a:lnSpc>
              <a:spcBef>
                <a:spcPct val="20000"/>
              </a:spcBef>
              <a:buClrTx/>
              <a:buSzTx/>
              <a:buFontTx/>
            </a:pPr>
            <a:r>
              <a:rPr lang="en-US" altLang="zh-CN" sz="1200" b="1" dirty="0">
                <a:solidFill>
                  <a:srgbClr val="FF0000"/>
                </a:solidFill>
                <a:latin typeface="微软雅黑" panose="020B0503020204020204" charset="-122"/>
                <a:ea typeface="微软雅黑" panose="020B0503020204020204" charset="-122"/>
                <a:cs typeface="微软雅黑" panose="020B0503020204020204" charset="-122"/>
                <a:sym typeface="+mn-ea"/>
              </a:rPr>
              <a:t>XX</a:t>
            </a:r>
            <a:r>
              <a:rPr lang="en-US" altLang="zh-CN" sz="1200" dirty="0">
                <a:latin typeface="微软雅黑" panose="020B0503020204020204" charset="-122"/>
                <a:ea typeface="微软雅黑" panose="020B0503020204020204" charset="-122"/>
                <a:cs typeface="微软雅黑" panose="020B0503020204020204" charset="-122"/>
                <a:sym typeface="+mn-ea"/>
              </a:rPr>
              <a:t>公司</a:t>
            </a:r>
            <a:r>
              <a:rPr lang="zh-CN" altLang="en-US" sz="1200" dirty="0">
                <a:latin typeface="微软雅黑" panose="020B0503020204020204" charset="-122"/>
                <a:ea typeface="微软雅黑" panose="020B0503020204020204" charset="-122"/>
                <a:cs typeface="微软雅黑" panose="020B0503020204020204" charset="-122"/>
                <a:sym typeface="+mn-ea"/>
              </a:rPr>
              <a:t>为</a:t>
            </a:r>
            <a:r>
              <a:rPr lang="en-US" altLang="zh-CN" sz="1200" b="1" dirty="0">
                <a:solidFill>
                  <a:srgbClr val="FF0000"/>
                </a:solidFill>
                <a:latin typeface="微软雅黑" panose="020B0503020204020204" charset="-122"/>
                <a:ea typeface="微软雅黑" panose="020B0503020204020204" charset="-122"/>
                <a:cs typeface="微软雅黑" panose="020B0503020204020204" charset="-122"/>
                <a:sym typeface="+mn-ea"/>
              </a:rPr>
              <a:t>XX</a:t>
            </a:r>
            <a:r>
              <a:rPr lang="zh-CN" altLang="en-US" sz="1200" dirty="0">
                <a:latin typeface="微软雅黑" panose="020B0503020204020204" charset="-122"/>
                <a:ea typeface="微软雅黑" panose="020B0503020204020204" charset="-122"/>
                <a:cs typeface="微软雅黑" panose="020B0503020204020204" charset="-122"/>
                <a:sym typeface="+mn-ea"/>
              </a:rPr>
              <a:t>分公司带项目引入，</a:t>
            </a:r>
            <a:r>
              <a:rPr lang="en-US" altLang="zh-CN" sz="1200" dirty="0">
                <a:latin typeface="微软雅黑" panose="020B0503020204020204" charset="-122"/>
                <a:ea typeface="微软雅黑" panose="020B0503020204020204" charset="-122"/>
                <a:cs typeface="微软雅黑" panose="020B0503020204020204" charset="-122"/>
                <a:sym typeface="+mn-ea"/>
              </a:rPr>
              <a:t>成立于</a:t>
            </a:r>
            <a:r>
              <a:rPr lang="en-US" altLang="zh-CN" sz="1200" b="1" dirty="0">
                <a:solidFill>
                  <a:srgbClr val="FF0000"/>
                </a:solidFill>
                <a:latin typeface="微软雅黑" panose="020B0503020204020204" charset="-122"/>
                <a:ea typeface="微软雅黑" panose="020B0503020204020204" charset="-122"/>
                <a:cs typeface="微软雅黑" panose="020B0503020204020204" charset="-122"/>
                <a:sym typeface="+mn-ea"/>
              </a:rPr>
              <a:t>XX</a:t>
            </a:r>
            <a:r>
              <a:rPr lang="en-US" altLang="zh-CN" sz="1200" dirty="0">
                <a:latin typeface="微软雅黑" panose="020B0503020204020204" charset="-122"/>
                <a:ea typeface="微软雅黑" panose="020B0503020204020204" charset="-122"/>
                <a:cs typeface="微软雅黑" panose="020B0503020204020204" charset="-122"/>
                <a:sym typeface="+mn-ea"/>
              </a:rPr>
              <a:t>，法定代表人为</a:t>
            </a:r>
            <a:r>
              <a:rPr lang="en-US" altLang="zh-CN" sz="1200" b="1" dirty="0">
                <a:solidFill>
                  <a:srgbClr val="FF0000"/>
                </a:solidFill>
                <a:latin typeface="微软雅黑" panose="020B0503020204020204" charset="-122"/>
                <a:ea typeface="微软雅黑" panose="020B0503020204020204" charset="-122"/>
                <a:cs typeface="微软雅黑" panose="020B0503020204020204" charset="-122"/>
                <a:sym typeface="+mn-ea"/>
              </a:rPr>
              <a:t>XX</a:t>
            </a:r>
            <a:r>
              <a:rPr lang="en-US" altLang="zh-CN" sz="1200" dirty="0">
                <a:latin typeface="微软雅黑" panose="020B0503020204020204" charset="-122"/>
                <a:ea typeface="微软雅黑" panose="020B0503020204020204" charset="-122"/>
                <a:cs typeface="微软雅黑" panose="020B0503020204020204" charset="-122"/>
                <a:sym typeface="+mn-ea"/>
              </a:rPr>
              <a:t>，注册资本为</a:t>
            </a:r>
            <a:r>
              <a:rPr lang="en-US" altLang="zh-CN" sz="1200" b="1" dirty="0">
                <a:solidFill>
                  <a:srgbClr val="FF0000"/>
                </a:solidFill>
                <a:latin typeface="微软雅黑" panose="020B0503020204020204" charset="-122"/>
                <a:ea typeface="微软雅黑" panose="020B0503020204020204" charset="-122"/>
                <a:cs typeface="微软雅黑" panose="020B0503020204020204" charset="-122"/>
                <a:sym typeface="+mn-ea"/>
              </a:rPr>
              <a:t>XX</a:t>
            </a:r>
            <a:r>
              <a:rPr lang="en-US" altLang="zh-CN" sz="1200" dirty="0">
                <a:latin typeface="微软雅黑" panose="020B0503020204020204" charset="-122"/>
                <a:ea typeface="微软雅黑" panose="020B0503020204020204" charset="-122"/>
                <a:cs typeface="微软雅黑" panose="020B0503020204020204" charset="-122"/>
                <a:sym typeface="+mn-ea"/>
              </a:rPr>
              <a:t>万元人民币，统一社会信用代码为</a:t>
            </a:r>
            <a:r>
              <a:rPr lang="en-US" altLang="zh-CN" sz="1200" b="1" dirty="0">
                <a:solidFill>
                  <a:srgbClr val="FF0000"/>
                </a:solidFill>
                <a:latin typeface="微软雅黑" panose="020B0503020204020204" charset="-122"/>
                <a:ea typeface="微软雅黑" panose="020B0503020204020204" charset="-122"/>
                <a:cs typeface="微软雅黑" panose="020B0503020204020204" charset="-122"/>
                <a:sym typeface="+mn-ea"/>
              </a:rPr>
              <a:t>XX</a:t>
            </a:r>
            <a:r>
              <a:rPr lang="en-US" altLang="zh-CN" sz="1200" dirty="0">
                <a:latin typeface="微软雅黑" panose="020B0503020204020204" charset="-122"/>
                <a:ea typeface="微软雅黑" panose="020B0503020204020204" charset="-122"/>
                <a:cs typeface="微软雅黑" panose="020B0503020204020204" charset="-122"/>
                <a:sym typeface="+mn-ea"/>
              </a:rPr>
              <a:t>，企业地址位于</a:t>
            </a:r>
            <a:r>
              <a:rPr lang="en-US" altLang="zh-CN" sz="1200" b="1" dirty="0">
                <a:solidFill>
                  <a:srgbClr val="FF0000"/>
                </a:solidFill>
                <a:latin typeface="微软雅黑" panose="020B0503020204020204" charset="-122"/>
                <a:ea typeface="微软雅黑" panose="020B0503020204020204" charset="-122"/>
                <a:cs typeface="微软雅黑" panose="020B0503020204020204" charset="-122"/>
                <a:sym typeface="+mn-ea"/>
              </a:rPr>
              <a:t>XX</a:t>
            </a:r>
            <a:r>
              <a:rPr lang="en-US" altLang="zh-CN" sz="1200" dirty="0">
                <a:latin typeface="微软雅黑" panose="020B0503020204020204" charset="-122"/>
                <a:ea typeface="微软雅黑" panose="020B0503020204020204" charset="-122"/>
                <a:cs typeface="微软雅黑" panose="020B0503020204020204" charset="-122"/>
                <a:sym typeface="+mn-ea"/>
              </a:rPr>
              <a:t>，所属行业为</a:t>
            </a:r>
            <a:r>
              <a:rPr lang="en-US" altLang="zh-CN" sz="1200" b="1" dirty="0">
                <a:solidFill>
                  <a:srgbClr val="FF0000"/>
                </a:solidFill>
                <a:latin typeface="微软雅黑" panose="020B0503020204020204" charset="-122"/>
                <a:ea typeface="微软雅黑" panose="020B0503020204020204" charset="-122"/>
                <a:cs typeface="微软雅黑" panose="020B0503020204020204" charset="-122"/>
                <a:sym typeface="+mn-ea"/>
              </a:rPr>
              <a:t>XX</a:t>
            </a:r>
            <a:r>
              <a:rPr lang="zh-CN" altLang="en-US" sz="1200" dirty="0">
                <a:latin typeface="微软雅黑" panose="020B0503020204020204" charset="-122"/>
                <a:ea typeface="微软雅黑" panose="020B0503020204020204" charset="-122"/>
                <a:cs typeface="微软雅黑" panose="020B0503020204020204" charset="-122"/>
                <a:sym typeface="+mn-ea"/>
              </a:rPr>
              <a:t>，</a:t>
            </a:r>
            <a:r>
              <a:rPr lang="en-US" altLang="zh-CN" sz="1200" dirty="0">
                <a:latin typeface="微软雅黑" panose="020B0503020204020204" charset="-122"/>
                <a:ea typeface="微软雅黑" panose="020B0503020204020204" charset="-122"/>
                <a:cs typeface="微软雅黑" panose="020B0503020204020204" charset="-122"/>
                <a:sym typeface="+mn-ea"/>
              </a:rPr>
              <a:t>基本情况良好，目前的经营状态为存续</a:t>
            </a:r>
            <a:r>
              <a:rPr lang="zh-CN" altLang="en-US" sz="1200" dirty="0">
                <a:solidFill>
                  <a:schemeClr val="tx1"/>
                </a:solidFill>
                <a:latin typeface="微软雅黑" panose="020B0503020204020204" charset="-122"/>
                <a:ea typeface="微软雅黑" panose="020B0503020204020204" charset="-122"/>
                <a:cs typeface="微软雅黑" panose="020B0503020204020204" charset="-122"/>
                <a:sym typeface="+mn-ea"/>
              </a:rPr>
              <a:t>，</a:t>
            </a:r>
            <a:r>
              <a:rPr lang="en-US" altLang="zh-CN" sz="1200" b="1" dirty="0">
                <a:solidFill>
                  <a:schemeClr val="tx1"/>
                </a:solidFill>
                <a:latin typeface="微软雅黑" panose="020B0503020204020204" charset="-122"/>
                <a:ea typeface="微软雅黑" panose="020B0503020204020204" charset="-122"/>
                <a:cs typeface="微软雅黑" panose="020B0503020204020204" charset="-122"/>
                <a:sym typeface="+mn-ea"/>
              </a:rPr>
              <a:t>信用报告及评估</a:t>
            </a:r>
            <a:r>
              <a:rPr lang="zh-CN" altLang="en-US" sz="1200" b="1" dirty="0">
                <a:solidFill>
                  <a:schemeClr val="tx1"/>
                </a:solidFill>
                <a:latin typeface="微软雅黑" panose="020B0503020204020204" charset="-122"/>
                <a:ea typeface="微软雅黑" panose="020B0503020204020204" charset="-122"/>
                <a:cs typeface="微软雅黑" panose="020B0503020204020204" charset="-122"/>
                <a:sym typeface="+mn-ea"/>
              </a:rPr>
              <a:t>详见</a:t>
            </a:r>
            <a:r>
              <a:rPr lang="en-US" altLang="zh-CN" sz="1200" b="1" dirty="0">
                <a:solidFill>
                  <a:schemeClr val="tx1"/>
                </a:solidFill>
                <a:latin typeface="微软雅黑" panose="020B0503020204020204" charset="-122"/>
                <a:ea typeface="微软雅黑" panose="020B0503020204020204" charset="-122"/>
                <a:cs typeface="微软雅黑" panose="020B0503020204020204" charset="-122"/>
                <a:sym typeface="+mn-ea"/>
              </a:rPr>
              <a:t>附件8</a:t>
            </a:r>
            <a:endParaRPr lang="en-US" altLang="zh-CN" sz="1200" b="1"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3" name="文本框 2"/>
          <p:cNvSpPr txBox="1"/>
          <p:nvPr/>
        </p:nvSpPr>
        <p:spPr>
          <a:xfrm>
            <a:off x="6766560" y="5102860"/>
            <a:ext cx="4455160" cy="1060450"/>
          </a:xfrm>
          <a:prstGeom prst="rect">
            <a:avLst/>
          </a:prstGeom>
          <a:noFill/>
        </p:spPr>
        <p:txBody>
          <a:bodyPr wrap="square" rtlCol="0">
            <a:spAutoFit/>
          </a:bodyPr>
          <a:p>
            <a:pPr>
              <a:lnSpc>
                <a:spcPct val="150000"/>
              </a:lnSpc>
            </a:pPr>
            <a:r>
              <a:rPr lang="zh-CN" altLang="en-US" sz="1400" b="1">
                <a:solidFill>
                  <a:schemeClr val="tx1"/>
                </a:solidFill>
              </a:rPr>
              <a:t>供应商企业信用展示</a:t>
            </a:r>
            <a:endParaRPr lang="zh-CN" altLang="en-US" sz="1400" b="1">
              <a:solidFill>
                <a:schemeClr val="tx1"/>
              </a:solidFill>
            </a:endParaRPr>
          </a:p>
          <a:p>
            <a:pPr>
              <a:lnSpc>
                <a:spcPct val="150000"/>
              </a:lnSpc>
            </a:pPr>
            <a:r>
              <a:rPr lang="zh-CN" altLang="en-US" sz="1400">
                <a:solidFill>
                  <a:srgbClr val="FF0000"/>
                </a:solidFill>
              </a:rPr>
              <a:t> </a:t>
            </a:r>
            <a:r>
              <a:rPr lang="en-US" altLang="zh-CN" sz="1400">
                <a:solidFill>
                  <a:srgbClr val="FF0000"/>
                </a:solidFill>
              </a:rPr>
              <a:t>      </a:t>
            </a:r>
            <a:r>
              <a:rPr lang="zh-CN" altLang="en-US" sz="1400">
                <a:solidFill>
                  <a:srgbClr val="FF0000"/>
                </a:solidFill>
              </a:rPr>
              <a:t>请统一使用公司自有查询系统【企业资信情况查询平台】查询企业信用并显示截图</a:t>
            </a:r>
            <a:endParaRPr lang="zh-CN" altLang="en-US" sz="1400">
              <a:solidFill>
                <a:srgbClr val="FF0000"/>
              </a:solidFill>
            </a:endParaRPr>
          </a:p>
        </p:txBody>
      </p:sp>
      <p:sp>
        <p:nvSpPr>
          <p:cNvPr id="6" name="文本框 5"/>
          <p:cNvSpPr txBox="1"/>
          <p:nvPr/>
        </p:nvSpPr>
        <p:spPr>
          <a:xfrm>
            <a:off x="11221720" y="4012565"/>
            <a:ext cx="781050" cy="922020"/>
          </a:xfrm>
          <a:prstGeom prst="rect">
            <a:avLst/>
          </a:prstGeom>
          <a:solidFill>
            <a:schemeClr val="accent1"/>
          </a:solidFill>
        </p:spPr>
        <p:txBody>
          <a:bodyPr wrap="square" rtlCol="0">
            <a:spAutoFit/>
          </a:bodyPr>
          <a:p>
            <a:r>
              <a:rPr lang="zh-CN" altLang="en-US">
                <a:solidFill>
                  <a:srgbClr val="FF0000"/>
                </a:solidFill>
              </a:rPr>
              <a:t>甄选评审报告</a:t>
            </a:r>
            <a:endParaRPr lang="zh-CN" altLang="en-US">
              <a:solidFill>
                <a:srgbClr val="FF0000"/>
              </a:solidFill>
            </a:endParaRPr>
          </a:p>
        </p:txBody>
      </p:sp>
      <p:sp>
        <p:nvSpPr>
          <p:cNvPr id="2" name="灯片编号占位符 1"/>
          <p:cNvSpPr>
            <a:spLocks noGrp="1"/>
          </p:cNvSpPr>
          <p:nvPr>
            <p:ph type="sldNum" sz="quarter" idx="12"/>
          </p:nvPr>
        </p:nvSpPr>
        <p:spPr>
          <a:xfrm>
            <a:off x="9117330" y="6356350"/>
            <a:ext cx="2743200" cy="365125"/>
          </a:xfrm>
        </p:spPr>
        <p:txBody>
          <a:bodyPr/>
          <a:p>
            <a:r>
              <a:rPr lang="en-US" altLang="zh-CN" smtClean="0"/>
              <a:t>3</a:t>
            </a:r>
            <a:endParaRPr lang="en-US" altLang="zh-CN"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2"/>
          </p:nvPr>
        </p:nvSpPr>
        <p:spPr>
          <a:xfrm>
            <a:off x="9090660" y="6356350"/>
            <a:ext cx="2743200" cy="365125"/>
          </a:xfrm>
        </p:spPr>
        <p:txBody>
          <a:bodyPr/>
          <a:p>
            <a:r>
              <a:rPr lang="en-US" altLang="zh-CN" smtClean="0"/>
              <a:t>4</a:t>
            </a:r>
            <a:endParaRPr lang="en-US" altLang="zh-CN" smtClean="0"/>
          </a:p>
        </p:txBody>
      </p:sp>
      <p:pic>
        <p:nvPicPr>
          <p:cNvPr id="5" name="图片 4"/>
          <p:cNvPicPr>
            <a:picLocks noChangeAspect="1"/>
          </p:cNvPicPr>
          <p:nvPr/>
        </p:nvPicPr>
        <p:blipFill>
          <a:blip r:embed="rId1"/>
          <a:stretch>
            <a:fillRect/>
          </a:stretch>
        </p:blipFill>
        <p:spPr>
          <a:xfrm>
            <a:off x="-9525" y="-8890"/>
            <a:ext cx="12192635" cy="892175"/>
          </a:xfrm>
          <a:prstGeom prst="rect">
            <a:avLst/>
          </a:prstGeom>
        </p:spPr>
      </p:pic>
      <p:sp>
        <p:nvSpPr>
          <p:cNvPr id="8" name="Rectangle 2"/>
          <p:cNvSpPr>
            <a:spLocks noChangeArrowheads="1"/>
          </p:cNvSpPr>
          <p:nvPr/>
        </p:nvSpPr>
        <p:spPr bwMode="auto">
          <a:xfrm>
            <a:off x="87630" y="162560"/>
            <a:ext cx="10915015" cy="584835"/>
          </a:xfrm>
          <a:prstGeom prst="rect">
            <a:avLst/>
          </a:prstGeom>
          <a:noFill/>
          <a:ln w="9525">
            <a:noFill/>
            <a:miter lim="800000"/>
          </a:ln>
        </p:spPr>
        <p:txBody>
          <a:bodyPr anchor="b"/>
          <a:p>
            <a:pPr eaLnBrk="0" hangingPunct="0"/>
            <a:r>
              <a:rPr lang="zh-CN" altLang="en-US" sz="2800" b="1" dirty="0" smtClean="0">
                <a:solidFill>
                  <a:schemeClr val="bg1"/>
                </a:solidFill>
                <a:latin typeface="黑体" panose="02010609060101010101" charset="-122"/>
                <a:ea typeface="黑体" panose="02010609060101010101" charset="-122"/>
                <a:sym typeface="+mn-ea"/>
              </a:rPr>
              <a:t>三、</a:t>
            </a:r>
            <a:r>
              <a:rPr lang="zh-CN" altLang="en-US" sz="2800" b="1" dirty="0">
                <a:solidFill>
                  <a:schemeClr val="bg1"/>
                </a:solidFill>
                <a:latin typeface="黑体" panose="02010609060101010101" charset="-122"/>
                <a:ea typeface="黑体" panose="02010609060101010101" charset="-122"/>
                <a:sym typeface="+mn-ea"/>
              </a:rPr>
              <a:t>项目内容</a:t>
            </a:r>
            <a:r>
              <a:rPr lang="en-US" altLang="zh-CN" sz="2800" b="1" dirty="0">
                <a:solidFill>
                  <a:schemeClr val="bg1"/>
                </a:solidFill>
                <a:latin typeface="黑体" panose="02010609060101010101" charset="-122"/>
                <a:ea typeface="黑体" panose="02010609060101010101" charset="-122"/>
                <a:sym typeface="+mn-ea"/>
              </a:rPr>
              <a:t>-</a:t>
            </a:r>
            <a:r>
              <a:rPr lang="zh-CN" altLang="en-US" sz="2800" b="1" dirty="0">
                <a:solidFill>
                  <a:schemeClr val="bg1"/>
                </a:solidFill>
                <a:latin typeface="黑体" panose="02010609060101010101" charset="-122"/>
                <a:ea typeface="黑体" panose="02010609060101010101" charset="-122"/>
                <a:sym typeface="+mn-ea"/>
              </a:rPr>
              <a:t>IT费用构成依据</a:t>
            </a:r>
            <a:r>
              <a:rPr lang="en-US" altLang="zh-CN" sz="2800" b="1" dirty="0">
                <a:solidFill>
                  <a:schemeClr val="bg1"/>
                </a:solidFill>
                <a:latin typeface="黑体" panose="02010609060101010101" charset="-122"/>
                <a:ea typeface="黑体" panose="02010609060101010101" charset="-122"/>
                <a:sym typeface="+mn-ea"/>
              </a:rPr>
              <a:t>-</a:t>
            </a:r>
            <a:r>
              <a:rPr lang="zh-CN" altLang="en-US" sz="2800" b="1" dirty="0">
                <a:solidFill>
                  <a:schemeClr val="bg1"/>
                </a:solidFill>
                <a:latin typeface="黑体" panose="02010609060101010101" charset="-122"/>
                <a:ea typeface="黑体" panose="02010609060101010101" charset="-122"/>
                <a:sym typeface="+mn-ea"/>
              </a:rPr>
              <a:t>甄选内容与结果（补充说明）</a:t>
            </a:r>
            <a:endParaRPr lang="zh-CN" altLang="en-US" sz="2800" b="1" dirty="0">
              <a:solidFill>
                <a:schemeClr val="bg1"/>
              </a:solidFill>
              <a:latin typeface="黑体" panose="02010609060101010101" charset="-122"/>
              <a:ea typeface="黑体" panose="02010609060101010101" charset="-122"/>
            </a:endParaRPr>
          </a:p>
        </p:txBody>
      </p:sp>
      <p:sp>
        <p:nvSpPr>
          <p:cNvPr id="32" name="文本框 31"/>
          <p:cNvSpPr txBox="1"/>
          <p:nvPr/>
        </p:nvSpPr>
        <p:spPr>
          <a:xfrm>
            <a:off x="66040" y="966470"/>
            <a:ext cx="11101070" cy="829945"/>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rtlCol="0">
            <a:spAutoFit/>
          </a:bodyPr>
          <a:p>
            <a:pPr algn="ctr"/>
            <a:r>
              <a:rPr lang="en-US" altLang="zh-CN" sz="1800" b="1" dirty="0">
                <a:latin typeface="微软雅黑" panose="020B0503020204020204" charset="-122"/>
                <a:ea typeface="微软雅黑" panose="020B0503020204020204" charset="-122"/>
                <a:sym typeface="+mn-ea"/>
              </a:rPr>
              <a:t>              </a:t>
            </a:r>
            <a:r>
              <a:rPr lang="zh-CN" altLang="en-US" sz="1800" b="1" dirty="0">
                <a:latin typeface="微软雅黑" panose="020B0503020204020204" charset="-122"/>
                <a:ea typeface="微软雅黑" panose="020B0503020204020204" charset="-122"/>
                <a:sym typeface="+mn-ea"/>
              </a:rPr>
              <a:t>标包</a:t>
            </a:r>
            <a:r>
              <a:rPr lang="en-US" altLang="zh-CN" sz="1800" b="1" dirty="0">
                <a:latin typeface="微软雅黑" panose="020B0503020204020204" charset="-122"/>
                <a:ea typeface="微软雅黑" panose="020B0503020204020204" charset="-122"/>
                <a:sym typeface="+mn-ea"/>
              </a:rPr>
              <a:t>X</a:t>
            </a:r>
            <a:r>
              <a:rPr lang="zh-CN" altLang="en-US" sz="1800" b="1" dirty="0">
                <a:latin typeface="微软雅黑" panose="020B0503020204020204" charset="-122"/>
                <a:ea typeface="微软雅黑" panose="020B0503020204020204" charset="-122"/>
                <a:sym typeface="+mn-ea"/>
              </a:rPr>
              <a:t>：</a:t>
            </a:r>
            <a:r>
              <a:rPr lang="zh-CN" altLang="en-US" b="1" dirty="0">
                <a:latin typeface="微软雅黑" panose="020B0503020204020204" charset="-122"/>
                <a:ea typeface="微软雅黑" panose="020B0503020204020204" charset="-122"/>
                <a:sym typeface="+mn-ea"/>
              </a:rPr>
              <a:t>甄选商务部分得分的情况说明</a:t>
            </a:r>
            <a:endParaRPr lang="zh-CN" altLang="en-US" b="1" dirty="0">
              <a:latin typeface="微软雅黑" panose="020B0503020204020204" charset="-122"/>
              <a:ea typeface="微软雅黑" panose="020B0503020204020204" charset="-122"/>
              <a:sym typeface="+mn-ea"/>
            </a:endParaRPr>
          </a:p>
          <a:p>
            <a:pPr algn="l"/>
            <a:r>
              <a:rPr lang="zh-CN" altLang="en-US" sz="1600" dirty="0">
                <a:latin typeface="微软雅黑" panose="020B0503020204020204" charset="-122"/>
                <a:ea typeface="微软雅黑" panose="020B0503020204020204" charset="-122"/>
                <a:sym typeface="+mn-ea"/>
              </a:rPr>
              <a:t> </a:t>
            </a:r>
            <a:endParaRPr lang="zh-CN" altLang="en-US" sz="1600" dirty="0">
              <a:latin typeface="微软雅黑" panose="020B0503020204020204" charset="-122"/>
              <a:ea typeface="微软雅黑" panose="020B0503020204020204" charset="-122"/>
              <a:sym typeface="+mn-ea"/>
            </a:endParaRPr>
          </a:p>
          <a:p>
            <a:pPr algn="l"/>
            <a:r>
              <a:rPr lang="en-US" altLang="zh-CN" sz="1400" dirty="0">
                <a:latin typeface="微软雅黑" panose="020B0503020204020204" charset="-122"/>
                <a:ea typeface="微软雅黑" panose="020B0503020204020204" charset="-122"/>
              </a:rPr>
              <a:t>      </a:t>
            </a:r>
            <a:r>
              <a:rPr lang="zh-CN" altLang="en-US" sz="1400" dirty="0">
                <a:latin typeface="微软雅黑" panose="020B0503020204020204" charset="-122"/>
                <a:ea typeface="微软雅黑" panose="020B0503020204020204" charset="-122"/>
              </a:rPr>
              <a:t>甄选方案依</a:t>
            </a:r>
            <a:r>
              <a:rPr lang="zh-CN" altLang="en-US" sz="1400" dirty="0">
                <a:latin typeface="微软雅黑" panose="020B0503020204020204" charset="-122"/>
                <a:ea typeface="微软雅黑" panose="020B0503020204020204" charset="-122"/>
                <a:sym typeface="+mn-ea"/>
              </a:rPr>
              <a:t>据客户方招标文件及实际需求制定，与客户方招标文件需求一致：</a:t>
            </a:r>
            <a:endParaRPr lang="zh-CN" altLang="en-US" sz="1400" dirty="0">
              <a:latin typeface="微软雅黑" panose="020B0503020204020204" charset="-122"/>
              <a:ea typeface="微软雅黑" panose="020B0503020204020204" charset="-122"/>
              <a:sym typeface="+mn-ea"/>
            </a:endParaRPr>
          </a:p>
        </p:txBody>
      </p:sp>
      <p:sp>
        <p:nvSpPr>
          <p:cNvPr id="6" name="文本框 5"/>
          <p:cNvSpPr txBox="1"/>
          <p:nvPr/>
        </p:nvSpPr>
        <p:spPr>
          <a:xfrm>
            <a:off x="452755" y="4563745"/>
            <a:ext cx="11391900" cy="1060450"/>
          </a:xfrm>
          <a:prstGeom prst="rect">
            <a:avLst/>
          </a:prstGeom>
          <a:noFill/>
        </p:spPr>
        <p:txBody>
          <a:bodyPr wrap="square" rtlCol="0" anchor="t">
            <a:spAutoFit/>
          </a:bodyPr>
          <a:p>
            <a:pPr algn="just">
              <a:lnSpc>
                <a:spcPct val="150000"/>
              </a:lnSpc>
            </a:pPr>
            <a:r>
              <a:rPr lang="zh-CN" altLang="en-US" sz="1400" dirty="0">
                <a:solidFill>
                  <a:schemeClr val="dk1"/>
                </a:solidFill>
                <a:latin typeface="微软雅黑" panose="020B0503020204020204" charset="-122"/>
                <a:ea typeface="微软雅黑" panose="020B0503020204020204" charset="-122"/>
                <a:sym typeface="+mn-ea"/>
              </a:rPr>
              <a:t>特殊说明：</a:t>
            </a:r>
            <a:endParaRPr lang="zh-CN" altLang="en-US" sz="1400" dirty="0">
              <a:solidFill>
                <a:schemeClr val="dk1"/>
              </a:solidFill>
              <a:latin typeface="微软雅黑" panose="020B0503020204020204" charset="-122"/>
              <a:ea typeface="微软雅黑" panose="020B0503020204020204" charset="-122"/>
            </a:endParaRPr>
          </a:p>
          <a:p>
            <a:pPr algn="just">
              <a:lnSpc>
                <a:spcPct val="150000"/>
              </a:lnSpc>
            </a:pPr>
            <a:r>
              <a:rPr lang="zh-CN" altLang="en-US" sz="1400" dirty="0">
                <a:solidFill>
                  <a:schemeClr val="dk1"/>
                </a:solidFill>
                <a:latin typeface="微软雅黑" panose="020B0503020204020204" charset="-122"/>
                <a:ea typeface="微软雅黑" panose="020B0503020204020204" charset="-122"/>
              </a:rPr>
              <a:t>1.</a:t>
            </a:r>
            <a:endParaRPr lang="zh-CN" altLang="en-US" sz="1400" dirty="0">
              <a:solidFill>
                <a:schemeClr val="dk1"/>
              </a:solidFill>
              <a:latin typeface="微软雅黑" panose="020B0503020204020204" charset="-122"/>
              <a:ea typeface="微软雅黑" panose="020B0503020204020204" charset="-122"/>
            </a:endParaRPr>
          </a:p>
          <a:p>
            <a:pPr algn="just">
              <a:lnSpc>
                <a:spcPct val="150000"/>
              </a:lnSpc>
            </a:pPr>
            <a:r>
              <a:rPr lang="en-US" altLang="zh-CN" sz="1400" dirty="0">
                <a:solidFill>
                  <a:schemeClr val="dk1"/>
                </a:solidFill>
                <a:latin typeface="微软雅黑" panose="020B0503020204020204" charset="-122"/>
                <a:ea typeface="微软雅黑" panose="020B0503020204020204" charset="-122"/>
                <a:sym typeface="+mn-ea"/>
              </a:rPr>
              <a:t>2.</a:t>
            </a:r>
            <a:endParaRPr lang="zh-CN" altLang="en-US" sz="1400" dirty="0">
              <a:solidFill>
                <a:schemeClr val="dk1"/>
              </a:solidFill>
              <a:latin typeface="微软雅黑" panose="020B0503020204020204" charset="-122"/>
              <a:ea typeface="微软雅黑" panose="020B0503020204020204" charset="-122"/>
            </a:endParaRPr>
          </a:p>
        </p:txBody>
      </p:sp>
      <p:graphicFrame>
        <p:nvGraphicFramePr>
          <p:cNvPr id="7" name="表格 6"/>
          <p:cNvGraphicFramePr/>
          <p:nvPr>
            <p:custDataLst>
              <p:tags r:id="rId2"/>
            </p:custDataLst>
          </p:nvPr>
        </p:nvGraphicFramePr>
        <p:xfrm>
          <a:off x="452755" y="1838960"/>
          <a:ext cx="11391900" cy="2560955"/>
        </p:xfrm>
        <a:graphic>
          <a:graphicData uri="http://schemas.openxmlformats.org/drawingml/2006/table">
            <a:tbl>
              <a:tblPr firstRow="1" bandRow="1">
                <a:tableStyleId>{5C22544A-7EE6-4342-B048-85BDC9FD1C3A}</a:tableStyleId>
              </a:tblPr>
              <a:tblGrid>
                <a:gridCol w="815975"/>
                <a:gridCol w="996950"/>
                <a:gridCol w="6735445"/>
                <a:gridCol w="995680"/>
                <a:gridCol w="935355"/>
                <a:gridCol w="912495"/>
              </a:tblGrid>
              <a:tr h="286385">
                <a:tc gridSpan="3">
                  <a:txBody>
                    <a:bodyPr/>
                    <a:p>
                      <a:pPr indent="0" algn="ctr">
                        <a:buNone/>
                      </a:pPr>
                      <a:r>
                        <a:rPr lang="zh-CN" sz="1200" b="0">
                          <a:solidFill>
                            <a:srgbClr val="000000"/>
                          </a:solidFill>
                          <a:latin typeface="微软雅黑" panose="020B0503020204020204" charset="-122"/>
                          <a:ea typeface="微软雅黑" panose="020B0503020204020204" charset="-122"/>
                        </a:rPr>
                        <a:t>评分项</a:t>
                      </a:r>
                      <a:endParaRPr lang="zh-CN"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a:txBody>
                    <a:bodyPr/>
                    <a:p>
                      <a:pPr indent="0">
                        <a:buNone/>
                      </a:pPr>
                      <a:r>
                        <a:rPr lang="en-US" altLang="zh-CN" sz="1200" b="0">
                          <a:solidFill>
                            <a:srgbClr val="000000"/>
                          </a:solidFill>
                          <a:latin typeface="微软雅黑" panose="020B0503020204020204" charset="-122"/>
                          <a:ea typeface="微软雅黑" panose="020B0503020204020204" charset="-122"/>
                          <a:cs typeface="微软雅黑" panose="020B0503020204020204" charset="-122"/>
                        </a:rPr>
                        <a:t>XX</a:t>
                      </a:r>
                      <a:r>
                        <a:rPr lang="zh-CN" sz="1200" b="0">
                          <a:solidFill>
                            <a:srgbClr val="000000"/>
                          </a:solidFill>
                          <a:latin typeface="微软雅黑" panose="020B0503020204020204" charset="-122"/>
                          <a:ea typeface="微软雅黑" panose="020B0503020204020204" charset="-122"/>
                          <a:cs typeface="微软雅黑" panose="020B0503020204020204" charset="-122"/>
                        </a:rPr>
                        <a:t>公司得分</a:t>
                      </a:r>
                      <a:endParaRPr lang="zh-CN" altLang="en-US" sz="1200" b="0">
                        <a:solidFill>
                          <a:srgbClr val="000000"/>
                        </a:solidFill>
                        <a:latin typeface="微软雅黑" panose="020B0503020204020204" charset="-122"/>
                        <a:ea typeface="微软雅黑" panose="020B0503020204020204" charset="-122"/>
                        <a:cs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altLang="zh-CN" sz="1200" b="0">
                          <a:solidFill>
                            <a:srgbClr val="000000"/>
                          </a:solidFill>
                          <a:latin typeface="微软雅黑" panose="020B0503020204020204" charset="-122"/>
                          <a:ea typeface="微软雅黑" panose="020B0503020204020204" charset="-122"/>
                          <a:cs typeface="微软雅黑" panose="020B0503020204020204" charset="-122"/>
                        </a:rPr>
                        <a:t>XX</a:t>
                      </a:r>
                      <a:r>
                        <a:rPr lang="zh-CN" sz="1200" b="0">
                          <a:solidFill>
                            <a:srgbClr val="000000"/>
                          </a:solidFill>
                          <a:latin typeface="微软雅黑" panose="020B0503020204020204" charset="-122"/>
                          <a:ea typeface="微软雅黑" panose="020B0503020204020204" charset="-122"/>
                          <a:cs typeface="微软雅黑" panose="020B0503020204020204" charset="-122"/>
                        </a:rPr>
                        <a:t>公司</a:t>
                      </a:r>
                      <a:r>
                        <a:rPr lang="zh-CN" sz="1200" b="0">
                          <a:solidFill>
                            <a:srgbClr val="000000"/>
                          </a:solidFill>
                          <a:latin typeface="微软雅黑" panose="020B0503020204020204" charset="-122"/>
                          <a:ea typeface="微软雅黑" panose="020B0503020204020204" charset="-122"/>
                          <a:cs typeface="微软雅黑" panose="020B0503020204020204" charset="-122"/>
                          <a:sym typeface="+mn-ea"/>
                        </a:rPr>
                        <a:t>得分</a:t>
                      </a:r>
                      <a:endParaRPr lang="zh-CN" altLang="en-US" sz="1200" b="0">
                        <a:solidFill>
                          <a:srgbClr val="000000"/>
                        </a:solidFill>
                        <a:latin typeface="微软雅黑" panose="020B0503020204020204" charset="-122"/>
                        <a:ea typeface="微软雅黑" panose="020B0503020204020204" charset="-122"/>
                        <a:cs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altLang="zh-CN" sz="1200" b="0">
                          <a:solidFill>
                            <a:srgbClr val="000000"/>
                          </a:solidFill>
                          <a:latin typeface="微软雅黑" panose="020B0503020204020204" charset="-122"/>
                          <a:ea typeface="微软雅黑" panose="020B0503020204020204" charset="-122"/>
                          <a:cs typeface="微软雅黑" panose="020B0503020204020204" charset="-122"/>
                        </a:rPr>
                        <a:t>XX</a:t>
                      </a:r>
                      <a:r>
                        <a:rPr lang="zh-CN" sz="1200" b="0">
                          <a:solidFill>
                            <a:srgbClr val="000000"/>
                          </a:solidFill>
                          <a:latin typeface="微软雅黑" panose="020B0503020204020204" charset="-122"/>
                          <a:ea typeface="微软雅黑" panose="020B0503020204020204" charset="-122"/>
                          <a:cs typeface="微软雅黑" panose="020B0503020204020204" charset="-122"/>
                        </a:rPr>
                        <a:t>公司</a:t>
                      </a:r>
                      <a:r>
                        <a:rPr lang="zh-CN" sz="1200" b="0">
                          <a:solidFill>
                            <a:srgbClr val="000000"/>
                          </a:solidFill>
                          <a:latin typeface="微软雅黑" panose="020B0503020204020204" charset="-122"/>
                          <a:ea typeface="微软雅黑" panose="020B0503020204020204" charset="-122"/>
                          <a:cs typeface="微软雅黑" panose="020B0503020204020204" charset="-122"/>
                          <a:sym typeface="+mn-ea"/>
                        </a:rPr>
                        <a:t>得分</a:t>
                      </a:r>
                      <a:endParaRPr lang="zh-CN" altLang="en-US" sz="1200" b="0">
                        <a:solidFill>
                          <a:srgbClr val="000000"/>
                        </a:solidFill>
                        <a:latin typeface="微软雅黑" panose="020B0503020204020204" charset="-122"/>
                        <a:ea typeface="微软雅黑" panose="020B0503020204020204" charset="-122"/>
                        <a:cs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87655">
                <a:tc rowSpan="5">
                  <a:txBody>
                    <a:bodyPr/>
                    <a:p>
                      <a:pPr indent="0">
                        <a:buNone/>
                      </a:pPr>
                      <a:r>
                        <a:rPr lang="zh-CN" sz="1200" b="0">
                          <a:solidFill>
                            <a:srgbClr val="000000"/>
                          </a:solidFill>
                          <a:latin typeface="微软雅黑" panose="020B0503020204020204" charset="-122"/>
                          <a:ea typeface="微软雅黑" panose="020B0503020204020204" charset="-122"/>
                          <a:cs typeface="微软雅黑" panose="020B0503020204020204" charset="-122"/>
                        </a:rPr>
                        <a:t>商务部分（</a:t>
                      </a:r>
                      <a:r>
                        <a:rPr lang="en-US" altLang="zh-CN" sz="1200" b="0">
                          <a:solidFill>
                            <a:srgbClr val="000000"/>
                          </a:solidFill>
                          <a:latin typeface="微软雅黑" panose="020B0503020204020204" charset="-122"/>
                          <a:ea typeface="微软雅黑" panose="020B0503020204020204" charset="-122"/>
                          <a:cs typeface="微软雅黑" panose="020B0503020204020204" charset="-122"/>
                        </a:rPr>
                        <a:t>X</a:t>
                      </a:r>
                      <a:r>
                        <a:rPr lang="zh-CN" sz="1200" b="0">
                          <a:solidFill>
                            <a:srgbClr val="000000"/>
                          </a:solidFill>
                          <a:latin typeface="微软雅黑" panose="020B0503020204020204" charset="-122"/>
                          <a:ea typeface="微软雅黑" panose="020B0503020204020204" charset="-122"/>
                          <a:cs typeface="微软雅黑" panose="020B0503020204020204" charset="-122"/>
                        </a:rPr>
                        <a:t>%）</a:t>
                      </a:r>
                      <a:endParaRPr lang="zh-CN" altLang="en-US" sz="1200" b="0">
                        <a:solidFill>
                          <a:srgbClr val="000000"/>
                        </a:solidFill>
                        <a:latin typeface="微软雅黑" panose="020B0503020204020204" charset="-122"/>
                        <a:ea typeface="微软雅黑" panose="020B0503020204020204" charset="-122"/>
                        <a:cs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endParaRPr lang="zh-CN"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endParaRPr lang="en-US"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1803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indent="0">
                        <a:buNone/>
                      </a:pPr>
                      <a:endParaRPr lang="zh-CN"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endParaRPr lang="en-US"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1803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indent="0">
                        <a:buNone/>
                      </a:pPr>
                      <a:endParaRPr lang="zh-CN"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endParaRPr lang="en-US" altLang="en-US" sz="1200" b="0">
                        <a:solidFill>
                          <a:srgbClr val="FF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1803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indent="0">
                        <a:buNone/>
                      </a:pPr>
                      <a:endParaRPr lang="zh-CN"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endParaRPr lang="zh-CN"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98234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indent="0">
                        <a:buNone/>
                      </a:pPr>
                      <a:endParaRPr lang="zh-CN"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endParaRPr lang="en-US" altLang="en-US" sz="1200" b="0">
                        <a:solidFill>
                          <a:srgbClr val="FF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80670">
                <a:tc>
                  <a:txBody>
                    <a:bodyPr/>
                    <a:p>
                      <a:pPr indent="0" algn="ctr">
                        <a:buNone/>
                      </a:pPr>
                      <a:r>
                        <a:rPr lang="zh-CN" altLang="en-US" sz="1200" b="0">
                          <a:solidFill>
                            <a:srgbClr val="000000"/>
                          </a:solidFill>
                          <a:latin typeface="微软雅黑" panose="020B0503020204020204" charset="-122"/>
                          <a:ea typeface="微软雅黑" panose="020B0503020204020204" charset="-122"/>
                        </a:rPr>
                        <a:t>合计</a:t>
                      </a:r>
                      <a:endParaRPr lang="zh-CN" altLang="en-US" sz="1200" b="0">
                        <a:solidFill>
                          <a:srgbClr val="000000"/>
                        </a:solidFill>
                        <a:latin typeface="微软雅黑" panose="020B0503020204020204" charset="-122"/>
                        <a:ea typeface="微软雅黑" panose="020B0503020204020204" charset="-122"/>
                      </a:endParaRPr>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noFill/>
                  </a:tcPr>
                </a:tc>
                <a:tc>
                  <a:txBody>
                    <a:bodyPr/>
                    <a:p>
                      <a:pPr indent="0" algn="ctr">
                        <a:buNone/>
                      </a:pPr>
                      <a:endParaRPr lang="zh-CN"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200" b="0">
                        <a:solidFill>
                          <a:srgbClr val="FF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zh-CN"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9" name="文本框 8"/>
          <p:cNvSpPr txBox="1"/>
          <p:nvPr/>
        </p:nvSpPr>
        <p:spPr>
          <a:xfrm>
            <a:off x="4059555" y="5715000"/>
            <a:ext cx="4064000" cy="368300"/>
          </a:xfrm>
          <a:prstGeom prst="rect">
            <a:avLst/>
          </a:prstGeom>
          <a:noFill/>
        </p:spPr>
        <p:txBody>
          <a:bodyPr wrap="square" rtlCol="0">
            <a:spAutoFit/>
          </a:bodyPr>
          <a:p>
            <a:r>
              <a:rPr lang="zh-CN" altLang="en-US">
                <a:solidFill>
                  <a:srgbClr val="FF0000"/>
                </a:solidFill>
              </a:rPr>
              <a:t>商务部分得分为</a:t>
            </a:r>
            <a:r>
              <a:rPr lang="en-US" altLang="zh-CN">
                <a:solidFill>
                  <a:srgbClr val="FF0000"/>
                </a:solidFill>
              </a:rPr>
              <a:t>0</a:t>
            </a:r>
            <a:r>
              <a:rPr lang="zh-CN" altLang="en-US">
                <a:solidFill>
                  <a:srgbClr val="FF0000"/>
                </a:solidFill>
              </a:rPr>
              <a:t>的，需填写该页。</a:t>
            </a:r>
            <a:endParaRPr lang="zh-CN" altLang="en-US">
              <a:solidFill>
                <a:srgbClr val="FF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635" y="-8890"/>
            <a:ext cx="12192635" cy="892175"/>
          </a:xfrm>
          <a:prstGeom prst="rect">
            <a:avLst/>
          </a:prstGeom>
        </p:spPr>
      </p:pic>
      <p:sp>
        <p:nvSpPr>
          <p:cNvPr id="7" name="Rectangle 2"/>
          <p:cNvSpPr>
            <a:spLocks noChangeArrowheads="1"/>
          </p:cNvSpPr>
          <p:nvPr/>
        </p:nvSpPr>
        <p:spPr bwMode="auto">
          <a:xfrm>
            <a:off x="158750" y="144780"/>
            <a:ext cx="7043738" cy="584697"/>
          </a:xfrm>
          <a:prstGeom prst="rect">
            <a:avLst/>
          </a:prstGeom>
          <a:noFill/>
          <a:ln w="9525">
            <a:noFill/>
            <a:miter lim="800000"/>
          </a:ln>
        </p:spPr>
        <p:txBody>
          <a:bodyPr anchor="b"/>
          <a:lstStyle/>
          <a:p>
            <a:pPr eaLnBrk="0" hangingPunct="0"/>
            <a:r>
              <a:rPr lang="zh-CN" altLang="en-US" sz="2800" b="1" dirty="0" smtClean="0">
                <a:solidFill>
                  <a:schemeClr val="bg1"/>
                </a:solidFill>
                <a:latin typeface="黑体" panose="02010609060101010101" charset="-122"/>
                <a:ea typeface="黑体" panose="02010609060101010101" charset="-122"/>
              </a:rPr>
              <a:t>四、</a:t>
            </a:r>
            <a:r>
              <a:rPr lang="zh-CN" altLang="en-US" sz="2800" b="1" dirty="0">
                <a:solidFill>
                  <a:schemeClr val="bg1"/>
                </a:solidFill>
                <a:latin typeface="黑体" panose="02010609060101010101" charset="-122"/>
                <a:ea typeface="黑体" panose="02010609060101010101" charset="-122"/>
              </a:rPr>
              <a:t>项目内容</a:t>
            </a:r>
            <a:r>
              <a:rPr lang="en-US" altLang="zh-CN" sz="2800" b="1" dirty="0" smtClean="0">
                <a:solidFill>
                  <a:schemeClr val="bg1"/>
                </a:solidFill>
                <a:latin typeface="黑体" panose="02010609060101010101" charset="-122"/>
                <a:ea typeface="黑体" panose="02010609060101010101" charset="-122"/>
              </a:rPr>
              <a:t>-</a:t>
            </a:r>
            <a:r>
              <a:rPr lang="zh-CN" altLang="en-US" sz="2800" b="1" dirty="0" smtClean="0">
                <a:solidFill>
                  <a:schemeClr val="bg1"/>
                </a:solidFill>
                <a:latin typeface="黑体" panose="02010609060101010101" charset="-122"/>
                <a:ea typeface="黑体" panose="02010609060101010101" charset="-122"/>
              </a:rPr>
              <a:t>项目</a:t>
            </a:r>
            <a:r>
              <a:rPr lang="en-US" altLang="zh-CN" sz="2800" b="1" dirty="0" smtClean="0">
                <a:solidFill>
                  <a:schemeClr val="bg1"/>
                </a:solidFill>
                <a:latin typeface="黑体" panose="02010609060101010101" charset="-122"/>
                <a:ea typeface="黑体" panose="02010609060101010101" charset="-122"/>
              </a:rPr>
              <a:t>IT</a:t>
            </a:r>
            <a:r>
              <a:rPr lang="zh-CN" altLang="en-US" sz="2800" b="1" dirty="0" smtClean="0">
                <a:solidFill>
                  <a:schemeClr val="bg1"/>
                </a:solidFill>
                <a:latin typeface="黑体" panose="02010609060101010101" charset="-122"/>
                <a:ea typeface="黑体" panose="02010609060101010101" charset="-122"/>
              </a:rPr>
              <a:t>部分构成</a:t>
            </a:r>
            <a:endParaRPr lang="zh-CN" altLang="en-US" sz="2800" b="1" dirty="0">
              <a:solidFill>
                <a:schemeClr val="bg1"/>
              </a:solidFill>
              <a:latin typeface="黑体" panose="02010609060101010101" charset="-122"/>
              <a:ea typeface="黑体" panose="02010609060101010101" charset="-122"/>
            </a:endParaRPr>
          </a:p>
        </p:txBody>
      </p:sp>
      <p:sp>
        <p:nvSpPr>
          <p:cNvPr id="35" name="灯片编号占位符 5"/>
          <p:cNvSpPr>
            <a:spLocks noGrp="1"/>
          </p:cNvSpPr>
          <p:nvPr>
            <p:ph type="sldNum" sz="quarter" idx="12"/>
          </p:nvPr>
        </p:nvSpPr>
        <p:spPr>
          <a:xfrm>
            <a:off x="9077638" y="6235980"/>
            <a:ext cx="2743200" cy="365125"/>
          </a:xfrm>
        </p:spPr>
        <p:txBody>
          <a:bodyPr/>
          <a:lstStyle/>
          <a:p>
            <a:r>
              <a:rPr lang="en-US" altLang="zh-CN"/>
              <a:t>5</a:t>
            </a:r>
            <a:endParaRPr lang="en-US" altLang="zh-CN"/>
          </a:p>
        </p:txBody>
      </p:sp>
      <p:graphicFrame>
        <p:nvGraphicFramePr>
          <p:cNvPr id="2" name="表格 1"/>
          <p:cNvGraphicFramePr/>
          <p:nvPr>
            <p:custDataLst>
              <p:tags r:id="rId2"/>
            </p:custDataLst>
          </p:nvPr>
        </p:nvGraphicFramePr>
        <p:xfrm>
          <a:off x="887730" y="1092200"/>
          <a:ext cx="10322560" cy="4039235"/>
        </p:xfrm>
        <a:graphic>
          <a:graphicData uri="http://schemas.openxmlformats.org/drawingml/2006/table">
            <a:tbl>
              <a:tblPr/>
              <a:tblGrid>
                <a:gridCol w="605155"/>
                <a:gridCol w="868680"/>
                <a:gridCol w="4142105"/>
                <a:gridCol w="1525270"/>
                <a:gridCol w="1457325"/>
                <a:gridCol w="615950"/>
                <a:gridCol w="1108075"/>
              </a:tblGrid>
              <a:tr h="265430">
                <a:tc>
                  <a:txBody>
                    <a:bodyPr/>
                    <a:p>
                      <a:pPr indent="0" algn="ctr">
                        <a:buNone/>
                      </a:pPr>
                      <a:endParaRPr lang="zh-CN" altLang="en-US" sz="1200" b="1">
                        <a:solidFill>
                          <a:schemeClr val="bg1"/>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1"/>
                    </a:solidFill>
                  </a:tcPr>
                </a:tc>
                <a:tc>
                  <a:txBody>
                    <a:bodyPr/>
                    <a:p>
                      <a:pPr indent="0" algn="ctr">
                        <a:buNone/>
                      </a:pPr>
                      <a:r>
                        <a:rPr lang="zh-CN" sz="1200" b="1">
                          <a:solidFill>
                            <a:schemeClr val="bg1"/>
                          </a:solidFill>
                          <a:latin typeface="微软雅黑" panose="020B0503020204020204" charset="-122"/>
                          <a:ea typeface="微软雅黑" panose="020B0503020204020204" charset="-122"/>
                        </a:rPr>
                        <a:t>类型</a:t>
                      </a:r>
                      <a:endParaRPr lang="zh-CN" altLang="en-US" sz="1200" b="1">
                        <a:solidFill>
                          <a:schemeClr val="bg1"/>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1"/>
                    </a:solidFill>
                  </a:tcPr>
                </a:tc>
                <a:tc>
                  <a:txBody>
                    <a:bodyPr/>
                    <a:p>
                      <a:pPr indent="0" algn="ctr">
                        <a:buNone/>
                      </a:pPr>
                      <a:r>
                        <a:rPr lang="zh-CN" sz="1200" b="1">
                          <a:solidFill>
                            <a:schemeClr val="bg1"/>
                          </a:solidFill>
                          <a:latin typeface="微软雅黑" panose="020B0503020204020204" charset="-122"/>
                          <a:ea typeface="微软雅黑" panose="020B0503020204020204" charset="-122"/>
                        </a:rPr>
                        <a:t>需求内容</a:t>
                      </a:r>
                      <a:endParaRPr lang="zh-CN" altLang="en-US" sz="1200" b="1">
                        <a:solidFill>
                          <a:schemeClr val="bg1"/>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1"/>
                    </a:solidFill>
                  </a:tcPr>
                </a:tc>
                <a:tc>
                  <a:txBody>
                    <a:bodyPr/>
                    <a:p>
                      <a:pPr indent="0" algn="ctr">
                        <a:buNone/>
                      </a:pPr>
                      <a:r>
                        <a:rPr lang="zh-CN" sz="1200" b="1">
                          <a:solidFill>
                            <a:schemeClr val="bg1"/>
                          </a:solidFill>
                          <a:latin typeface="微软雅黑" panose="020B0503020204020204" charset="-122"/>
                          <a:ea typeface="微软雅黑" panose="020B0503020204020204" charset="-122"/>
                          <a:cs typeface="微软雅黑" panose="020B0503020204020204" charset="-122"/>
                        </a:rPr>
                        <a:t>(不含税/元）</a:t>
                      </a:r>
                      <a:endParaRPr lang="zh-CN" altLang="en-US" sz="1200" b="1">
                        <a:solidFill>
                          <a:schemeClr val="bg1"/>
                        </a:solidFill>
                        <a:latin typeface="微软雅黑" panose="020B0503020204020204" charset="-122"/>
                        <a:ea typeface="微软雅黑" panose="020B0503020204020204" charset="-122"/>
                        <a:cs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1"/>
                    </a:solidFill>
                  </a:tcPr>
                </a:tc>
                <a:tc>
                  <a:txBody>
                    <a:bodyPr/>
                    <a:p>
                      <a:pPr indent="0" algn="ctr">
                        <a:buNone/>
                      </a:pPr>
                      <a:r>
                        <a:rPr lang="zh-CN" sz="1200" b="1">
                          <a:solidFill>
                            <a:schemeClr val="bg1"/>
                          </a:solidFill>
                          <a:latin typeface="微软雅黑" panose="020B0503020204020204" charset="-122"/>
                          <a:ea typeface="微软雅黑" panose="020B0503020204020204" charset="-122"/>
                          <a:cs typeface="微软雅黑" panose="020B0503020204020204" charset="-122"/>
                        </a:rPr>
                        <a:t>(含税/元）</a:t>
                      </a:r>
                      <a:endParaRPr lang="zh-CN" altLang="en-US" sz="1200" b="1">
                        <a:solidFill>
                          <a:schemeClr val="bg1"/>
                        </a:solidFill>
                        <a:latin typeface="微软雅黑" panose="020B0503020204020204" charset="-122"/>
                        <a:ea typeface="微软雅黑" panose="020B0503020204020204" charset="-122"/>
                        <a:cs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1"/>
                    </a:solidFill>
                  </a:tcPr>
                </a:tc>
                <a:tc>
                  <a:txBody>
                    <a:bodyPr/>
                    <a:p>
                      <a:pPr indent="0" algn="ctr">
                        <a:buNone/>
                      </a:pPr>
                      <a:r>
                        <a:rPr lang="zh-CN" sz="1200" b="1">
                          <a:solidFill>
                            <a:schemeClr val="bg1"/>
                          </a:solidFill>
                          <a:latin typeface="微软雅黑" panose="020B0503020204020204" charset="-122"/>
                          <a:ea typeface="微软雅黑" panose="020B0503020204020204" charset="-122"/>
                        </a:rPr>
                        <a:t>税率</a:t>
                      </a:r>
                      <a:endParaRPr lang="zh-CN" altLang="en-US" sz="1200" b="1">
                        <a:solidFill>
                          <a:schemeClr val="bg1"/>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1"/>
                    </a:solidFill>
                  </a:tcPr>
                </a:tc>
                <a:tc>
                  <a:txBody>
                    <a:bodyPr/>
                    <a:p>
                      <a:pPr indent="0" algn="ctr">
                        <a:buNone/>
                      </a:pPr>
                      <a:r>
                        <a:rPr lang="zh-CN" sz="1200" b="1">
                          <a:solidFill>
                            <a:schemeClr val="bg1"/>
                          </a:solidFill>
                          <a:latin typeface="微软雅黑" panose="020B0503020204020204" charset="-122"/>
                          <a:ea typeface="微软雅黑" panose="020B0503020204020204" charset="-122"/>
                        </a:rPr>
                        <a:t>列支科目</a:t>
                      </a:r>
                      <a:endParaRPr lang="zh-CN" altLang="en-US" sz="1200" b="1">
                        <a:solidFill>
                          <a:schemeClr val="bg1"/>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1"/>
                    </a:solidFill>
                  </a:tcPr>
                </a:tc>
              </a:tr>
              <a:tr h="458470">
                <a:tc rowSpan="7">
                  <a:txBody>
                    <a:bodyPr/>
                    <a:p>
                      <a:pPr indent="0" algn="ctr">
                        <a:buNone/>
                      </a:pPr>
                      <a:r>
                        <a:rPr lang="zh-CN" altLang="en-US" sz="1200" b="0">
                          <a:solidFill>
                            <a:srgbClr val="000000"/>
                          </a:solidFill>
                          <a:latin typeface="微软雅黑" panose="020B0503020204020204" charset="-122"/>
                          <a:ea typeface="微软雅黑" panose="020B0503020204020204" charset="-122"/>
                          <a:cs typeface="微软雅黑" panose="020B0503020204020204" charset="-122"/>
                        </a:rPr>
                        <a:t>建设</a:t>
                      </a:r>
                      <a:endParaRPr lang="zh-CN" altLang="en-US" sz="1200" b="0">
                        <a:solidFill>
                          <a:srgbClr val="000000"/>
                        </a:solidFill>
                        <a:latin typeface="微软雅黑" panose="020B0503020204020204" charset="-122"/>
                        <a:ea typeface="微软雅黑" panose="020B0503020204020204" charset="-122"/>
                        <a:cs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rowSpan="2">
                  <a:txBody>
                    <a:bodyPr/>
                    <a:p>
                      <a:pPr indent="0" algn="ctr">
                        <a:buNone/>
                      </a:pPr>
                      <a:r>
                        <a:rPr lang="zh-CN" altLang="en-US" sz="1200" b="0">
                          <a:solidFill>
                            <a:srgbClr val="000000"/>
                          </a:solidFill>
                          <a:latin typeface="微软雅黑" panose="020B0503020204020204" charset="-122"/>
                          <a:ea typeface="微软雅黑" panose="020B0503020204020204" charset="-122"/>
                          <a:cs typeface="微软雅黑" panose="020B0503020204020204" charset="-122"/>
                        </a:rPr>
                        <a:t>甄选</a:t>
                      </a:r>
                      <a:endParaRPr lang="en-US" altLang="zh-CN" sz="1200" b="0">
                        <a:solidFill>
                          <a:srgbClr val="000000"/>
                        </a:solidFill>
                        <a:latin typeface="微软雅黑" panose="020B0503020204020204" charset="-122"/>
                        <a:ea typeface="微软雅黑" panose="020B0503020204020204" charset="-122"/>
                        <a:cs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zh-CN"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200" b="0">
                        <a:solidFill>
                          <a:srgbClr val="000000"/>
                        </a:solidFill>
                        <a:latin typeface="微软雅黑" panose="020B0503020204020204" charset="-122"/>
                        <a:ea typeface="微软雅黑" panose="020B0503020204020204" charset="-122"/>
                        <a:cs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200" b="1">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200" b="0">
                          <a:solidFill>
                            <a:srgbClr val="000000"/>
                          </a:solidFill>
                          <a:latin typeface="微软雅黑" panose="020B0503020204020204" charset="-122"/>
                          <a:ea typeface="微软雅黑" panose="020B0503020204020204" charset="-122"/>
                        </a:rPr>
                        <a:t>资本</a:t>
                      </a:r>
                      <a:r>
                        <a:rPr lang="en-US" altLang="zh-CN" sz="1200" b="0">
                          <a:solidFill>
                            <a:srgbClr val="000000"/>
                          </a:solidFill>
                          <a:latin typeface="微软雅黑" panose="020B0503020204020204" charset="-122"/>
                          <a:ea typeface="微软雅黑" panose="020B0503020204020204" charset="-122"/>
                        </a:rPr>
                        <a:t>/</a:t>
                      </a:r>
                      <a:r>
                        <a:rPr lang="zh-CN" altLang="en-US" sz="1200" b="0">
                          <a:solidFill>
                            <a:srgbClr val="000000"/>
                          </a:solidFill>
                          <a:latin typeface="微软雅黑" panose="020B0503020204020204" charset="-122"/>
                          <a:ea typeface="微软雅黑" panose="020B0503020204020204" charset="-122"/>
                        </a:rPr>
                        <a:t>成本</a:t>
                      </a:r>
                      <a:r>
                        <a:rPr lang="zh-CN" sz="1200" b="0">
                          <a:solidFill>
                            <a:srgbClr val="000000"/>
                          </a:solidFill>
                          <a:latin typeface="微软雅黑" panose="020B0503020204020204" charset="-122"/>
                          <a:ea typeface="微软雅黑" panose="020B0503020204020204" charset="-122"/>
                        </a:rPr>
                        <a:t>开支</a:t>
                      </a:r>
                      <a:endParaRPr lang="zh-CN"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459105">
                <a:tc vMerge="1">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vMerge="1">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zh-CN"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200" b="0">
                        <a:solidFill>
                          <a:srgbClr val="000000"/>
                        </a:solidFill>
                        <a:latin typeface="微软雅黑" panose="020B0503020204020204" charset="-122"/>
                        <a:ea typeface="微软雅黑" panose="020B0503020204020204" charset="-122"/>
                        <a:cs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200" b="1">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200" b="0">
                          <a:solidFill>
                            <a:srgbClr val="000000"/>
                          </a:solidFill>
                          <a:latin typeface="微软雅黑" panose="020B0503020204020204" charset="-122"/>
                          <a:ea typeface="微软雅黑" panose="020B0503020204020204" charset="-122"/>
                        </a:rPr>
                        <a:t>资本/成本开支</a:t>
                      </a:r>
                      <a:endParaRPr lang="zh-CN"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459105">
                <a:tc vMerge="1">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rowSpan="2">
                  <a:txBody>
                    <a:bodyPr/>
                    <a:p>
                      <a:pPr indent="0" algn="ctr">
                        <a:buNone/>
                      </a:pPr>
                      <a:r>
                        <a:rPr lang="zh-CN" altLang="en-US" sz="1200" b="0">
                          <a:solidFill>
                            <a:srgbClr val="000000"/>
                          </a:solidFill>
                          <a:latin typeface="微软雅黑" panose="020B0503020204020204" charset="-122"/>
                          <a:ea typeface="微软雅黑" panose="020B0503020204020204" charset="-122"/>
                          <a:cs typeface="微软雅黑" panose="020B0503020204020204" charset="-122"/>
                        </a:rPr>
                        <a:t>集采</a:t>
                      </a:r>
                      <a:endParaRPr lang="zh-CN" altLang="en-US" sz="1200" b="0">
                        <a:solidFill>
                          <a:srgbClr val="000000"/>
                        </a:solidFill>
                        <a:latin typeface="微软雅黑" panose="020B0503020204020204" charset="-122"/>
                        <a:ea typeface="微软雅黑" panose="020B0503020204020204" charset="-122"/>
                        <a:cs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zh-CN" altLang="en-US" sz="1200" b="0">
                        <a:solidFill>
                          <a:srgbClr val="000000"/>
                        </a:solidFill>
                        <a:latin typeface="微软雅黑" panose="020B0503020204020204" charset="-122"/>
                        <a:ea typeface="微软雅黑" panose="020B0503020204020204" charset="-122"/>
                        <a:cs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200" b="1">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200" b="0">
                          <a:solidFill>
                            <a:srgbClr val="000000"/>
                          </a:solidFill>
                          <a:latin typeface="微软雅黑" panose="020B0503020204020204" charset="-122"/>
                          <a:ea typeface="微软雅黑" panose="020B0503020204020204" charset="-122"/>
                        </a:rPr>
                        <a:t>资本/成本开支</a:t>
                      </a:r>
                      <a:endParaRPr lang="zh-CN"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431800">
                <a:tc vMerge="1">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vMerge="1">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zh-CN"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200" b="1">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200" b="0">
                          <a:solidFill>
                            <a:srgbClr val="000000"/>
                          </a:solidFill>
                          <a:latin typeface="微软雅黑" panose="020B0503020204020204" charset="-122"/>
                          <a:ea typeface="微软雅黑" panose="020B0503020204020204" charset="-122"/>
                        </a:rPr>
                        <a:t>资本/成本开支</a:t>
                      </a:r>
                      <a:endParaRPr lang="zh-CN"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413385">
                <a:tc vMerge="1">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altLang="en-US" sz="1200" b="0">
                          <a:solidFill>
                            <a:srgbClr val="000000"/>
                          </a:solidFill>
                          <a:latin typeface="微软雅黑" panose="020B0503020204020204" charset="-122"/>
                          <a:ea typeface="微软雅黑" panose="020B0503020204020204" charset="-122"/>
                          <a:cs typeface="微软雅黑" panose="020B0503020204020204" charset="-122"/>
                        </a:rPr>
                        <a:t>中台能力</a:t>
                      </a:r>
                      <a:endParaRPr lang="zh-CN" altLang="en-US" sz="1200" b="0">
                        <a:solidFill>
                          <a:srgbClr val="000000"/>
                        </a:solidFill>
                        <a:latin typeface="微软雅黑" panose="020B0503020204020204" charset="-122"/>
                        <a:ea typeface="微软雅黑" panose="020B0503020204020204" charset="-122"/>
                        <a:cs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zh-CN"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200" b="1">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200" b="0">
                          <a:solidFill>
                            <a:srgbClr val="000000"/>
                          </a:solidFill>
                          <a:latin typeface="微软雅黑" panose="020B0503020204020204" charset="-122"/>
                          <a:ea typeface="微软雅黑" panose="020B0503020204020204" charset="-122"/>
                        </a:rPr>
                        <a:t>资本/成本开支</a:t>
                      </a:r>
                      <a:endParaRPr lang="zh-CN"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446405">
                <a:tc vMerge="1">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altLang="en-US" sz="1200" b="0">
                          <a:solidFill>
                            <a:srgbClr val="000000"/>
                          </a:solidFill>
                          <a:latin typeface="微软雅黑" panose="020B0503020204020204" charset="-122"/>
                          <a:ea typeface="微软雅黑" panose="020B0503020204020204" charset="-122"/>
                          <a:cs typeface="微软雅黑" panose="020B0503020204020204" charset="-122"/>
                        </a:rPr>
                        <a:t>规费测算</a:t>
                      </a:r>
                      <a:endParaRPr lang="zh-CN" altLang="en-US" sz="1200" b="0">
                        <a:solidFill>
                          <a:srgbClr val="000000"/>
                        </a:solidFill>
                        <a:latin typeface="微软雅黑" panose="020B0503020204020204" charset="-122"/>
                        <a:ea typeface="微软雅黑" panose="020B0503020204020204" charset="-122"/>
                        <a:cs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200" b="0">
                          <a:solidFill>
                            <a:srgbClr val="000000"/>
                          </a:solidFill>
                          <a:latin typeface="微软雅黑" panose="020B0503020204020204" charset="-122"/>
                          <a:ea typeface="微软雅黑" panose="020B0503020204020204" charset="-122"/>
                        </a:rPr>
                        <a:t>勘测设计、安全生产、安全三同步、审计费、预备费</a:t>
                      </a:r>
                      <a:endParaRPr lang="en-US"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a:buClrTx/>
                        <a:buSzTx/>
                        <a:buFontTx/>
                        <a:buNone/>
                      </a:pPr>
                      <a:endParaRPr 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a:buClrTx/>
                        <a:buSzTx/>
                        <a:buFontTx/>
                        <a:buNone/>
                      </a:pPr>
                      <a:endParaRPr 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200" b="1">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200" b="0">
                          <a:solidFill>
                            <a:srgbClr val="000000"/>
                          </a:solidFill>
                          <a:latin typeface="微软雅黑" panose="020B0503020204020204" charset="-122"/>
                          <a:ea typeface="微软雅黑" panose="020B0503020204020204" charset="-122"/>
                        </a:rPr>
                        <a:t>资本/成本开支</a:t>
                      </a:r>
                      <a:endParaRPr lang="zh-CN"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423545">
                <a:tc vMerge="1">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zh-CN" altLang="en-US" sz="1200" b="0">
                        <a:solidFill>
                          <a:srgbClr val="000000"/>
                        </a:solidFill>
                        <a:latin typeface="微软雅黑" panose="020B0503020204020204" charset="-122"/>
                        <a:ea typeface="微软雅黑" panose="020B0503020204020204" charset="-122"/>
                        <a:cs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a:buClrTx/>
                        <a:buSzTx/>
                        <a:buFontTx/>
                        <a:buNone/>
                      </a:pPr>
                      <a:r>
                        <a:rPr lang="en-US" sz="1200" b="1">
                          <a:solidFill>
                            <a:srgbClr val="000000"/>
                          </a:solidFill>
                          <a:latin typeface="微软雅黑" panose="020B0503020204020204" charset="-122"/>
                          <a:ea typeface="微软雅黑" panose="020B0503020204020204" charset="-122"/>
                          <a:sym typeface="+mn-ea"/>
                        </a:rPr>
                        <a:t>小</a:t>
                      </a:r>
                      <a:r>
                        <a:rPr lang="zh-CN" altLang="en-US" sz="1200" b="1">
                          <a:solidFill>
                            <a:srgbClr val="000000"/>
                          </a:solidFill>
                          <a:latin typeface="微软雅黑" panose="020B0503020204020204" charset="-122"/>
                          <a:ea typeface="微软雅黑" panose="020B0503020204020204" charset="-122"/>
                          <a:sym typeface="+mn-ea"/>
                        </a:rPr>
                        <a:t>计</a:t>
                      </a:r>
                      <a:endParaRPr lang="zh-CN" altLang="en-US" sz="1200" b="1">
                        <a:solidFill>
                          <a:srgbClr val="000000"/>
                        </a:solidFill>
                        <a:latin typeface="微软雅黑" panose="020B0503020204020204" charset="-122"/>
                        <a:ea typeface="微软雅黑" panose="020B0503020204020204" charset="-122"/>
                        <a:sym typeface="+mn-ea"/>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a:buClrTx/>
                        <a:buSzTx/>
                        <a:buFontTx/>
                        <a:buNone/>
                      </a:pPr>
                      <a:endParaRPr lang="en-US" altLang="zh-CN" sz="1200" b="0" dirty="0">
                        <a:solidFill>
                          <a:srgbClr val="000000"/>
                        </a:solidFill>
                        <a:latin typeface="微软雅黑" panose="020B0503020204020204" charset="-122"/>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zh-CN" altLang="en-US" sz="1200" b="0" dirty="0">
                        <a:solidFill>
                          <a:srgbClr val="000000"/>
                        </a:solidFill>
                        <a:latin typeface="微软雅黑" panose="020B0503020204020204" charset="-122"/>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2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zh-CN" altLang="en-US" sz="1200" b="0">
                        <a:solidFill>
                          <a:srgbClr val="000000"/>
                        </a:solidFill>
                        <a:latin typeface="Arial" panose="020B0604020202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89255">
                <a:tc>
                  <a:txBody>
                    <a:bodyPr/>
                    <a:p>
                      <a:pPr indent="0" algn="ctr">
                        <a:buNone/>
                      </a:pPr>
                      <a:r>
                        <a:rPr lang="zh-CN" altLang="en-US" sz="1200" b="0">
                          <a:solidFill>
                            <a:srgbClr val="000000"/>
                          </a:solidFill>
                          <a:latin typeface="微软雅黑" panose="020B0503020204020204" charset="-122"/>
                          <a:ea typeface="微软雅黑" panose="020B0503020204020204" charset="-122"/>
                          <a:cs typeface="微软雅黑" panose="020B0503020204020204" charset="-122"/>
                        </a:rPr>
                        <a:t>维护</a:t>
                      </a:r>
                      <a:endParaRPr lang="zh-CN" altLang="en-US" sz="1200" b="0">
                        <a:solidFill>
                          <a:srgbClr val="000000"/>
                        </a:solidFill>
                        <a:latin typeface="微软雅黑" panose="020B0503020204020204" charset="-122"/>
                        <a:ea typeface="微软雅黑" panose="020B0503020204020204" charset="-122"/>
                        <a:cs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altLang="en-US" sz="1200" b="0">
                          <a:solidFill>
                            <a:srgbClr val="000000"/>
                          </a:solidFill>
                          <a:latin typeface="微软雅黑" panose="020B0503020204020204" charset="-122"/>
                          <a:ea typeface="微软雅黑" panose="020B0503020204020204" charset="-122"/>
                          <a:cs typeface="微软雅黑" panose="020B0503020204020204" charset="-122"/>
                        </a:rPr>
                        <a:t>甄选</a:t>
                      </a:r>
                      <a:endParaRPr lang="en-US" altLang="zh-CN" sz="1200" b="0">
                        <a:solidFill>
                          <a:srgbClr val="000000"/>
                        </a:solidFill>
                        <a:latin typeface="微软雅黑" panose="020B0503020204020204" charset="-122"/>
                        <a:ea typeface="微软雅黑" panose="020B0503020204020204" charset="-122"/>
                        <a:cs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zh-CN" altLang="en-US" sz="1200" b="0">
                        <a:solidFill>
                          <a:srgbClr val="000000"/>
                        </a:solidFill>
                        <a:latin typeface="微软雅黑" panose="020B0503020204020204" charset="-122"/>
                        <a:ea typeface="微软雅黑" panose="020B0503020204020204" charset="-122"/>
                        <a:cs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200" b="0">
                        <a:solidFill>
                          <a:srgbClr val="000000"/>
                        </a:solidFill>
                        <a:latin typeface="微软雅黑" panose="020B0503020204020204" charset="-122"/>
                        <a:ea typeface="微软雅黑" panose="020B0503020204020204" charset="-122"/>
                        <a:cs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200" b="1">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200">
                          <a:solidFill>
                            <a:srgbClr val="000000"/>
                          </a:solidFill>
                          <a:latin typeface="微软雅黑" panose="020B0503020204020204" charset="-122"/>
                          <a:ea typeface="微软雅黑" panose="020B0503020204020204" charset="-122"/>
                          <a:sym typeface="+mn-ea"/>
                        </a:rPr>
                        <a:t>资本</a:t>
                      </a:r>
                      <a:r>
                        <a:rPr lang="en-US" altLang="zh-CN" sz="1200">
                          <a:solidFill>
                            <a:srgbClr val="000000"/>
                          </a:solidFill>
                          <a:latin typeface="微软雅黑" panose="020B0503020204020204" charset="-122"/>
                          <a:ea typeface="微软雅黑" panose="020B0503020204020204" charset="-122"/>
                          <a:sym typeface="+mn-ea"/>
                        </a:rPr>
                        <a:t>/</a:t>
                      </a:r>
                      <a:r>
                        <a:rPr lang="zh-CN" altLang="en-US" sz="1200">
                          <a:solidFill>
                            <a:srgbClr val="000000"/>
                          </a:solidFill>
                          <a:latin typeface="微软雅黑" panose="020B0503020204020204" charset="-122"/>
                          <a:ea typeface="微软雅黑" panose="020B0503020204020204" charset="-122"/>
                          <a:sym typeface="+mn-ea"/>
                        </a:rPr>
                        <a:t>成本</a:t>
                      </a:r>
                      <a:r>
                        <a:rPr lang="zh-CN" sz="1200">
                          <a:solidFill>
                            <a:srgbClr val="000000"/>
                          </a:solidFill>
                          <a:latin typeface="微软雅黑" panose="020B0503020204020204" charset="-122"/>
                          <a:ea typeface="微软雅黑" panose="020B0503020204020204" charset="-122"/>
                          <a:sym typeface="+mn-ea"/>
                        </a:rPr>
                        <a:t>开支</a:t>
                      </a:r>
                      <a:endParaRPr lang="zh-CN"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92735">
                <a:tc>
                  <a:txBody>
                    <a:bodyPr/>
                    <a:p>
                      <a:pPr algn="ctr">
                        <a:buClrTx/>
                        <a:buSzTx/>
                        <a:buFontTx/>
                        <a:buNone/>
                      </a:pPr>
                      <a:endParaRPr lang="en-US" altLang="en-US" sz="1200" b="1">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gridSpan="2">
                  <a:txBody>
                    <a:bodyPr/>
                    <a:p>
                      <a:pPr algn="ctr">
                        <a:buClrTx/>
                        <a:buSzTx/>
                        <a:buFontTx/>
                        <a:buNone/>
                      </a:pPr>
                      <a:r>
                        <a:rPr lang="en-US" sz="1200" b="1">
                          <a:solidFill>
                            <a:srgbClr val="000000"/>
                          </a:solidFill>
                          <a:latin typeface="微软雅黑" panose="020B0503020204020204" charset="-122"/>
                          <a:ea typeface="微软雅黑" panose="020B0503020204020204" charset="-122"/>
                        </a:rPr>
                        <a:t>合计</a:t>
                      </a:r>
                      <a:endParaRPr lang="zh-CN" altLang="en-US" sz="1200" b="1">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a:txBody>
                    <a:bodyPr/>
                    <a:p>
                      <a:pPr algn="ctr">
                        <a:buClrTx/>
                        <a:buSzTx/>
                        <a:buFontTx/>
                        <a:buNone/>
                      </a:pPr>
                      <a:endParaRPr lang="en-US" sz="1200" b="1">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a:buClrTx/>
                        <a:buSzTx/>
                        <a:buFontTx/>
                        <a:buNone/>
                      </a:pPr>
                      <a:endParaRPr lang="en-US" sz="1200" b="1">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gridSpan="2">
                  <a:txBody>
                    <a:bodyPr/>
                    <a:p>
                      <a:pPr indent="0" algn="ctr">
                        <a:buNone/>
                      </a:pPr>
                      <a:endParaRPr lang="en-US" altLang="en-US" sz="12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bl>
          </a:graphicData>
        </a:graphic>
      </p:graphicFrame>
      <p:sp>
        <p:nvSpPr>
          <p:cNvPr id="3" name="文本框 2"/>
          <p:cNvSpPr txBox="1"/>
          <p:nvPr/>
        </p:nvSpPr>
        <p:spPr>
          <a:xfrm>
            <a:off x="848995" y="5340350"/>
            <a:ext cx="10322560" cy="1383665"/>
          </a:xfrm>
          <a:prstGeom prst="rect">
            <a:avLst/>
          </a:prstGeom>
          <a:noFill/>
        </p:spPr>
        <p:txBody>
          <a:bodyPr wrap="square" rtlCol="0">
            <a:spAutoFit/>
          </a:bodyPr>
          <a:p>
            <a:pPr>
              <a:lnSpc>
                <a:spcPct val="150000"/>
              </a:lnSpc>
            </a:pPr>
            <a:r>
              <a:rPr lang="en-US" altLang="zh-CN" sz="1400" b="1">
                <a:latin typeface="微软雅黑" panose="020B0503020204020204" charset="-122"/>
                <a:ea typeface="微软雅黑" panose="020B0503020204020204" charset="-122"/>
                <a:cs typeface="微软雅黑" panose="020B0503020204020204" charset="-122"/>
              </a:rPr>
              <a:t>IT</a:t>
            </a:r>
            <a:r>
              <a:rPr lang="zh-CN" altLang="en-US" sz="1400" b="1">
                <a:latin typeface="微软雅黑" panose="020B0503020204020204" charset="-122"/>
                <a:ea typeface="微软雅黑" panose="020B0503020204020204" charset="-122"/>
                <a:cs typeface="微软雅黑" panose="020B0503020204020204" charset="-122"/>
              </a:rPr>
              <a:t>部分能力应用情况</a:t>
            </a:r>
            <a:endParaRPr lang="zh-CN" altLang="en-US" sz="1400" b="1">
              <a:latin typeface="微软雅黑" panose="020B0503020204020204" charset="-122"/>
              <a:ea typeface="微软雅黑" panose="020B0503020204020204" charset="-122"/>
              <a:cs typeface="微软雅黑" panose="020B0503020204020204" charset="-122"/>
            </a:endParaRPr>
          </a:p>
          <a:p>
            <a:pPr marL="171450" indent="-171450">
              <a:lnSpc>
                <a:spcPct val="150000"/>
              </a:lnSpc>
              <a:buFont typeface="Wingdings" panose="05000000000000000000" charset="0"/>
              <a:buChar char="n"/>
            </a:pPr>
            <a:r>
              <a:rPr lang="zh-CN" altLang="en-US" sz="1400">
                <a:latin typeface="微软雅黑" panose="020B0503020204020204" charset="-122"/>
                <a:ea typeface="微软雅黑" panose="020B0503020204020204" charset="-122"/>
                <a:cs typeface="微软雅黑" panose="020B0503020204020204" charset="-122"/>
                <a:sym typeface="+mn-ea"/>
              </a:rPr>
              <a:t>能否应用或沉淀自有平台能力：是</a:t>
            </a:r>
            <a:r>
              <a:rPr lang="en-US" altLang="zh-CN" sz="1400">
                <a:latin typeface="微软雅黑" panose="020B0503020204020204" charset="-122"/>
                <a:ea typeface="微软雅黑" panose="020B0503020204020204" charset="-122"/>
                <a:cs typeface="微软雅黑" panose="020B0503020204020204" charset="-122"/>
                <a:sym typeface="+mn-ea"/>
              </a:rPr>
              <a:t>/</a:t>
            </a:r>
            <a:r>
              <a:rPr lang="zh-CN" altLang="en-US" sz="1400">
                <a:latin typeface="微软雅黑" panose="020B0503020204020204" charset="-122"/>
                <a:ea typeface="微软雅黑" panose="020B0503020204020204" charset="-122"/>
                <a:cs typeface="微软雅黑" panose="020B0503020204020204" charset="-122"/>
                <a:sym typeface="+mn-ea"/>
              </a:rPr>
              <a:t>否，如选否，请说明原因</a:t>
            </a:r>
            <a:endParaRPr lang="zh-CN" altLang="en-US" sz="1400">
              <a:latin typeface="微软雅黑" panose="020B0503020204020204" charset="-122"/>
              <a:ea typeface="微软雅黑" panose="020B0503020204020204" charset="-122"/>
              <a:cs typeface="微软雅黑" panose="020B0503020204020204" charset="-122"/>
            </a:endParaRPr>
          </a:p>
          <a:p>
            <a:pPr marL="171450" indent="-171450">
              <a:lnSpc>
                <a:spcPct val="150000"/>
              </a:lnSpc>
              <a:buFont typeface="Wingdings" panose="05000000000000000000" charset="0"/>
              <a:buChar char="n"/>
            </a:pPr>
            <a:r>
              <a:rPr lang="zh-CN" altLang="en-US" sz="1400">
                <a:latin typeface="微软雅黑" panose="020B0503020204020204" charset="-122"/>
                <a:ea typeface="微软雅黑" panose="020B0503020204020204" charset="-122"/>
                <a:cs typeface="微软雅黑" panose="020B0503020204020204" charset="-122"/>
              </a:rPr>
              <a:t>涉及平台系统所需的硬件部分，能否云化：</a:t>
            </a:r>
            <a:r>
              <a:rPr lang="zh-CN" altLang="en-US" sz="1400">
                <a:latin typeface="微软雅黑" panose="020B0503020204020204" charset="-122"/>
                <a:ea typeface="微软雅黑" panose="020B0503020204020204" charset="-122"/>
                <a:cs typeface="微软雅黑" panose="020B0503020204020204" charset="-122"/>
                <a:sym typeface="+mn-ea"/>
              </a:rPr>
              <a:t>是</a:t>
            </a:r>
            <a:r>
              <a:rPr lang="en-US" altLang="zh-CN" sz="1400">
                <a:latin typeface="微软雅黑" panose="020B0503020204020204" charset="-122"/>
                <a:ea typeface="微软雅黑" panose="020B0503020204020204" charset="-122"/>
                <a:cs typeface="微软雅黑" panose="020B0503020204020204" charset="-122"/>
                <a:sym typeface="+mn-ea"/>
              </a:rPr>
              <a:t>/</a:t>
            </a:r>
            <a:r>
              <a:rPr lang="zh-CN" altLang="en-US" sz="1400">
                <a:latin typeface="微软雅黑" panose="020B0503020204020204" charset="-122"/>
                <a:ea typeface="微软雅黑" panose="020B0503020204020204" charset="-122"/>
                <a:cs typeface="微软雅黑" panose="020B0503020204020204" charset="-122"/>
                <a:sym typeface="+mn-ea"/>
              </a:rPr>
              <a:t>否，如选否，请说明原因</a:t>
            </a:r>
            <a:endParaRPr lang="zh-CN" altLang="en-US" sz="1400">
              <a:latin typeface="微软雅黑" panose="020B0503020204020204" charset="-122"/>
              <a:ea typeface="微软雅黑" panose="020B0503020204020204" charset="-122"/>
              <a:cs typeface="微软雅黑" panose="020B0503020204020204" charset="-122"/>
            </a:endParaRPr>
          </a:p>
          <a:p>
            <a:pPr marL="171450" indent="-171450">
              <a:lnSpc>
                <a:spcPct val="150000"/>
              </a:lnSpc>
              <a:buFont typeface="Wingdings" panose="05000000000000000000" charset="0"/>
              <a:buChar char="n"/>
            </a:pPr>
            <a:r>
              <a:rPr lang="zh-CN" altLang="en-US" sz="1400">
                <a:latin typeface="微软雅黑" panose="020B0503020204020204" charset="-122"/>
                <a:ea typeface="微软雅黑" panose="020B0503020204020204" charset="-122"/>
                <a:cs typeface="微软雅黑" panose="020B0503020204020204" charset="-122"/>
              </a:rPr>
              <a:t>定开软件能否交付源代码：是</a:t>
            </a:r>
            <a:r>
              <a:rPr lang="en-US" altLang="zh-CN" sz="1400">
                <a:latin typeface="微软雅黑" panose="020B0503020204020204" charset="-122"/>
                <a:ea typeface="微软雅黑" panose="020B0503020204020204" charset="-122"/>
                <a:cs typeface="微软雅黑" panose="020B0503020204020204" charset="-122"/>
              </a:rPr>
              <a:t>/</a:t>
            </a:r>
            <a:r>
              <a:rPr lang="zh-CN" altLang="en-US" sz="1400">
                <a:latin typeface="微软雅黑" panose="020B0503020204020204" charset="-122"/>
                <a:ea typeface="微软雅黑" panose="020B0503020204020204" charset="-122"/>
                <a:cs typeface="微软雅黑" panose="020B0503020204020204" charset="-122"/>
              </a:rPr>
              <a:t>否，</a:t>
            </a:r>
            <a:r>
              <a:rPr lang="zh-CN" altLang="en-US" sz="1400">
                <a:latin typeface="微软雅黑" panose="020B0503020204020204" charset="-122"/>
                <a:ea typeface="微软雅黑" panose="020B0503020204020204" charset="-122"/>
                <a:cs typeface="微软雅黑" panose="020B0503020204020204" charset="-122"/>
                <a:sym typeface="+mn-ea"/>
              </a:rPr>
              <a:t>如选否，请说明原因</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9395460" y="5149215"/>
            <a:ext cx="1864995" cy="306705"/>
          </a:xfrm>
          <a:prstGeom prst="rect">
            <a:avLst/>
          </a:prstGeom>
          <a:noFill/>
        </p:spPr>
        <p:txBody>
          <a:bodyPr wrap="square" rtlCol="0">
            <a:spAutoFit/>
          </a:bodyPr>
          <a:p>
            <a:pPr algn="r"/>
            <a:r>
              <a:rPr lang="zh-CN" altLang="en-US" sz="1400">
                <a:latin typeface="微软雅黑" panose="020B0503020204020204" charset="-122"/>
                <a:ea typeface="微软雅黑" panose="020B0503020204020204" charset="-122"/>
                <a:cs typeface="微软雅黑" panose="020B0503020204020204" charset="-122"/>
              </a:rPr>
              <a:t>询价情况详见附件</a:t>
            </a:r>
            <a:r>
              <a:rPr lang="en-US" altLang="zh-CN" sz="1400">
                <a:latin typeface="微软雅黑" panose="020B0503020204020204" charset="-122"/>
                <a:ea typeface="微软雅黑" panose="020B0503020204020204" charset="-122"/>
                <a:cs typeface="微软雅黑" panose="020B0503020204020204" charset="-122"/>
              </a:rPr>
              <a:t>9</a:t>
            </a:r>
            <a:endParaRPr lang="en-US" altLang="zh-CN" sz="14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635" y="-8890"/>
            <a:ext cx="12192635" cy="892175"/>
          </a:xfrm>
          <a:prstGeom prst="rect">
            <a:avLst/>
          </a:prstGeom>
        </p:spPr>
      </p:pic>
      <p:sp>
        <p:nvSpPr>
          <p:cNvPr id="7" name="Rectangle 2"/>
          <p:cNvSpPr>
            <a:spLocks noChangeArrowheads="1"/>
          </p:cNvSpPr>
          <p:nvPr/>
        </p:nvSpPr>
        <p:spPr bwMode="auto">
          <a:xfrm>
            <a:off x="158750" y="144780"/>
            <a:ext cx="7043738" cy="584697"/>
          </a:xfrm>
          <a:prstGeom prst="rect">
            <a:avLst/>
          </a:prstGeom>
          <a:noFill/>
          <a:ln w="9525">
            <a:noFill/>
            <a:miter lim="800000"/>
          </a:ln>
        </p:spPr>
        <p:txBody>
          <a:bodyPr anchor="b"/>
          <a:lstStyle/>
          <a:p>
            <a:pPr eaLnBrk="0" hangingPunct="0"/>
            <a:r>
              <a:rPr lang="zh-CN" altLang="en-US" sz="2800" b="1" dirty="0">
                <a:solidFill>
                  <a:schemeClr val="bg1"/>
                </a:solidFill>
                <a:latin typeface="黑体" panose="02010609060101010101" charset="-122"/>
                <a:ea typeface="黑体" panose="02010609060101010101" charset="-122"/>
              </a:rPr>
              <a:t>五、项目内容</a:t>
            </a:r>
            <a:r>
              <a:rPr lang="en-US" altLang="zh-CN" sz="2800" b="1" dirty="0">
                <a:solidFill>
                  <a:schemeClr val="bg1"/>
                </a:solidFill>
                <a:latin typeface="黑体" panose="02010609060101010101" charset="-122"/>
                <a:ea typeface="黑体" panose="02010609060101010101" charset="-122"/>
              </a:rPr>
              <a:t>-</a:t>
            </a:r>
            <a:r>
              <a:rPr lang="zh-CN" altLang="en-US" sz="2800" b="1" dirty="0">
                <a:solidFill>
                  <a:schemeClr val="bg1"/>
                </a:solidFill>
                <a:latin typeface="黑体" panose="02010609060101010101" charset="-122"/>
                <a:ea typeface="黑体" panose="02010609060101010101" charset="-122"/>
              </a:rPr>
              <a:t>项目投资收益</a:t>
            </a:r>
            <a:endParaRPr lang="zh-CN" altLang="en-US" sz="2800" b="1" dirty="0">
              <a:solidFill>
                <a:schemeClr val="bg1"/>
              </a:solidFill>
              <a:latin typeface="黑体" panose="02010609060101010101" charset="-122"/>
              <a:ea typeface="黑体" panose="02010609060101010101" charset="-122"/>
            </a:endParaRPr>
          </a:p>
        </p:txBody>
      </p:sp>
      <p:sp>
        <p:nvSpPr>
          <p:cNvPr id="3" name="Rectangle 4"/>
          <p:cNvSpPr>
            <a:spLocks noChangeArrowheads="1"/>
          </p:cNvSpPr>
          <p:nvPr/>
        </p:nvSpPr>
        <p:spPr bwMode="auto">
          <a:xfrm>
            <a:off x="311150" y="909955"/>
            <a:ext cx="11035030" cy="337185"/>
          </a:xfrm>
          <a:prstGeom prst="rect">
            <a:avLst/>
          </a:prstGeom>
          <a:gradFill rotWithShape="1">
            <a:gsLst>
              <a:gs pos="0">
                <a:srgbClr val="FFCC99">
                  <a:alpha val="85999"/>
                </a:srgbClr>
              </a:gs>
              <a:gs pos="100000">
                <a:schemeClr val="bg1"/>
              </a:gs>
            </a:gsLst>
            <a:lin ang="0" scaled="1"/>
          </a:gradFill>
          <a:ln>
            <a:noFill/>
          </a:ln>
        </p:spPr>
        <p:txBody>
          <a:bodyPr wrap="square">
            <a:spAutoFit/>
          </a:bodyPr>
          <a:lstStyle/>
          <a:p>
            <a:pPr fontAlgn="base">
              <a:spcBef>
                <a:spcPct val="20000"/>
              </a:spcBef>
              <a:spcAft>
                <a:spcPct val="0"/>
              </a:spcAft>
              <a:buClr>
                <a:srgbClr val="000099"/>
              </a:buClr>
              <a:buSzPct val="75000"/>
              <a:defRPr/>
            </a:pPr>
            <a:r>
              <a:rPr lang="zh-CN" altLang="en-US" sz="1600" b="1" dirty="0" smtClean="0">
                <a:solidFill>
                  <a:prstClr val="black"/>
                </a:solidFill>
                <a:latin typeface="微软雅黑" panose="020B0503020204020204" charset="-122"/>
                <a:ea typeface="微软雅黑" panose="020B0503020204020204" charset="-122"/>
              </a:rPr>
              <a:t>项目总收入</a:t>
            </a:r>
            <a:r>
              <a:rPr lang="zh-CN" altLang="en-US" sz="1600" b="1" dirty="0">
                <a:solidFill>
                  <a:prstClr val="black"/>
                </a:solidFill>
                <a:latin typeface="微软雅黑" panose="020B0503020204020204" charset="-122"/>
                <a:ea typeface="微软雅黑" panose="020B0503020204020204" charset="-122"/>
              </a:rPr>
              <a:t>：</a:t>
            </a:r>
            <a:r>
              <a:rPr lang="en-US" altLang="zh-CN" sz="1600" b="1" dirty="0" smtClean="0">
                <a:solidFill>
                  <a:prstClr val="black"/>
                </a:solidFill>
                <a:latin typeface="微软雅黑" panose="020B0503020204020204" charset="-122"/>
                <a:ea typeface="微软雅黑" panose="020B0503020204020204" charset="-122"/>
              </a:rPr>
              <a:t>XXXXX</a:t>
            </a:r>
            <a:r>
              <a:rPr lang="zh-CN" altLang="en-US" sz="1600" b="1" dirty="0" smtClean="0">
                <a:solidFill>
                  <a:prstClr val="black"/>
                </a:solidFill>
                <a:latin typeface="微软雅黑" panose="020B0503020204020204" charset="-122"/>
                <a:ea typeface="微软雅黑" panose="020B0503020204020204" charset="-122"/>
                <a:sym typeface="+mn-ea"/>
              </a:rPr>
              <a:t>元（不含</a:t>
            </a:r>
            <a:r>
              <a:rPr lang="zh-CN" altLang="en-US" sz="1600" b="1" dirty="0">
                <a:solidFill>
                  <a:prstClr val="black"/>
                </a:solidFill>
                <a:latin typeface="微软雅黑" panose="020B0503020204020204" charset="-122"/>
                <a:ea typeface="微软雅黑" panose="020B0503020204020204" charset="-122"/>
                <a:sym typeface="+mn-ea"/>
              </a:rPr>
              <a:t>税</a:t>
            </a:r>
            <a:r>
              <a:rPr lang="zh-CN" altLang="en-US" sz="1600" b="1" dirty="0" smtClean="0">
                <a:solidFill>
                  <a:prstClr val="black"/>
                </a:solidFill>
                <a:latin typeface="微软雅黑" panose="020B0503020204020204" charset="-122"/>
                <a:ea typeface="微软雅黑" panose="020B0503020204020204" charset="-122"/>
                <a:sym typeface="+mn-ea"/>
              </a:rPr>
              <a:t>）、</a:t>
            </a:r>
            <a:r>
              <a:rPr lang="en-US" altLang="zh-CN" sz="1600" b="1" dirty="0" smtClean="0">
                <a:solidFill>
                  <a:prstClr val="black"/>
                </a:solidFill>
                <a:latin typeface="微软雅黑" panose="020B0503020204020204" charset="-122"/>
                <a:ea typeface="微软雅黑" panose="020B0503020204020204" charset="-122"/>
              </a:rPr>
              <a:t>XXXXX</a:t>
            </a:r>
            <a:r>
              <a:rPr lang="zh-CN" altLang="en-US" sz="1600" b="1" dirty="0" smtClean="0">
                <a:solidFill>
                  <a:prstClr val="black"/>
                </a:solidFill>
                <a:latin typeface="微软雅黑" panose="020B0503020204020204" charset="-122"/>
                <a:ea typeface="微软雅黑" panose="020B0503020204020204" charset="-122"/>
                <a:sym typeface="+mn-ea"/>
              </a:rPr>
              <a:t>元（含</a:t>
            </a:r>
            <a:r>
              <a:rPr lang="zh-CN" altLang="en-US" sz="1600" b="1" dirty="0">
                <a:solidFill>
                  <a:prstClr val="black"/>
                </a:solidFill>
                <a:latin typeface="微软雅黑" panose="020B0503020204020204" charset="-122"/>
                <a:ea typeface="微软雅黑" panose="020B0503020204020204" charset="-122"/>
                <a:sym typeface="+mn-ea"/>
              </a:rPr>
              <a:t>税</a:t>
            </a:r>
            <a:r>
              <a:rPr lang="zh-CN" altLang="en-US" sz="1600" b="1" dirty="0" smtClean="0">
                <a:solidFill>
                  <a:prstClr val="black"/>
                </a:solidFill>
                <a:latin typeface="微软雅黑" panose="020B0503020204020204" charset="-122"/>
                <a:ea typeface="微软雅黑" panose="020B0503020204020204" charset="-122"/>
                <a:sym typeface="+mn-ea"/>
              </a:rPr>
              <a:t>）；通服收入累计</a:t>
            </a:r>
            <a:r>
              <a:rPr lang="en-US" altLang="zh-CN" sz="1600" b="1" dirty="0" smtClean="0">
                <a:solidFill>
                  <a:prstClr val="black"/>
                </a:solidFill>
                <a:latin typeface="微软雅黑" panose="020B0503020204020204" charset="-122"/>
                <a:ea typeface="微软雅黑" panose="020B0503020204020204" charset="-122"/>
                <a:sym typeface="+mn-ea"/>
              </a:rPr>
              <a:t>XXXX</a:t>
            </a:r>
            <a:r>
              <a:rPr lang="zh-CN" altLang="en-US" sz="1600" b="1" dirty="0" smtClean="0">
                <a:solidFill>
                  <a:prstClr val="black"/>
                </a:solidFill>
                <a:latin typeface="微软雅黑" panose="020B0503020204020204" charset="-122"/>
                <a:ea typeface="微软雅黑" panose="020B0503020204020204" charset="-122"/>
                <a:sym typeface="+mn-ea"/>
              </a:rPr>
              <a:t>万元，通服收入列收比</a:t>
            </a:r>
            <a:r>
              <a:rPr lang="en-US" altLang="zh-CN" sz="1600" b="1" dirty="0" smtClean="0">
                <a:solidFill>
                  <a:prstClr val="black"/>
                </a:solidFill>
                <a:latin typeface="微软雅黑" panose="020B0503020204020204" charset="-122"/>
                <a:ea typeface="微软雅黑" panose="020B0503020204020204" charset="-122"/>
                <a:sym typeface="+mn-ea"/>
              </a:rPr>
              <a:t>XX%</a:t>
            </a:r>
            <a:endParaRPr lang="en-US" altLang="zh-CN" sz="1600" b="1" dirty="0" smtClean="0">
              <a:solidFill>
                <a:prstClr val="black"/>
              </a:solidFill>
              <a:latin typeface="微软雅黑" panose="020B0503020204020204" charset="-122"/>
              <a:ea typeface="微软雅黑" panose="020B0503020204020204" charset="-122"/>
              <a:sym typeface="+mn-ea"/>
            </a:endParaRPr>
          </a:p>
        </p:txBody>
      </p:sp>
      <p:graphicFrame>
        <p:nvGraphicFramePr>
          <p:cNvPr id="5" name="表格 4"/>
          <p:cNvGraphicFramePr>
            <a:graphicFrameLocks noGrp="1"/>
          </p:cNvGraphicFramePr>
          <p:nvPr>
            <p:custDataLst>
              <p:tags r:id="rId2"/>
            </p:custDataLst>
          </p:nvPr>
        </p:nvGraphicFramePr>
        <p:xfrm>
          <a:off x="311150" y="1251585"/>
          <a:ext cx="11035665" cy="2035810"/>
        </p:xfrm>
        <a:graphic>
          <a:graphicData uri="http://schemas.openxmlformats.org/drawingml/2006/table">
            <a:tbl>
              <a:tblPr firstRow="1" bandRow="1">
                <a:tableStyleId>{5C22544A-7EE6-4342-B048-85BDC9FD1C3A}</a:tableStyleId>
              </a:tblPr>
              <a:tblGrid>
                <a:gridCol w="816610"/>
                <a:gridCol w="1272540"/>
                <a:gridCol w="924560"/>
                <a:gridCol w="2147570"/>
                <a:gridCol w="1731645"/>
                <a:gridCol w="748665"/>
                <a:gridCol w="2036445"/>
                <a:gridCol w="1357630"/>
              </a:tblGrid>
              <a:tr h="286385">
                <a:tc gridSpan="2">
                  <a:txBody>
                    <a:bodyPr/>
                    <a:lstStyle/>
                    <a:p>
                      <a:pPr algn="ctr" fontAlgn="ctr"/>
                      <a:r>
                        <a:rPr lang="zh-CN" altLang="en-US" sz="1200" u="none" strike="noStrike" dirty="0" smtClean="0">
                          <a:latin typeface="微软雅黑" panose="020B0503020204020204" charset="-122"/>
                          <a:ea typeface="微软雅黑" panose="020B0503020204020204" charset="-122"/>
                        </a:rPr>
                        <a:t>收入分类</a:t>
                      </a:r>
                      <a:endParaRPr lang="zh-CN" altLang="en-US" sz="1200" b="0" i="0" u="none" strike="noStrike" dirty="0" smtClean="0">
                        <a:solidFill>
                          <a:srgbClr val="000000"/>
                        </a:solidFill>
                        <a:latin typeface="微软雅黑" panose="020B0503020204020204" charset="-122"/>
                        <a:ea typeface="微软雅黑" panose="020B0503020204020204" charset="-122"/>
                      </a:endParaRPr>
                    </a:p>
                  </a:txBody>
                  <a:tcPr marL="6364" marR="6364" marT="6364" marB="0" anchor="ctr"/>
                </a:tc>
                <a:tc hMerge="1">
                  <a:tcPr marL="6364" marR="6364" marT="6364" marB="0" anchor="ctr"/>
                </a:tc>
                <a:tc>
                  <a:txBody>
                    <a:bodyPr/>
                    <a:lstStyle/>
                    <a:p>
                      <a:pPr algn="ctr" fontAlgn="ctr"/>
                      <a:r>
                        <a:rPr lang="zh-CN" altLang="en-US" sz="1200" u="none" strike="noStrike" dirty="0">
                          <a:latin typeface="微软雅黑" panose="020B0503020204020204" charset="-122"/>
                          <a:ea typeface="微软雅黑" panose="020B0503020204020204" charset="-122"/>
                        </a:rPr>
                        <a:t>合同期</a:t>
                      </a:r>
                      <a:endParaRPr lang="zh-CN" altLang="en-US" sz="1200" b="0" i="0" u="none" strike="noStrike" dirty="0">
                        <a:solidFill>
                          <a:srgbClr val="000000"/>
                        </a:solidFill>
                        <a:latin typeface="微软雅黑" panose="020B0503020204020204" charset="-122"/>
                        <a:ea typeface="微软雅黑" panose="020B0503020204020204" charset="-122"/>
                      </a:endParaRPr>
                    </a:p>
                  </a:txBody>
                  <a:tcPr marL="6364" marR="6364" marT="6364" marB="0" anchor="ctr"/>
                </a:tc>
                <a:tc>
                  <a:txBody>
                    <a:bodyPr/>
                    <a:lstStyle/>
                    <a:p>
                      <a:pPr marL="0" algn="ctr" defTabSz="914400" rtl="0" eaLnBrk="1" fontAlgn="ctr" latinLnBrk="0" hangingPunct="1"/>
                      <a:r>
                        <a:rPr lang="zh-CN" altLang="en-US" sz="1200" b="1" u="none" strike="noStrike" kern="1200" dirty="0" smtClean="0">
                          <a:solidFill>
                            <a:schemeClr val="lt1"/>
                          </a:solidFill>
                          <a:latin typeface="微软雅黑" panose="020B0503020204020204" charset="-122"/>
                          <a:ea typeface="微软雅黑" panose="020B0503020204020204" charset="-122"/>
                          <a:cs typeface="+mn-cs"/>
                        </a:rPr>
                        <a:t>具体收入类型</a:t>
                      </a:r>
                      <a:endParaRPr lang="zh-CN" altLang="en-US" sz="1200" b="1" u="none" strike="noStrike" kern="1200" dirty="0" smtClean="0">
                        <a:solidFill>
                          <a:schemeClr val="lt1"/>
                        </a:solidFill>
                        <a:latin typeface="微软雅黑" panose="020B0503020204020204" charset="-122"/>
                        <a:ea typeface="微软雅黑" panose="020B0503020204020204" charset="-122"/>
                        <a:cs typeface="+mn-cs"/>
                      </a:endParaRPr>
                    </a:p>
                  </a:txBody>
                  <a:tcPr marL="6364" marR="6364" marT="6364" marB="0" anchor="ctr"/>
                </a:tc>
                <a:tc>
                  <a:txBody>
                    <a:bodyPr/>
                    <a:lstStyle/>
                    <a:p>
                      <a:pPr algn="ctr" fontAlgn="ctr"/>
                      <a:r>
                        <a:rPr lang="zh-CN" altLang="en-US" sz="1200" b="1" u="none" strike="noStrike" kern="1200" dirty="0" smtClean="0">
                          <a:solidFill>
                            <a:schemeClr val="lt1"/>
                          </a:solidFill>
                          <a:latin typeface="微软雅黑" panose="020B0503020204020204" charset="-122"/>
                          <a:ea typeface="微软雅黑" panose="020B0503020204020204" charset="-122"/>
                          <a:cs typeface="+mn-cs"/>
                        </a:rPr>
                        <a:t>金额（不含税</a:t>
                      </a:r>
                      <a:r>
                        <a:rPr lang="en-US" altLang="zh-CN" sz="1200" b="1" u="none" strike="noStrike" kern="1200" dirty="0" smtClean="0">
                          <a:solidFill>
                            <a:schemeClr val="lt1"/>
                          </a:solidFill>
                          <a:latin typeface="微软雅黑" panose="020B0503020204020204" charset="-122"/>
                          <a:ea typeface="微软雅黑" panose="020B0503020204020204" charset="-122"/>
                          <a:cs typeface="+mn-cs"/>
                        </a:rPr>
                        <a:t>/</a:t>
                      </a:r>
                      <a:r>
                        <a:rPr lang="zh-CN" altLang="en-US" sz="1200" b="1" u="none" strike="noStrike" kern="1200" dirty="0" smtClean="0">
                          <a:solidFill>
                            <a:schemeClr val="lt1"/>
                          </a:solidFill>
                          <a:latin typeface="微软雅黑" panose="020B0503020204020204" charset="-122"/>
                          <a:ea typeface="微软雅黑" panose="020B0503020204020204" charset="-122"/>
                          <a:cs typeface="+mn-cs"/>
                        </a:rPr>
                        <a:t>元）</a:t>
                      </a:r>
                      <a:endParaRPr lang="zh-CN" altLang="en-US" sz="1200" b="1" u="none" strike="noStrike" kern="1200" dirty="0" smtClean="0">
                        <a:solidFill>
                          <a:schemeClr val="lt1"/>
                        </a:solidFill>
                        <a:latin typeface="微软雅黑" panose="020B0503020204020204" charset="-122"/>
                        <a:ea typeface="微软雅黑" panose="020B0503020204020204" charset="-122"/>
                        <a:cs typeface="+mn-cs"/>
                      </a:endParaRPr>
                    </a:p>
                  </a:txBody>
                  <a:tcPr marL="6364" marR="6364" marT="6364" marB="0" anchor="ctr"/>
                </a:tc>
                <a:tc>
                  <a:txBody>
                    <a:bodyPr/>
                    <a:lstStyle/>
                    <a:p>
                      <a:pPr marL="0" marR="0" indent="0" algn="ctr" defTabSz="914400" rtl="0" eaLnBrk="1" fontAlgn="ctr" latinLnBrk="0" hangingPunct="1">
                        <a:lnSpc>
                          <a:spcPct val="100000"/>
                        </a:lnSpc>
                        <a:spcBef>
                          <a:spcPts val="0"/>
                        </a:spcBef>
                        <a:spcAft>
                          <a:spcPts val="0"/>
                        </a:spcAft>
                        <a:buClrTx/>
                        <a:buSzTx/>
                        <a:buFontTx/>
                        <a:buNone/>
                        <a:defRPr/>
                      </a:pPr>
                      <a:r>
                        <a:rPr lang="zh-CN" altLang="en-US" sz="1200" b="1" i="0" u="none" strike="noStrike" dirty="0" smtClean="0">
                          <a:solidFill>
                            <a:schemeClr val="lt1"/>
                          </a:solidFill>
                          <a:latin typeface="微软雅黑" panose="020B0503020204020204" charset="-122"/>
                          <a:ea typeface="微软雅黑" panose="020B0503020204020204" charset="-122"/>
                        </a:rPr>
                        <a:t>税率</a:t>
                      </a:r>
                      <a:endParaRPr lang="zh-CN" altLang="en-US" sz="1200" b="1" i="0" u="none" strike="noStrike" dirty="0" smtClean="0">
                        <a:solidFill>
                          <a:schemeClr val="lt1"/>
                        </a:solidFill>
                        <a:latin typeface="微软雅黑" panose="020B0503020204020204" charset="-122"/>
                        <a:ea typeface="微软雅黑" panose="020B0503020204020204" charset="-122"/>
                      </a:endParaRPr>
                    </a:p>
                  </a:txBody>
                  <a:tcPr marL="6364" marR="6364" marT="6364" marB="0" anchor="ctr"/>
                </a:tc>
                <a:tc>
                  <a:txBody>
                    <a:bodyPr/>
                    <a:lstStyle/>
                    <a:p>
                      <a:pPr marL="0" marR="0" indent="0" algn="ctr" defTabSz="914400" rtl="0" eaLnBrk="1" fontAlgn="ctr" latinLnBrk="0" hangingPunct="1">
                        <a:lnSpc>
                          <a:spcPct val="100000"/>
                        </a:lnSpc>
                        <a:spcBef>
                          <a:spcPts val="0"/>
                        </a:spcBef>
                        <a:spcAft>
                          <a:spcPts val="0"/>
                        </a:spcAft>
                        <a:buClrTx/>
                        <a:buSzTx/>
                        <a:buFontTx/>
                        <a:buNone/>
                        <a:defRPr/>
                      </a:pPr>
                      <a:r>
                        <a:rPr lang="zh-CN" altLang="en-US" sz="1200" u="none" strike="noStrike" dirty="0" smtClean="0">
                          <a:latin typeface="微软雅黑" panose="020B0503020204020204" charset="-122"/>
                          <a:ea typeface="微软雅黑" panose="020B0503020204020204" charset="-122"/>
                        </a:rPr>
                        <a:t>金额（含税</a:t>
                      </a:r>
                      <a:r>
                        <a:rPr lang="en-US" altLang="zh-CN" sz="1200" u="none" strike="noStrike" dirty="0" smtClean="0">
                          <a:latin typeface="微软雅黑" panose="020B0503020204020204" charset="-122"/>
                          <a:ea typeface="微软雅黑" panose="020B0503020204020204" charset="-122"/>
                        </a:rPr>
                        <a:t>/</a:t>
                      </a:r>
                      <a:r>
                        <a:rPr lang="zh-CN" altLang="en-US" sz="1200" u="none" strike="noStrike" dirty="0" smtClean="0">
                          <a:latin typeface="微软雅黑" panose="020B0503020204020204" charset="-122"/>
                          <a:ea typeface="微软雅黑" panose="020B0503020204020204" charset="-122"/>
                        </a:rPr>
                        <a:t>元）</a:t>
                      </a:r>
                      <a:endParaRPr lang="zh-CN" altLang="en-US" sz="1200" b="0" i="0" u="none" strike="noStrike" dirty="0" smtClean="0">
                        <a:solidFill>
                          <a:srgbClr val="000000"/>
                        </a:solidFill>
                        <a:latin typeface="微软雅黑" panose="020B0503020204020204" charset="-122"/>
                        <a:ea typeface="微软雅黑" panose="020B0503020204020204" charset="-122"/>
                      </a:endParaRPr>
                    </a:p>
                  </a:txBody>
                  <a:tcPr marL="6364" marR="6364" marT="6364" marB="0" anchor="ctr"/>
                </a:tc>
                <a:tc>
                  <a:txBody>
                    <a:bodyPr/>
                    <a:lstStyle/>
                    <a:p>
                      <a:pPr algn="ctr" fontAlgn="ctr"/>
                      <a:r>
                        <a:rPr lang="zh-CN" altLang="en-US" sz="1200" u="none" strike="noStrike" dirty="0">
                          <a:latin typeface="微软雅黑" panose="020B0503020204020204" charset="-122"/>
                          <a:ea typeface="微软雅黑" panose="020B0503020204020204" charset="-122"/>
                        </a:rPr>
                        <a:t>备注</a:t>
                      </a:r>
                      <a:endParaRPr lang="zh-CN" altLang="en-US" sz="1200" b="0" i="0" u="none" strike="noStrike" dirty="0">
                        <a:solidFill>
                          <a:srgbClr val="000000"/>
                        </a:solidFill>
                        <a:latin typeface="微软雅黑" panose="020B0503020204020204" charset="-122"/>
                        <a:ea typeface="微软雅黑" panose="020B0503020204020204" charset="-122"/>
                      </a:endParaRPr>
                    </a:p>
                  </a:txBody>
                  <a:tcPr marL="6364" marR="6364" marT="6364" marB="0" anchor="ctr"/>
                </a:tc>
              </a:tr>
              <a:tr h="341630">
                <a:tc>
                  <a:txBody>
                    <a:bodyPr/>
                    <a:lstStyle/>
                    <a:p>
                      <a:pPr marL="0" algn="ctr" defTabSz="914400" rtl="0" eaLnBrk="1" fontAlgn="ctr" latinLnBrk="0" hangingPunct="1"/>
                      <a:r>
                        <a:rPr lang="zh-CN" altLang="en-US" sz="1100" b="1" i="0" u="none" strike="noStrike" kern="1200" dirty="0" smtClean="0">
                          <a:solidFill>
                            <a:srgbClr val="000000"/>
                          </a:solidFill>
                          <a:latin typeface="微软雅黑" panose="020B0503020204020204" charset="-122"/>
                          <a:ea typeface="微软雅黑" panose="020B0503020204020204" charset="-122"/>
                          <a:cs typeface="+mn-cs"/>
                        </a:rPr>
                        <a:t>通服收入</a:t>
                      </a:r>
                      <a:endParaRPr lang="zh-CN" altLang="en-US" sz="1100" b="1" i="0" u="none" strike="noStrike" kern="1200" dirty="0" smtClean="0">
                        <a:solidFill>
                          <a:srgbClr val="000000"/>
                        </a:solidFill>
                        <a:latin typeface="微软雅黑" panose="020B0503020204020204" charset="-122"/>
                        <a:ea typeface="微软雅黑" panose="020B0503020204020204" charset="-122"/>
                        <a:cs typeface="+mn-cs"/>
                      </a:endParaRPr>
                    </a:p>
                  </a:txBody>
                  <a:tcPr marL="6364" marR="6364" marT="6364" marB="0" anchor="ctr"/>
                </a:tc>
                <a:tc>
                  <a:txBody>
                    <a:bodyPr/>
                    <a:p>
                      <a:pPr marL="0" algn="ctr" defTabSz="914400" rtl="0" eaLnBrk="1" fontAlgn="ctr" latinLnBrk="0" hangingPunct="1"/>
                      <a:r>
                        <a:rPr lang="en-US" altLang="zh-CN" sz="1100" b="0" i="0" u="none" strike="noStrike" kern="1200" dirty="0" smtClean="0">
                          <a:solidFill>
                            <a:srgbClr val="000000"/>
                          </a:solidFill>
                          <a:latin typeface="微软雅黑" panose="020B0503020204020204" charset="-122"/>
                          <a:ea typeface="微软雅黑" panose="020B0503020204020204" charset="-122"/>
                          <a:cs typeface="+mn-cs"/>
                        </a:rPr>
                        <a:t>ICT-</a:t>
                      </a:r>
                      <a:r>
                        <a:rPr lang="zh-CN" altLang="en-US" sz="1100" b="0" i="0" u="none" strike="noStrike" kern="1200" dirty="0" smtClean="0">
                          <a:solidFill>
                            <a:srgbClr val="000000"/>
                          </a:solidFill>
                          <a:latin typeface="微软雅黑" panose="020B0503020204020204" charset="-122"/>
                          <a:ea typeface="微软雅黑" panose="020B0503020204020204" charset="-122"/>
                          <a:cs typeface="+mn-cs"/>
                        </a:rPr>
                        <a:t>集成</a:t>
                      </a:r>
                      <a:r>
                        <a:rPr lang="en-US" altLang="zh-CN" sz="1100" b="0" i="0" u="none" strike="noStrike" kern="1200" dirty="0" smtClean="0">
                          <a:solidFill>
                            <a:srgbClr val="000000"/>
                          </a:solidFill>
                          <a:latin typeface="微软雅黑" panose="020B0503020204020204" charset="-122"/>
                          <a:ea typeface="微软雅黑" panose="020B0503020204020204" charset="-122"/>
                          <a:cs typeface="+mn-cs"/>
                        </a:rPr>
                        <a:t>/</a:t>
                      </a:r>
                      <a:r>
                        <a:rPr lang="zh-CN" altLang="en-US" sz="1100" b="0" i="0" u="none" strike="noStrike" kern="1200" dirty="0" smtClean="0">
                          <a:solidFill>
                            <a:srgbClr val="000000"/>
                          </a:solidFill>
                          <a:latin typeface="微软雅黑" panose="020B0503020204020204" charset="-122"/>
                          <a:ea typeface="微软雅黑" panose="020B0503020204020204" charset="-122"/>
                          <a:cs typeface="+mn-cs"/>
                        </a:rPr>
                        <a:t>维保</a:t>
                      </a:r>
                      <a:endParaRPr lang="zh-CN" altLang="en-US" sz="1100" b="0" i="0" u="none" strike="noStrike" kern="1200" dirty="0" smtClean="0">
                        <a:solidFill>
                          <a:srgbClr val="000000"/>
                        </a:solidFill>
                        <a:latin typeface="微软雅黑" panose="020B0503020204020204" charset="-122"/>
                        <a:ea typeface="微软雅黑" panose="020B0503020204020204" charset="-122"/>
                        <a:cs typeface="+mn-cs"/>
                      </a:endParaRPr>
                    </a:p>
                  </a:txBody>
                  <a:tcPr marL="6364" marR="6364" marT="6364" marB="0" anchor="ctr"/>
                </a:tc>
                <a:tc>
                  <a:txBody>
                    <a:bodyPr/>
                    <a:lstStyle/>
                    <a:p>
                      <a:pPr algn="ctr" fontAlgn="ctr"/>
                      <a:endParaRPr lang="en-US" altLang="zh-CN" sz="1100" b="0" i="0" u="none" strike="noStrike" dirty="0">
                        <a:solidFill>
                          <a:srgbClr val="000000"/>
                        </a:solidFill>
                        <a:latin typeface="微软雅黑" panose="020B0503020204020204" charset="-122"/>
                        <a:ea typeface="微软雅黑" panose="020B0503020204020204" charset="-122"/>
                      </a:endParaRPr>
                    </a:p>
                  </a:txBody>
                  <a:tcPr marL="6364" marR="6364" marT="6364" marB="0" anchor="ctr"/>
                </a:tc>
                <a:tc>
                  <a:txBody>
                    <a:bodyPr/>
                    <a:lstStyle/>
                    <a:p>
                      <a:pPr indent="0" algn="ctr">
                        <a:buNone/>
                      </a:pPr>
                      <a:r>
                        <a:rPr lang="zh-CN" altLang="en-US" sz="1100" b="0" dirty="0" smtClean="0">
                          <a:solidFill>
                            <a:srgbClr val="000000"/>
                          </a:solidFill>
                          <a:latin typeface="微软雅黑" panose="020B0503020204020204" charset="-122"/>
                          <a:ea typeface="微软雅黑" panose="020B0503020204020204" charset="-122"/>
                        </a:rPr>
                        <a:t>如集成费</a:t>
                      </a:r>
                      <a:r>
                        <a:rPr lang="en-US" altLang="zh-CN" sz="1100" b="0" dirty="0" smtClean="0">
                          <a:solidFill>
                            <a:srgbClr val="000000"/>
                          </a:solidFill>
                          <a:latin typeface="微软雅黑" panose="020B0503020204020204" charset="-122"/>
                          <a:ea typeface="微软雅黑" panose="020B0503020204020204" charset="-122"/>
                        </a:rPr>
                        <a:t>/</a:t>
                      </a:r>
                      <a:r>
                        <a:rPr lang="zh-CN" altLang="en-US" sz="1100" b="0" dirty="0" smtClean="0">
                          <a:solidFill>
                            <a:srgbClr val="000000"/>
                          </a:solidFill>
                          <a:latin typeface="微软雅黑" panose="020B0503020204020204" charset="-122"/>
                          <a:ea typeface="微软雅黑" panose="020B0503020204020204" charset="-122"/>
                        </a:rPr>
                        <a:t>维保费</a:t>
                      </a:r>
                      <a:r>
                        <a:rPr lang="en-US" altLang="zh-CN" sz="1100" b="0" dirty="0" smtClean="0">
                          <a:solidFill>
                            <a:srgbClr val="000000"/>
                          </a:solidFill>
                          <a:latin typeface="微软雅黑" panose="020B0503020204020204" charset="-122"/>
                          <a:ea typeface="微软雅黑" panose="020B0503020204020204" charset="-122"/>
                        </a:rPr>
                        <a:t>/</a:t>
                      </a:r>
                      <a:r>
                        <a:rPr lang="zh-CN" altLang="en-US" sz="1100" b="0" dirty="0" smtClean="0">
                          <a:solidFill>
                            <a:srgbClr val="000000"/>
                          </a:solidFill>
                          <a:latin typeface="微软雅黑" panose="020B0503020204020204" charset="-122"/>
                          <a:ea typeface="微软雅黑" panose="020B0503020204020204" charset="-122"/>
                        </a:rPr>
                        <a:t>设备销售</a:t>
                      </a:r>
                      <a:endParaRPr lang="en-US" altLang="zh-CN" sz="1100" b="0" dirty="0">
                        <a:solidFill>
                          <a:srgbClr val="000000"/>
                        </a:solidFill>
                        <a:latin typeface="微软雅黑" panose="020B0503020204020204" charset="-122"/>
                        <a:ea typeface="微软雅黑" panose="020B0503020204020204" charset="-122"/>
                      </a:endParaRPr>
                    </a:p>
                  </a:txBody>
                  <a:tcPr marL="12700" marR="12700" marT="12700" anchor="ctr"/>
                </a:tc>
                <a:tc>
                  <a:txBody>
                    <a:bodyPr/>
                    <a:lstStyle/>
                    <a:p>
                      <a:pPr algn="ctr" fontAlgn="ctr"/>
                      <a:endParaRPr lang="en-US" altLang="zh-CN" sz="1100" b="0" i="0" u="none" strike="noStrike" dirty="0">
                        <a:solidFill>
                          <a:srgbClr val="000000"/>
                        </a:solidFill>
                        <a:latin typeface="微软雅黑" panose="020B0503020204020204" charset="-122"/>
                        <a:ea typeface="微软雅黑" panose="020B0503020204020204" charset="-122"/>
                      </a:endParaRPr>
                    </a:p>
                  </a:txBody>
                  <a:tcPr marL="6364" marR="6364" marT="6364" marB="0" anchor="ctr"/>
                </a:tc>
                <a:tc>
                  <a:txBody>
                    <a:bodyPr/>
                    <a:lstStyle/>
                    <a:p>
                      <a:pPr indent="0" algn="ctr">
                        <a:buNone/>
                      </a:pPr>
                      <a:endParaRPr lang="en-US" altLang="zh-CN" sz="1100" b="0" dirty="0">
                        <a:solidFill>
                          <a:srgbClr val="000000"/>
                        </a:solidFill>
                        <a:latin typeface="微软雅黑" panose="020B0503020204020204" charset="-122"/>
                        <a:ea typeface="微软雅黑" panose="020B0503020204020204" charset="-122"/>
                      </a:endParaRPr>
                    </a:p>
                  </a:txBody>
                  <a:tcPr marL="12700" marR="12700" marT="12700" anchor="ctr"/>
                </a:tc>
                <a:tc>
                  <a:txBody>
                    <a:bodyPr/>
                    <a:lstStyle/>
                    <a:p>
                      <a:pPr indent="0" algn="ctr">
                        <a:buNone/>
                      </a:pPr>
                      <a:endParaRPr lang="en-US" altLang="zh-CN" sz="1100" b="0" dirty="0">
                        <a:solidFill>
                          <a:srgbClr val="000000"/>
                        </a:solidFill>
                        <a:latin typeface="微软雅黑" panose="020B0503020204020204" charset="-122"/>
                        <a:ea typeface="微软雅黑" panose="020B0503020204020204" charset="-122"/>
                      </a:endParaRPr>
                    </a:p>
                  </a:txBody>
                  <a:tcPr marL="12700" marR="12700" marT="12700" anchor="ctr"/>
                </a:tc>
                <a:tc>
                  <a:txBody>
                    <a:bodyPr/>
                    <a:lstStyle/>
                    <a:p>
                      <a:pPr algn="ctr" fontAlgn="ctr"/>
                      <a:r>
                        <a:rPr lang="zh-CN" altLang="en-US" sz="1100" b="1" i="0" u="none" strike="noStrike" dirty="0">
                          <a:solidFill>
                            <a:srgbClr val="FF0000"/>
                          </a:solidFill>
                          <a:latin typeface="微软雅黑" panose="020B0503020204020204" charset="-122"/>
                          <a:ea typeface="微软雅黑" panose="020B0503020204020204" charset="-122"/>
                        </a:rPr>
                        <a:t>如涉及细分场景，请明确</a:t>
                      </a:r>
                      <a:r>
                        <a:rPr lang="en-US" altLang="zh-CN" sz="1100" b="1" i="0" u="none" strike="noStrike" dirty="0">
                          <a:solidFill>
                            <a:srgbClr val="FF0000"/>
                          </a:solidFill>
                          <a:latin typeface="微软雅黑" panose="020B0503020204020204" charset="-122"/>
                          <a:ea typeface="微软雅黑" panose="020B0503020204020204" charset="-122"/>
                        </a:rPr>
                        <a:t>ICT-XXX</a:t>
                      </a:r>
                      <a:endParaRPr lang="en-US" altLang="zh-CN" sz="1100" b="1" i="0" u="none" strike="noStrike" dirty="0">
                        <a:solidFill>
                          <a:srgbClr val="FF0000"/>
                        </a:solidFill>
                        <a:latin typeface="微软雅黑" panose="020B0503020204020204" charset="-122"/>
                        <a:ea typeface="微软雅黑" panose="020B0503020204020204" charset="-122"/>
                      </a:endParaRPr>
                    </a:p>
                  </a:txBody>
                  <a:tcPr marL="6364" marR="6364" marT="6364" marB="0" anchor="ctr"/>
                </a:tc>
              </a:tr>
              <a:tr h="341630">
                <a:tc>
                  <a:txBody>
                    <a:bodyPr/>
                    <a:lstStyle/>
                    <a:p>
                      <a:pPr marL="0" algn="ctr" defTabSz="914400" rtl="0" eaLnBrk="1" fontAlgn="ctr" latinLnBrk="0" hangingPunct="1"/>
                      <a:r>
                        <a:rPr lang="zh-CN" altLang="en-US" sz="1100" b="1" i="0" u="none" strike="noStrike" kern="1200" dirty="0" smtClean="0">
                          <a:solidFill>
                            <a:srgbClr val="000000"/>
                          </a:solidFill>
                          <a:latin typeface="微软雅黑" panose="020B0503020204020204" charset="-122"/>
                          <a:ea typeface="微软雅黑" panose="020B0503020204020204" charset="-122"/>
                          <a:cs typeface="+mn-cs"/>
                        </a:rPr>
                        <a:t>非通服收入</a:t>
                      </a:r>
                      <a:endParaRPr lang="zh-CN" altLang="en-US" sz="1100" b="1" i="0" u="none" strike="noStrike" kern="1200" dirty="0" smtClean="0">
                        <a:solidFill>
                          <a:srgbClr val="000000"/>
                        </a:solidFill>
                        <a:latin typeface="微软雅黑" panose="020B0503020204020204" charset="-122"/>
                        <a:ea typeface="微软雅黑" panose="020B0503020204020204" charset="-122"/>
                        <a:cs typeface="+mn-cs"/>
                      </a:endParaRPr>
                    </a:p>
                  </a:txBody>
                  <a:tcPr marL="6364" marR="6364" marT="6364" marB="0" anchor="ctr"/>
                </a:tc>
                <a:tc>
                  <a:txBody>
                    <a:bodyPr/>
                    <a:p>
                      <a:pPr marL="0" algn="ctr" defTabSz="914400" rtl="0" eaLnBrk="1" fontAlgn="ctr" latinLnBrk="0" hangingPunct="1"/>
                      <a:r>
                        <a:rPr lang="en-US" altLang="zh-CN" sz="1100" b="0" i="0" u="none" strike="noStrike" kern="1200" dirty="0" smtClean="0">
                          <a:solidFill>
                            <a:srgbClr val="000000"/>
                          </a:solidFill>
                          <a:latin typeface="微软雅黑" panose="020B0503020204020204" charset="-122"/>
                          <a:ea typeface="微软雅黑" panose="020B0503020204020204" charset="-122"/>
                          <a:cs typeface="+mn-cs"/>
                        </a:rPr>
                        <a:t>ICT-</a:t>
                      </a:r>
                      <a:r>
                        <a:rPr lang="zh-CN" altLang="en-US" sz="1100" b="0" i="0" u="none" strike="noStrike" kern="1200" dirty="0" smtClean="0">
                          <a:solidFill>
                            <a:srgbClr val="000000"/>
                          </a:solidFill>
                          <a:latin typeface="微软雅黑" panose="020B0503020204020204" charset="-122"/>
                          <a:ea typeface="微软雅黑" panose="020B0503020204020204" charset="-122"/>
                          <a:cs typeface="+mn-cs"/>
                        </a:rPr>
                        <a:t>设备销售</a:t>
                      </a:r>
                      <a:r>
                        <a:rPr lang="en-US" altLang="zh-CN" sz="1100" b="0" i="0" u="none" strike="noStrike" kern="1200" dirty="0" smtClean="0">
                          <a:solidFill>
                            <a:srgbClr val="000000"/>
                          </a:solidFill>
                          <a:latin typeface="微软雅黑" panose="020B0503020204020204" charset="-122"/>
                          <a:ea typeface="微软雅黑" panose="020B0503020204020204" charset="-122"/>
                          <a:cs typeface="+mn-cs"/>
                        </a:rPr>
                        <a:t>/</a:t>
                      </a:r>
                      <a:r>
                        <a:rPr lang="zh-CN" altLang="en-US" sz="1100" b="0" i="0" u="none" strike="noStrike" kern="1200" dirty="0" smtClean="0">
                          <a:solidFill>
                            <a:srgbClr val="000000"/>
                          </a:solidFill>
                          <a:latin typeface="微软雅黑" panose="020B0503020204020204" charset="-122"/>
                          <a:ea typeface="微软雅黑" panose="020B0503020204020204" charset="-122"/>
                          <a:cs typeface="+mn-cs"/>
                        </a:rPr>
                        <a:t>租赁</a:t>
                      </a:r>
                      <a:endParaRPr lang="zh-CN" altLang="en-US" sz="1100" b="0" i="0" u="none" strike="noStrike" kern="1200" dirty="0" smtClean="0">
                        <a:solidFill>
                          <a:srgbClr val="000000"/>
                        </a:solidFill>
                        <a:latin typeface="微软雅黑" panose="020B0503020204020204" charset="-122"/>
                        <a:ea typeface="微软雅黑" panose="020B0503020204020204" charset="-122"/>
                        <a:cs typeface="+mn-cs"/>
                      </a:endParaRPr>
                    </a:p>
                  </a:txBody>
                  <a:tcPr marL="6364" marR="6364" marT="6364" marB="0" anchor="ctr"/>
                </a:tc>
                <a:tc>
                  <a:txBody>
                    <a:bodyPr/>
                    <a:lstStyle/>
                    <a:p>
                      <a:pPr algn="ctr" fontAlgn="ctr"/>
                      <a:endParaRPr lang="en-US" altLang="zh-CN" sz="1100" b="0" i="0" u="none" strike="noStrike" dirty="0">
                        <a:solidFill>
                          <a:srgbClr val="000000"/>
                        </a:solidFill>
                        <a:latin typeface="微软雅黑" panose="020B0503020204020204" charset="-122"/>
                        <a:ea typeface="微软雅黑" panose="020B0503020204020204" charset="-122"/>
                      </a:endParaRPr>
                    </a:p>
                  </a:txBody>
                  <a:tcPr marL="6364" marR="6364" marT="6364" marB="0" anchor="ctr"/>
                </a:tc>
                <a:tc>
                  <a:txBody>
                    <a:bodyPr/>
                    <a:lstStyle/>
                    <a:p>
                      <a:pPr indent="0" algn="ctr">
                        <a:buNone/>
                      </a:pPr>
                      <a:endParaRPr lang="en-US" altLang="zh-CN" sz="1100" b="0" dirty="0">
                        <a:solidFill>
                          <a:srgbClr val="000000"/>
                        </a:solidFill>
                        <a:latin typeface="微软雅黑" panose="020B0503020204020204" charset="-122"/>
                        <a:ea typeface="微软雅黑" panose="020B0503020204020204" charset="-122"/>
                      </a:endParaRPr>
                    </a:p>
                  </a:txBody>
                  <a:tcPr marL="12700" marR="12700" marT="12700" anchor="ctr"/>
                </a:tc>
                <a:tc>
                  <a:txBody>
                    <a:bodyPr/>
                    <a:lstStyle/>
                    <a:p>
                      <a:pPr algn="ctr" fontAlgn="ctr"/>
                      <a:endParaRPr lang="en-US" altLang="zh-CN" sz="1100" b="0" i="0" u="none" strike="noStrike" dirty="0">
                        <a:solidFill>
                          <a:srgbClr val="000000"/>
                        </a:solidFill>
                        <a:latin typeface="微软雅黑" panose="020B0503020204020204" charset="-122"/>
                        <a:ea typeface="微软雅黑" panose="020B0503020204020204" charset="-122"/>
                      </a:endParaRPr>
                    </a:p>
                  </a:txBody>
                  <a:tcPr marL="6364" marR="6364" marT="6364" marB="0" anchor="ctr"/>
                </a:tc>
                <a:tc>
                  <a:txBody>
                    <a:bodyPr/>
                    <a:lstStyle/>
                    <a:p>
                      <a:pPr indent="0" algn="ctr">
                        <a:buNone/>
                      </a:pPr>
                      <a:endParaRPr lang="en-US" altLang="zh-CN" sz="1100" b="0" dirty="0">
                        <a:solidFill>
                          <a:srgbClr val="000000"/>
                        </a:solidFill>
                        <a:latin typeface="微软雅黑" panose="020B0503020204020204" charset="-122"/>
                        <a:ea typeface="微软雅黑" panose="020B0503020204020204" charset="-122"/>
                      </a:endParaRPr>
                    </a:p>
                  </a:txBody>
                  <a:tcPr marL="12700" marR="12700" marT="12700" anchor="ctr"/>
                </a:tc>
                <a:tc>
                  <a:txBody>
                    <a:bodyPr/>
                    <a:lstStyle/>
                    <a:p>
                      <a:pPr indent="0" algn="ctr">
                        <a:buNone/>
                      </a:pPr>
                      <a:endParaRPr lang="en-US" altLang="zh-CN" sz="1100" b="0" dirty="0">
                        <a:solidFill>
                          <a:srgbClr val="000000"/>
                        </a:solidFill>
                        <a:latin typeface="微软雅黑" panose="020B0503020204020204" charset="-122"/>
                        <a:ea typeface="微软雅黑" panose="020B0503020204020204" charset="-122"/>
                      </a:endParaRPr>
                    </a:p>
                  </a:txBody>
                  <a:tcPr marL="12700" marR="12700" marT="12700" anchor="ctr"/>
                </a:tc>
                <a:tc>
                  <a:txBody>
                    <a:bodyPr/>
                    <a:lstStyle/>
                    <a:p>
                      <a:pPr algn="ctr" fontAlgn="ctr"/>
                      <a:endParaRPr lang="zh-CN" altLang="en-US" sz="1100" b="0" i="0" u="none" strike="noStrike" dirty="0">
                        <a:solidFill>
                          <a:srgbClr val="000000"/>
                        </a:solidFill>
                        <a:latin typeface="微软雅黑" panose="020B0503020204020204" charset="-122"/>
                        <a:ea typeface="微软雅黑" panose="020B0503020204020204" charset="-122"/>
                      </a:endParaRPr>
                    </a:p>
                  </a:txBody>
                  <a:tcPr marL="6364" marR="6364" marT="6364" marB="0" anchor="ctr"/>
                </a:tc>
              </a:tr>
              <a:tr h="287655">
                <a:tc gridSpan="2">
                  <a:txBody>
                    <a:bodyPr/>
                    <a:lstStyle/>
                    <a:p>
                      <a:pPr marL="0" algn="ctr" defTabSz="914400" rtl="0" eaLnBrk="1" fontAlgn="ctr" latinLnBrk="0" hangingPunct="1"/>
                      <a:r>
                        <a:rPr lang="en-US" altLang="zh-CN" sz="1100" b="1" dirty="0">
                          <a:solidFill>
                            <a:srgbClr val="000000"/>
                          </a:solidFill>
                          <a:latin typeface="微软雅黑" panose="020B0503020204020204" charset="-122"/>
                          <a:ea typeface="微软雅黑" panose="020B0503020204020204" charset="-122"/>
                        </a:rPr>
                        <a:t>IT</a:t>
                      </a:r>
                      <a:r>
                        <a:rPr lang="zh-CN" altLang="en-US" sz="1100" b="1" dirty="0">
                          <a:solidFill>
                            <a:srgbClr val="000000"/>
                          </a:solidFill>
                          <a:latin typeface="微软雅黑" panose="020B0503020204020204" charset="-122"/>
                          <a:ea typeface="微软雅黑" panose="020B0503020204020204" charset="-122"/>
                        </a:rPr>
                        <a:t>收入小计</a:t>
                      </a:r>
                      <a:endParaRPr lang="zh-CN" altLang="en-US" sz="1100" b="1" i="0" u="none" strike="noStrike" kern="1200" dirty="0" smtClean="0">
                        <a:solidFill>
                          <a:srgbClr val="000000"/>
                        </a:solidFill>
                        <a:latin typeface="微软雅黑" panose="020B0503020204020204" charset="-122"/>
                        <a:ea typeface="微软雅黑" panose="020B0503020204020204" charset="-122"/>
                        <a:cs typeface="+mn-cs"/>
                      </a:endParaRPr>
                    </a:p>
                  </a:txBody>
                  <a:tcPr marL="6364" marR="6364" marT="6364" marB="0" anchor="ctr"/>
                </a:tc>
                <a:tc hMerge="1">
                  <a:tcPr marL="6364" marR="6364" marT="6364" marB="0" anchor="ctr"/>
                </a:tc>
                <a:tc>
                  <a:txBody>
                    <a:bodyPr/>
                    <a:lstStyle/>
                    <a:p>
                      <a:pPr algn="ctr" fontAlgn="ctr"/>
                      <a:endParaRPr lang="en-US" altLang="zh-CN" sz="1100" b="0" i="0" u="none" strike="noStrike" dirty="0">
                        <a:solidFill>
                          <a:srgbClr val="000000"/>
                        </a:solidFill>
                        <a:latin typeface="微软雅黑" panose="020B0503020204020204" charset="-122"/>
                        <a:ea typeface="微软雅黑" panose="020B0503020204020204" charset="-122"/>
                      </a:endParaRPr>
                    </a:p>
                  </a:txBody>
                  <a:tcPr marL="6364" marR="6364" marT="6364" marB="0" anchor="ctr"/>
                </a:tc>
                <a:tc>
                  <a:txBody>
                    <a:bodyPr/>
                    <a:lstStyle/>
                    <a:p>
                      <a:pPr indent="0" algn="ctr">
                        <a:buNone/>
                      </a:pPr>
                      <a:endParaRPr lang="en-US" altLang="zh-CN" sz="1100" b="0" dirty="0">
                        <a:solidFill>
                          <a:srgbClr val="000000"/>
                        </a:solidFill>
                        <a:latin typeface="微软雅黑" panose="020B0503020204020204" charset="-122"/>
                        <a:ea typeface="微软雅黑" panose="020B0503020204020204" charset="-122"/>
                      </a:endParaRPr>
                    </a:p>
                  </a:txBody>
                  <a:tcPr marL="12700" marR="12700" marT="12700" anchor="ctr"/>
                </a:tc>
                <a:tc>
                  <a:txBody>
                    <a:bodyPr/>
                    <a:lstStyle/>
                    <a:p>
                      <a:pPr algn="ctr" fontAlgn="ctr"/>
                      <a:endParaRPr lang="en-US" altLang="zh-CN" sz="1100" b="0" i="0" u="none" strike="noStrike" dirty="0">
                        <a:solidFill>
                          <a:srgbClr val="000000"/>
                        </a:solidFill>
                        <a:latin typeface="微软雅黑" panose="020B0503020204020204" charset="-122"/>
                        <a:ea typeface="微软雅黑" panose="020B0503020204020204" charset="-122"/>
                      </a:endParaRPr>
                    </a:p>
                  </a:txBody>
                  <a:tcPr marL="6364" marR="6364" marT="6364" marB="0" anchor="ctr"/>
                </a:tc>
                <a:tc>
                  <a:txBody>
                    <a:bodyPr/>
                    <a:lstStyle/>
                    <a:p>
                      <a:pPr indent="0" algn="ctr">
                        <a:buNone/>
                      </a:pPr>
                      <a:endParaRPr lang="en-US" altLang="zh-CN" sz="1100" b="0" dirty="0">
                        <a:solidFill>
                          <a:srgbClr val="000000"/>
                        </a:solidFill>
                        <a:latin typeface="微软雅黑" panose="020B0503020204020204" charset="-122"/>
                        <a:ea typeface="微软雅黑" panose="020B0503020204020204" charset="-122"/>
                      </a:endParaRPr>
                    </a:p>
                  </a:txBody>
                  <a:tcPr marL="12700" marR="12700" marT="12700" anchor="ctr"/>
                </a:tc>
                <a:tc>
                  <a:txBody>
                    <a:bodyPr/>
                    <a:lstStyle/>
                    <a:p>
                      <a:pPr indent="0" algn="ctr">
                        <a:buNone/>
                      </a:pPr>
                      <a:endParaRPr lang="en-US" altLang="zh-CN" sz="1100" b="0" dirty="0">
                        <a:solidFill>
                          <a:srgbClr val="000000"/>
                        </a:solidFill>
                        <a:latin typeface="微软雅黑" panose="020B0503020204020204" charset="-122"/>
                        <a:ea typeface="微软雅黑" panose="020B0503020204020204" charset="-122"/>
                      </a:endParaRPr>
                    </a:p>
                  </a:txBody>
                  <a:tcPr marL="12700" marR="12700" marT="12700" anchor="ctr"/>
                </a:tc>
                <a:tc>
                  <a:txBody>
                    <a:bodyPr/>
                    <a:lstStyle/>
                    <a:p>
                      <a:pPr algn="ctr" fontAlgn="ctr"/>
                      <a:endParaRPr lang="zh-CN" altLang="en-US" sz="1100" b="0" i="0" u="none" strike="noStrike" dirty="0">
                        <a:solidFill>
                          <a:srgbClr val="000000"/>
                        </a:solidFill>
                        <a:latin typeface="微软雅黑" panose="020B0503020204020204" charset="-122"/>
                        <a:ea typeface="微软雅黑" panose="020B0503020204020204" charset="-122"/>
                      </a:endParaRPr>
                    </a:p>
                  </a:txBody>
                  <a:tcPr marL="6364" marR="6364" marT="6364" marB="0" anchor="ctr"/>
                </a:tc>
              </a:tr>
              <a:tr h="278765">
                <a:tc gridSpan="2">
                  <a:txBody>
                    <a:bodyPr/>
                    <a:lstStyle/>
                    <a:p>
                      <a:pPr marL="0" algn="ctr" defTabSz="914400" rtl="0" eaLnBrk="1" fontAlgn="ctr" latinLnBrk="0" hangingPunct="1">
                        <a:buNone/>
                      </a:pPr>
                      <a:r>
                        <a:rPr lang="en-US" altLang="zh-CN" sz="1100" dirty="0">
                          <a:solidFill>
                            <a:srgbClr val="000000"/>
                          </a:solidFill>
                          <a:latin typeface="微软雅黑" panose="020B0503020204020204" charset="-122"/>
                          <a:ea typeface="微软雅黑" panose="020B0503020204020204" charset="-122"/>
                        </a:rPr>
                        <a:t>CT-</a:t>
                      </a:r>
                      <a:r>
                        <a:rPr lang="zh-CN" altLang="en-US" sz="1100" dirty="0">
                          <a:solidFill>
                            <a:srgbClr val="000000"/>
                          </a:solidFill>
                          <a:latin typeface="微软雅黑" panose="020B0503020204020204" charset="-122"/>
                          <a:ea typeface="微软雅黑" panose="020B0503020204020204" charset="-122"/>
                        </a:rPr>
                        <a:t>专线</a:t>
                      </a:r>
                      <a:endParaRPr lang="en-US" altLang="zh-CN" sz="1100" b="0" i="0" u="none" strike="noStrike" kern="1200" dirty="0">
                        <a:solidFill>
                          <a:srgbClr val="000000"/>
                        </a:solidFill>
                        <a:latin typeface="微软雅黑" panose="020B0503020204020204" charset="-122"/>
                        <a:ea typeface="微软雅黑" panose="020B0503020204020204" charset="-122"/>
                        <a:cs typeface="+mn-cs"/>
                      </a:endParaRPr>
                    </a:p>
                  </a:txBody>
                  <a:tcPr marL="6364" marR="6364" marT="6364" marB="0" anchor="ctr"/>
                </a:tc>
                <a:tc hMerge="1">
                  <a:tcPr marL="6364" marR="6364" marT="6364" marB="0" anchor="ctr"/>
                </a:tc>
                <a:tc>
                  <a:txBody>
                    <a:bodyPr/>
                    <a:lstStyle/>
                    <a:p>
                      <a:pPr algn="ctr" fontAlgn="ctr">
                        <a:buNone/>
                      </a:pPr>
                      <a:endParaRPr lang="en-US" altLang="zh-CN" sz="1100" b="0" i="0" u="none" strike="noStrike" dirty="0">
                        <a:solidFill>
                          <a:srgbClr val="000000"/>
                        </a:solidFill>
                        <a:latin typeface="微软雅黑" panose="020B0503020204020204" charset="-122"/>
                        <a:ea typeface="微软雅黑" panose="020B0503020204020204" charset="-122"/>
                      </a:endParaRPr>
                    </a:p>
                  </a:txBody>
                  <a:tcPr marL="6364" marR="6364" marT="6364" marB="0" anchor="ctr"/>
                </a:tc>
                <a:tc>
                  <a:txBody>
                    <a:bodyPr/>
                    <a:lstStyle/>
                    <a:p>
                      <a:pPr indent="0" algn="ctr">
                        <a:buNone/>
                      </a:pPr>
                      <a:r>
                        <a:rPr lang="zh-CN" altLang="en-US" sz="1100" b="0" dirty="0" smtClean="0">
                          <a:solidFill>
                            <a:srgbClr val="000000"/>
                          </a:solidFill>
                          <a:latin typeface="微软雅黑" panose="020B0503020204020204" charset="-122"/>
                          <a:ea typeface="微软雅黑" panose="020B0503020204020204" charset="-122"/>
                        </a:rPr>
                        <a:t>如专线</a:t>
                      </a:r>
                      <a:r>
                        <a:rPr lang="en-US" altLang="zh-CN" sz="1100" b="0" dirty="0" smtClean="0">
                          <a:solidFill>
                            <a:srgbClr val="000000"/>
                          </a:solidFill>
                          <a:latin typeface="微软雅黑" panose="020B0503020204020204" charset="-122"/>
                          <a:ea typeface="微软雅黑" panose="020B0503020204020204" charset="-122"/>
                        </a:rPr>
                        <a:t>/</a:t>
                      </a:r>
                      <a:r>
                        <a:rPr lang="zh-CN" altLang="en-US" sz="1100" b="0" dirty="0" smtClean="0">
                          <a:solidFill>
                            <a:srgbClr val="000000"/>
                          </a:solidFill>
                          <a:latin typeface="微软雅黑" panose="020B0503020204020204" charset="-122"/>
                          <a:ea typeface="微软雅黑" panose="020B0503020204020204" charset="-122"/>
                        </a:rPr>
                        <a:t>物联网</a:t>
                      </a:r>
                      <a:r>
                        <a:rPr lang="en-US" altLang="zh-CN" sz="1100" b="0" dirty="0" smtClean="0">
                          <a:solidFill>
                            <a:srgbClr val="000000"/>
                          </a:solidFill>
                          <a:latin typeface="微软雅黑" panose="020B0503020204020204" charset="-122"/>
                          <a:ea typeface="微软雅黑" panose="020B0503020204020204" charset="-122"/>
                        </a:rPr>
                        <a:t>/</a:t>
                      </a:r>
                      <a:r>
                        <a:rPr lang="zh-CN" altLang="en-US" sz="1100" b="0" dirty="0" smtClean="0">
                          <a:solidFill>
                            <a:srgbClr val="000000"/>
                          </a:solidFill>
                          <a:latin typeface="微软雅黑" panose="020B0503020204020204" charset="-122"/>
                          <a:ea typeface="微软雅黑" panose="020B0503020204020204" charset="-122"/>
                        </a:rPr>
                        <a:t>公有云</a:t>
                      </a:r>
                      <a:endParaRPr lang="en-US" altLang="zh-CN" sz="1100" b="0" dirty="0">
                        <a:solidFill>
                          <a:srgbClr val="000000"/>
                        </a:solidFill>
                        <a:latin typeface="微软雅黑" panose="020B0503020204020204" charset="-122"/>
                        <a:ea typeface="微软雅黑" panose="020B0503020204020204" charset="-122"/>
                      </a:endParaRPr>
                    </a:p>
                  </a:txBody>
                  <a:tcPr marL="12700" marR="12700" marT="12700" anchor="ctr"/>
                </a:tc>
                <a:tc>
                  <a:txBody>
                    <a:bodyPr/>
                    <a:lstStyle/>
                    <a:p>
                      <a:pPr algn="ctr" fontAlgn="ctr">
                        <a:buNone/>
                      </a:pPr>
                      <a:endParaRPr lang="en-US" altLang="zh-CN" sz="1100" b="0" i="0" u="none" strike="noStrike" dirty="0">
                        <a:solidFill>
                          <a:srgbClr val="000000"/>
                        </a:solidFill>
                        <a:latin typeface="微软雅黑" panose="020B0503020204020204" charset="-122"/>
                        <a:ea typeface="微软雅黑" panose="020B0503020204020204" charset="-122"/>
                      </a:endParaRPr>
                    </a:p>
                  </a:txBody>
                  <a:tcPr marL="6364" marR="6364" marT="6364" marB="0" anchor="ctr"/>
                </a:tc>
                <a:tc>
                  <a:txBody>
                    <a:bodyPr/>
                    <a:lstStyle/>
                    <a:p>
                      <a:pPr indent="0" algn="ctr">
                        <a:buNone/>
                      </a:pPr>
                      <a:endParaRPr lang="en-US" altLang="zh-CN" sz="1100" b="0" dirty="0">
                        <a:solidFill>
                          <a:srgbClr val="000000"/>
                        </a:solidFill>
                        <a:latin typeface="微软雅黑" panose="020B0503020204020204" charset="-122"/>
                        <a:ea typeface="微软雅黑" panose="020B0503020204020204" charset="-122"/>
                      </a:endParaRPr>
                    </a:p>
                  </a:txBody>
                  <a:tcPr marL="12700" marR="12700" marT="12700" anchor="ctr"/>
                </a:tc>
                <a:tc>
                  <a:txBody>
                    <a:bodyPr/>
                    <a:lstStyle/>
                    <a:p>
                      <a:pPr indent="0" algn="ctr">
                        <a:buNone/>
                      </a:pPr>
                      <a:endParaRPr lang="en-US" altLang="zh-CN" sz="1100" b="0" dirty="0">
                        <a:solidFill>
                          <a:srgbClr val="000000"/>
                        </a:solidFill>
                        <a:latin typeface="微软雅黑" panose="020B0503020204020204" charset="-122"/>
                        <a:ea typeface="微软雅黑" panose="020B0503020204020204" charset="-122"/>
                      </a:endParaRPr>
                    </a:p>
                  </a:txBody>
                  <a:tcPr marL="12700" marR="12700" marT="12700" anchor="ctr"/>
                </a:tc>
                <a:tc>
                  <a:txBody>
                    <a:bodyPr/>
                    <a:lstStyle/>
                    <a:p>
                      <a:pPr algn="ctr" fontAlgn="ctr">
                        <a:buNone/>
                      </a:pPr>
                      <a:endParaRPr lang="zh-CN" altLang="en-US" sz="1100" b="0" i="0" u="none" strike="noStrike" dirty="0">
                        <a:solidFill>
                          <a:srgbClr val="000000"/>
                        </a:solidFill>
                        <a:latin typeface="微软雅黑" panose="020B0503020204020204" charset="-122"/>
                        <a:ea typeface="微软雅黑" panose="020B0503020204020204" charset="-122"/>
                      </a:endParaRPr>
                    </a:p>
                  </a:txBody>
                  <a:tcPr marL="6364" marR="6364" marT="6364" marB="0" anchor="ctr"/>
                </a:tc>
              </a:tr>
              <a:tr h="287020">
                <a:tc gridSpan="2">
                  <a:txBody>
                    <a:bodyPr/>
                    <a:lstStyle/>
                    <a:p>
                      <a:pPr marL="0" marR="0" indent="0" algn="ctr" defTabSz="914400" rtl="0" eaLnBrk="1" fontAlgn="ctr" latinLnBrk="0" hangingPunct="1">
                        <a:lnSpc>
                          <a:spcPct val="100000"/>
                        </a:lnSpc>
                        <a:spcBef>
                          <a:spcPts val="0"/>
                        </a:spcBef>
                        <a:spcAft>
                          <a:spcPts val="0"/>
                        </a:spcAft>
                        <a:buClrTx/>
                        <a:buSzTx/>
                        <a:buFontTx/>
                        <a:buNone/>
                        <a:defRPr/>
                      </a:pPr>
                      <a:r>
                        <a:rPr lang="en-US" altLang="zh-CN" sz="1100" b="1" dirty="0">
                          <a:solidFill>
                            <a:srgbClr val="000000"/>
                          </a:solidFill>
                          <a:latin typeface="微软雅黑" panose="020B0503020204020204" charset="-122"/>
                          <a:ea typeface="微软雅黑" panose="020B0503020204020204" charset="-122"/>
                        </a:rPr>
                        <a:t>CT</a:t>
                      </a:r>
                      <a:r>
                        <a:rPr lang="zh-CN" altLang="en-US" sz="1100" b="1" dirty="0">
                          <a:solidFill>
                            <a:srgbClr val="000000"/>
                          </a:solidFill>
                          <a:latin typeface="微软雅黑" panose="020B0503020204020204" charset="-122"/>
                          <a:ea typeface="微软雅黑" panose="020B0503020204020204" charset="-122"/>
                        </a:rPr>
                        <a:t>收入小计</a:t>
                      </a:r>
                      <a:endParaRPr lang="zh-CN" altLang="en-US" sz="1100" b="1" i="0" u="none" strike="noStrike" kern="1200" dirty="0" smtClean="0">
                        <a:solidFill>
                          <a:srgbClr val="000000"/>
                        </a:solidFill>
                        <a:latin typeface="微软雅黑" panose="020B0503020204020204" charset="-122"/>
                        <a:ea typeface="微软雅黑" panose="020B0503020204020204" charset="-122"/>
                        <a:cs typeface="+mn-cs"/>
                      </a:endParaRPr>
                    </a:p>
                  </a:txBody>
                  <a:tcPr marL="6364" marR="6364" marT="6364" marB="0" anchor="ctr"/>
                </a:tc>
                <a:tc hMerge="1">
                  <a:tcPr marL="6364" marR="6364" marT="6364" marB="0" anchor="ctr"/>
                </a:tc>
                <a:tc>
                  <a:txBody>
                    <a:bodyPr/>
                    <a:lstStyle/>
                    <a:p>
                      <a:pPr algn="ctr" fontAlgn="ctr">
                        <a:buNone/>
                      </a:pPr>
                      <a:endParaRPr lang="en-US" altLang="zh-CN" sz="1100" b="0" i="0" u="none" strike="noStrike" dirty="0">
                        <a:solidFill>
                          <a:srgbClr val="000000"/>
                        </a:solidFill>
                        <a:latin typeface="微软雅黑" panose="020B0503020204020204" charset="-122"/>
                        <a:ea typeface="微软雅黑" panose="020B0503020204020204" charset="-122"/>
                      </a:endParaRPr>
                    </a:p>
                  </a:txBody>
                  <a:tcPr marL="6364" marR="6364" marT="6364" marB="0" anchor="ctr"/>
                </a:tc>
                <a:tc>
                  <a:txBody>
                    <a:bodyPr/>
                    <a:lstStyle/>
                    <a:p>
                      <a:pPr indent="0" algn="ctr">
                        <a:buNone/>
                      </a:pPr>
                      <a:endParaRPr lang="en-US" altLang="zh-CN" sz="1100" b="0" dirty="0">
                        <a:solidFill>
                          <a:srgbClr val="000000"/>
                        </a:solidFill>
                        <a:latin typeface="微软雅黑" panose="020B0503020204020204" charset="-122"/>
                        <a:ea typeface="微软雅黑" panose="020B0503020204020204" charset="-122"/>
                      </a:endParaRPr>
                    </a:p>
                  </a:txBody>
                  <a:tcPr marL="12700" marR="12700" marT="12700" anchor="ctr"/>
                </a:tc>
                <a:tc>
                  <a:txBody>
                    <a:bodyPr/>
                    <a:lstStyle/>
                    <a:p>
                      <a:pPr algn="ctr" fontAlgn="ctr">
                        <a:buNone/>
                      </a:pPr>
                      <a:endParaRPr lang="en-US" altLang="zh-CN" sz="1100" b="0" i="0" u="none" strike="noStrike" dirty="0">
                        <a:solidFill>
                          <a:srgbClr val="000000"/>
                        </a:solidFill>
                        <a:latin typeface="微软雅黑" panose="020B0503020204020204" charset="-122"/>
                        <a:ea typeface="微软雅黑" panose="020B0503020204020204" charset="-122"/>
                      </a:endParaRPr>
                    </a:p>
                  </a:txBody>
                  <a:tcPr marL="6364" marR="6364" marT="6364" marB="0" anchor="ctr"/>
                </a:tc>
                <a:tc>
                  <a:txBody>
                    <a:bodyPr/>
                    <a:lstStyle/>
                    <a:p>
                      <a:pPr indent="0" algn="ctr">
                        <a:buNone/>
                      </a:pPr>
                      <a:endParaRPr lang="en-US" altLang="zh-CN" sz="1100" b="0" dirty="0">
                        <a:solidFill>
                          <a:srgbClr val="000000"/>
                        </a:solidFill>
                        <a:latin typeface="微软雅黑" panose="020B0503020204020204" charset="-122"/>
                        <a:ea typeface="微软雅黑" panose="020B0503020204020204" charset="-122"/>
                      </a:endParaRPr>
                    </a:p>
                  </a:txBody>
                  <a:tcPr marL="12700" marR="12700" marT="12700" anchor="ctr"/>
                </a:tc>
                <a:tc>
                  <a:txBody>
                    <a:bodyPr/>
                    <a:lstStyle/>
                    <a:p>
                      <a:pPr indent="0" algn="ctr">
                        <a:buNone/>
                      </a:pPr>
                      <a:endParaRPr lang="en-US" altLang="zh-CN" sz="1100" b="0" dirty="0">
                        <a:solidFill>
                          <a:srgbClr val="000000"/>
                        </a:solidFill>
                        <a:latin typeface="微软雅黑" panose="020B0503020204020204" charset="-122"/>
                        <a:ea typeface="微软雅黑" panose="020B0503020204020204" charset="-122"/>
                      </a:endParaRPr>
                    </a:p>
                  </a:txBody>
                  <a:tcPr marL="12700" marR="12700" marT="12700" anchor="ctr"/>
                </a:tc>
                <a:tc>
                  <a:txBody>
                    <a:bodyPr/>
                    <a:lstStyle/>
                    <a:p>
                      <a:pPr algn="ctr" fontAlgn="ctr">
                        <a:buNone/>
                      </a:pPr>
                      <a:endParaRPr lang="zh-CN" altLang="en-US" sz="1100" b="0" i="0" u="none" strike="noStrike" dirty="0">
                        <a:solidFill>
                          <a:srgbClr val="000000"/>
                        </a:solidFill>
                        <a:latin typeface="微软雅黑" panose="020B0503020204020204" charset="-122"/>
                        <a:ea typeface="微软雅黑" panose="020B0503020204020204" charset="-122"/>
                      </a:endParaRPr>
                    </a:p>
                  </a:txBody>
                  <a:tcPr marL="6364" marR="6364" marT="6364" marB="0" anchor="ctr"/>
                </a:tc>
              </a:tr>
              <a:tr h="212725">
                <a:tc gridSpan="2">
                  <a:txBody>
                    <a:bodyPr/>
                    <a:lstStyle/>
                    <a:p>
                      <a:pPr algn="ctr" fontAlgn="ctr"/>
                      <a:r>
                        <a:rPr lang="zh-CN" altLang="en-US" sz="1100" dirty="0">
                          <a:solidFill>
                            <a:srgbClr val="000000"/>
                          </a:solidFill>
                          <a:latin typeface="微软雅黑" panose="020B0503020204020204" charset="-122"/>
                          <a:ea typeface="微软雅黑" panose="020B0503020204020204" charset="-122"/>
                        </a:rPr>
                        <a:t>合计</a:t>
                      </a:r>
                      <a:endParaRPr lang="zh-CN" altLang="en-US" sz="1100" b="0" kern="1200" dirty="0">
                        <a:solidFill>
                          <a:srgbClr val="000000"/>
                        </a:solidFill>
                        <a:latin typeface="微软雅黑" panose="020B0503020204020204" charset="-122"/>
                        <a:ea typeface="微软雅黑" panose="020B0503020204020204" charset="-122"/>
                        <a:cs typeface="+mn-cs"/>
                      </a:endParaRPr>
                    </a:p>
                  </a:txBody>
                  <a:tcPr marL="6364" marR="6364" marT="6364" marB="0" anchor="ctr"/>
                </a:tc>
                <a:tc hMerge="1">
                  <a:tcPr marL="6364" marR="6364" marT="6364" marB="0" anchor="ctr"/>
                </a:tc>
                <a:tc>
                  <a:txBody>
                    <a:bodyPr/>
                    <a:lstStyle/>
                    <a:p>
                      <a:pPr algn="ctr" fontAlgn="ctr"/>
                      <a:endParaRPr lang="en-US" altLang="zh-CN" sz="1100" b="0" kern="1200" dirty="0">
                        <a:solidFill>
                          <a:srgbClr val="000000"/>
                        </a:solidFill>
                        <a:latin typeface="微软雅黑" panose="020B0503020204020204" charset="-122"/>
                        <a:ea typeface="微软雅黑" panose="020B0503020204020204" charset="-122"/>
                        <a:cs typeface="+mn-cs"/>
                      </a:endParaRPr>
                    </a:p>
                  </a:txBody>
                  <a:tcPr marL="6364" marR="6364" marT="6364" marB="0" anchor="ctr"/>
                </a:tc>
                <a:tc>
                  <a:txBody>
                    <a:bodyPr/>
                    <a:lstStyle/>
                    <a:p>
                      <a:pPr algn="ctr" fontAlgn="ctr"/>
                      <a:endParaRPr lang="en-US" altLang="zh-CN" sz="1100" b="0" kern="1200" dirty="0">
                        <a:solidFill>
                          <a:srgbClr val="000000"/>
                        </a:solidFill>
                        <a:latin typeface="微软雅黑" panose="020B0503020204020204" charset="-122"/>
                        <a:ea typeface="微软雅黑" panose="020B0503020204020204" charset="-122"/>
                        <a:cs typeface="+mn-cs"/>
                        <a:sym typeface="+mn-ea"/>
                      </a:endParaRPr>
                    </a:p>
                  </a:txBody>
                  <a:tcPr marL="6364" marR="6364" marT="6364" marB="0" anchor="ctr"/>
                </a:tc>
                <a:tc>
                  <a:txBody>
                    <a:bodyPr/>
                    <a:lstStyle/>
                    <a:p>
                      <a:pPr algn="ctr" fontAlgn="ctr"/>
                      <a:endParaRPr lang="en-US" altLang="zh-CN" sz="1100" b="0" kern="1200" dirty="0">
                        <a:solidFill>
                          <a:srgbClr val="000000"/>
                        </a:solidFill>
                        <a:latin typeface="微软雅黑" panose="020B0503020204020204" charset="-122"/>
                        <a:ea typeface="微软雅黑" panose="020B0503020204020204" charset="-122"/>
                        <a:cs typeface="+mn-cs"/>
                        <a:sym typeface="+mn-ea"/>
                      </a:endParaRPr>
                    </a:p>
                  </a:txBody>
                  <a:tcPr marL="6364" marR="6364" marT="6364" marB="0" anchor="ctr"/>
                </a:tc>
                <a:tc>
                  <a:txBody>
                    <a:bodyPr/>
                    <a:lstStyle/>
                    <a:p>
                      <a:pPr algn="ctr" fontAlgn="ctr"/>
                      <a:endParaRPr lang="en-US" altLang="zh-CN" sz="1100" b="0" kern="1200" dirty="0">
                        <a:solidFill>
                          <a:srgbClr val="000000"/>
                        </a:solidFill>
                        <a:latin typeface="微软雅黑" panose="020B0503020204020204" charset="-122"/>
                        <a:ea typeface="微软雅黑" panose="020B0503020204020204" charset="-122"/>
                        <a:cs typeface="+mn-cs"/>
                        <a:sym typeface="+mn-ea"/>
                      </a:endParaRPr>
                    </a:p>
                  </a:txBody>
                  <a:tcPr marL="6364" marR="6364" marT="6364" marB="0" anchor="ctr"/>
                </a:tc>
                <a:tc>
                  <a:txBody>
                    <a:bodyPr/>
                    <a:lstStyle/>
                    <a:p>
                      <a:pPr algn="ctr" fontAlgn="ctr"/>
                      <a:endParaRPr lang="en-US" altLang="zh-CN" sz="1100" b="0" kern="1200" dirty="0">
                        <a:solidFill>
                          <a:srgbClr val="000000"/>
                        </a:solidFill>
                        <a:latin typeface="微软雅黑" panose="020B0503020204020204" charset="-122"/>
                        <a:ea typeface="微软雅黑" panose="020B0503020204020204" charset="-122"/>
                        <a:cs typeface="+mn-cs"/>
                        <a:sym typeface="+mn-ea"/>
                      </a:endParaRPr>
                    </a:p>
                  </a:txBody>
                  <a:tcPr marL="6364" marR="6364" marT="6364" marB="0" anchor="ctr"/>
                </a:tc>
                <a:tc>
                  <a:txBody>
                    <a:bodyPr/>
                    <a:lstStyle/>
                    <a:p>
                      <a:pPr algn="l" fontAlgn="ctr"/>
                      <a:endParaRPr lang="zh-CN" altLang="en-US" sz="1100" b="0" i="0" u="none" strike="noStrike" dirty="0">
                        <a:solidFill>
                          <a:srgbClr val="000000"/>
                        </a:solidFill>
                        <a:latin typeface="微软雅黑" panose="020B0503020204020204" charset="-122"/>
                        <a:ea typeface="微软雅黑" panose="020B0503020204020204" charset="-122"/>
                      </a:endParaRPr>
                    </a:p>
                  </a:txBody>
                  <a:tcPr marL="6364" marR="6364" marT="6364" marB="0" anchor="ctr"/>
                </a:tc>
              </a:tr>
            </a:tbl>
          </a:graphicData>
        </a:graphic>
      </p:graphicFrame>
      <p:sp>
        <p:nvSpPr>
          <p:cNvPr id="6" name="Rectangle 4"/>
          <p:cNvSpPr>
            <a:spLocks noChangeArrowheads="1"/>
          </p:cNvSpPr>
          <p:nvPr/>
        </p:nvSpPr>
        <p:spPr bwMode="auto">
          <a:xfrm>
            <a:off x="311155" y="3271395"/>
            <a:ext cx="7092280" cy="338554"/>
          </a:xfrm>
          <a:prstGeom prst="rect">
            <a:avLst/>
          </a:prstGeom>
          <a:gradFill rotWithShape="1">
            <a:gsLst>
              <a:gs pos="0">
                <a:srgbClr val="FFCC99">
                  <a:alpha val="85999"/>
                </a:srgbClr>
              </a:gs>
              <a:gs pos="100000">
                <a:schemeClr val="bg1"/>
              </a:gs>
            </a:gsLst>
            <a:lin ang="0" scaled="1"/>
          </a:gradFill>
          <a:ln>
            <a:noFill/>
          </a:ln>
        </p:spPr>
        <p:txBody>
          <a:bodyPr wrap="square">
            <a:spAutoFit/>
          </a:bodyPr>
          <a:lstStyle/>
          <a:p>
            <a:pPr fontAlgn="base">
              <a:spcBef>
                <a:spcPct val="20000"/>
              </a:spcBef>
              <a:spcAft>
                <a:spcPct val="0"/>
              </a:spcAft>
              <a:buClr>
                <a:srgbClr val="000099"/>
              </a:buClr>
              <a:buSzPct val="75000"/>
              <a:buFont typeface="Wingdings" panose="05000000000000000000" pitchFamily="2" charset="2"/>
              <a:buNone/>
              <a:defRPr/>
            </a:pPr>
            <a:r>
              <a:rPr lang="zh-CN" altLang="en-US" sz="1600" b="1" dirty="0" smtClean="0">
                <a:solidFill>
                  <a:prstClr val="black"/>
                </a:solidFill>
                <a:latin typeface="微软雅黑" panose="020B0503020204020204" charset="-122"/>
                <a:ea typeface="微软雅黑" panose="020B0503020204020204" charset="-122"/>
              </a:rPr>
              <a:t>项目总</a:t>
            </a:r>
            <a:r>
              <a:rPr lang="zh-CN" altLang="en-US" sz="1600" b="1" dirty="0">
                <a:solidFill>
                  <a:prstClr val="black"/>
                </a:solidFill>
                <a:latin typeface="微软雅黑" panose="020B0503020204020204" charset="-122"/>
                <a:ea typeface="微软雅黑" panose="020B0503020204020204" charset="-122"/>
              </a:rPr>
              <a:t>投入</a:t>
            </a:r>
            <a:r>
              <a:rPr lang="zh-CN" altLang="en-US" sz="1600" b="1" dirty="0" smtClean="0">
                <a:solidFill>
                  <a:prstClr val="black"/>
                </a:solidFill>
                <a:latin typeface="微软雅黑" panose="020B0503020204020204" charset="-122"/>
                <a:ea typeface="微软雅黑" panose="020B0503020204020204" charset="-122"/>
              </a:rPr>
              <a:t>：</a:t>
            </a:r>
            <a:r>
              <a:rPr lang="en-US" altLang="zh-CN" sz="1600" b="1" dirty="0" smtClean="0">
                <a:solidFill>
                  <a:srgbClr val="000000"/>
                </a:solidFill>
                <a:latin typeface="微软雅黑" panose="020B0503020204020204" charset="-122"/>
                <a:ea typeface="微软雅黑" panose="020B0503020204020204" charset="-122"/>
                <a:sym typeface="+mn-ea"/>
              </a:rPr>
              <a:t>XXXXX</a:t>
            </a:r>
            <a:r>
              <a:rPr lang="zh-CN" altLang="en-US" sz="1600" b="1" dirty="0" smtClean="0">
                <a:solidFill>
                  <a:prstClr val="black"/>
                </a:solidFill>
                <a:latin typeface="微软雅黑" panose="020B0503020204020204" charset="-122"/>
                <a:ea typeface="微软雅黑" panose="020B0503020204020204" charset="-122"/>
              </a:rPr>
              <a:t>元</a:t>
            </a:r>
            <a:r>
              <a:rPr lang="zh-CN" altLang="en-US" sz="1600" b="1" dirty="0">
                <a:solidFill>
                  <a:prstClr val="black"/>
                </a:solidFill>
                <a:latin typeface="微软雅黑" panose="020B0503020204020204" charset="-122"/>
                <a:ea typeface="微软雅黑" panose="020B0503020204020204" charset="-122"/>
              </a:rPr>
              <a:t>（不含税</a:t>
            </a:r>
            <a:r>
              <a:rPr lang="zh-CN" altLang="en-US" sz="1600" b="1" dirty="0" smtClean="0">
                <a:solidFill>
                  <a:prstClr val="black"/>
                </a:solidFill>
                <a:latin typeface="微软雅黑" panose="020B0503020204020204" charset="-122"/>
                <a:ea typeface="微软雅黑" panose="020B0503020204020204" charset="-122"/>
              </a:rPr>
              <a:t>）、</a:t>
            </a:r>
            <a:r>
              <a:rPr lang="en-US" altLang="zh-CN" sz="1600" b="1" dirty="0">
                <a:solidFill>
                  <a:prstClr val="black"/>
                </a:solidFill>
                <a:latin typeface="微软雅黑" panose="020B0503020204020204" charset="-122"/>
                <a:ea typeface="微软雅黑" panose="020B0503020204020204" charset="-122"/>
              </a:rPr>
              <a:t> </a:t>
            </a:r>
            <a:r>
              <a:rPr lang="en-US" altLang="zh-CN" sz="1600" b="1" dirty="0" smtClean="0">
                <a:solidFill>
                  <a:prstClr val="black"/>
                </a:solidFill>
                <a:latin typeface="微软雅黑" panose="020B0503020204020204" charset="-122"/>
                <a:ea typeface="微软雅黑" panose="020B0503020204020204" charset="-122"/>
              </a:rPr>
              <a:t>XXXXX</a:t>
            </a:r>
            <a:r>
              <a:rPr lang="zh-CN" altLang="en-US" sz="1600" b="1" dirty="0" smtClean="0">
                <a:solidFill>
                  <a:prstClr val="black"/>
                </a:solidFill>
                <a:latin typeface="微软雅黑" panose="020B0503020204020204" charset="-122"/>
                <a:ea typeface="微软雅黑" panose="020B0503020204020204" charset="-122"/>
                <a:sym typeface="+mn-ea"/>
              </a:rPr>
              <a:t>元</a:t>
            </a:r>
            <a:r>
              <a:rPr lang="zh-CN" altLang="en-US" sz="1600" b="1" dirty="0">
                <a:solidFill>
                  <a:prstClr val="black"/>
                </a:solidFill>
                <a:latin typeface="微软雅黑" panose="020B0503020204020204" charset="-122"/>
                <a:ea typeface="微软雅黑" panose="020B0503020204020204" charset="-122"/>
                <a:sym typeface="+mn-ea"/>
              </a:rPr>
              <a:t>（含税）</a:t>
            </a:r>
            <a:endParaRPr lang="zh-CN" altLang="en-US" sz="1600" b="1" dirty="0">
              <a:solidFill>
                <a:prstClr val="black"/>
              </a:solidFill>
              <a:latin typeface="微软雅黑" panose="020B0503020204020204" charset="-122"/>
              <a:ea typeface="微软雅黑" panose="020B0503020204020204" charset="-122"/>
            </a:endParaRPr>
          </a:p>
        </p:txBody>
      </p:sp>
      <p:graphicFrame>
        <p:nvGraphicFramePr>
          <p:cNvPr id="13" name="表格 12"/>
          <p:cNvGraphicFramePr>
            <a:graphicFrameLocks noGrp="1"/>
          </p:cNvGraphicFramePr>
          <p:nvPr>
            <p:custDataLst>
              <p:tags r:id="rId3"/>
            </p:custDataLst>
          </p:nvPr>
        </p:nvGraphicFramePr>
        <p:xfrm>
          <a:off x="311150" y="3651250"/>
          <a:ext cx="11184255" cy="2148205"/>
        </p:xfrm>
        <a:graphic>
          <a:graphicData uri="http://schemas.openxmlformats.org/drawingml/2006/table">
            <a:tbl>
              <a:tblPr firstRow="1" bandRow="1">
                <a:tableStyleId>{5C22544A-7EE6-4342-B048-85BDC9FD1C3A}</a:tableStyleId>
              </a:tblPr>
              <a:tblGrid>
                <a:gridCol w="2056130"/>
                <a:gridCol w="3231515"/>
                <a:gridCol w="1729105"/>
                <a:gridCol w="775970"/>
                <a:gridCol w="2073275"/>
                <a:gridCol w="1318260"/>
              </a:tblGrid>
              <a:tr h="244475">
                <a:tc>
                  <a:txBody>
                    <a:bodyPr/>
                    <a:lstStyle/>
                    <a:p>
                      <a:pPr algn="ctr" fontAlgn="ctr">
                        <a:lnSpc>
                          <a:spcPct val="100000"/>
                        </a:lnSpc>
                      </a:pPr>
                      <a:r>
                        <a:rPr lang="zh-CN" altLang="en-US" sz="1400" u="none" strike="noStrike" dirty="0" smtClean="0">
                          <a:latin typeface="微软雅黑" panose="020B0503020204020204" charset="-122"/>
                          <a:ea typeface="微软雅黑" panose="020B0503020204020204" charset="-122"/>
                        </a:rPr>
                        <a:t>投入分类                                  </a:t>
                      </a:r>
                      <a:endParaRPr lang="zh-CN" altLang="en-US" sz="1400" b="0" i="0" u="none" strike="noStrike" dirty="0">
                        <a:solidFill>
                          <a:srgbClr val="000000"/>
                        </a:solidFill>
                        <a:latin typeface="微软雅黑" panose="020B0503020204020204" charset="-122"/>
                        <a:ea typeface="微软雅黑" panose="020B0503020204020204" charset="-122"/>
                      </a:endParaRPr>
                    </a:p>
                  </a:txBody>
                  <a:tcPr marL="9525" marR="9525" marT="9525" marB="0" anchor="ctr"/>
                </a:tc>
                <a:tc>
                  <a:txBody>
                    <a:bodyPr/>
                    <a:lstStyle/>
                    <a:p>
                      <a:pPr algn="ctr"/>
                      <a:r>
                        <a:rPr lang="zh-CN" altLang="en-US" sz="1400" dirty="0">
                          <a:latin typeface="微软雅黑" panose="020B0503020204020204" charset="-122"/>
                          <a:ea typeface="微软雅黑" panose="020B0503020204020204" charset="-122"/>
                        </a:rPr>
                        <a:t>具体内容</a:t>
                      </a:r>
                      <a:endParaRPr lang="zh-CN" altLang="en-US" sz="1400" dirty="0">
                        <a:latin typeface="微软雅黑" panose="020B0503020204020204" charset="-122"/>
                        <a:ea typeface="微软雅黑" panose="020B0503020204020204" charset="-122"/>
                      </a:endParaRPr>
                    </a:p>
                  </a:txBody>
                  <a:tcPr marL="9525" marR="9525" marT="9525" marB="0" anchor="ctr"/>
                </a:tc>
                <a:tc>
                  <a:txBody>
                    <a:bodyPr/>
                    <a:lstStyle/>
                    <a:p>
                      <a:pPr algn="ctr" fontAlgn="ctr"/>
                      <a:r>
                        <a:rPr lang="zh-CN" altLang="en-US" sz="1400" u="none" strike="noStrike" dirty="0" smtClean="0">
                          <a:latin typeface="微软雅黑" panose="020B0503020204020204" charset="-122"/>
                          <a:ea typeface="微软雅黑" panose="020B0503020204020204" charset="-122"/>
                        </a:rPr>
                        <a:t>金额（不含税</a:t>
                      </a:r>
                      <a:r>
                        <a:rPr lang="en-US" altLang="zh-CN" sz="1400" u="none" strike="noStrike" dirty="0" smtClean="0">
                          <a:latin typeface="微软雅黑" panose="020B0503020204020204" charset="-122"/>
                          <a:ea typeface="微软雅黑" panose="020B0503020204020204" charset="-122"/>
                        </a:rPr>
                        <a:t>/</a:t>
                      </a:r>
                      <a:r>
                        <a:rPr lang="zh-CN" altLang="en-US" sz="1400" u="none" strike="noStrike" dirty="0" smtClean="0">
                          <a:latin typeface="微软雅黑" panose="020B0503020204020204" charset="-122"/>
                          <a:ea typeface="微软雅黑" panose="020B0503020204020204" charset="-122"/>
                        </a:rPr>
                        <a:t>元）</a:t>
                      </a:r>
                      <a:endParaRPr lang="zh-CN" altLang="en-US" sz="1400" b="0" i="0" u="none" strike="noStrike" dirty="0">
                        <a:solidFill>
                          <a:srgbClr val="000000"/>
                        </a:solidFill>
                        <a:latin typeface="微软雅黑" panose="020B0503020204020204" charset="-122"/>
                        <a:ea typeface="微软雅黑" panose="020B0503020204020204" charset="-122"/>
                      </a:endParaRPr>
                    </a:p>
                  </a:txBody>
                  <a:tcPr marL="6364" marR="6364" marT="6364" marB="0" anchor="ctr"/>
                </a:tc>
                <a:tc>
                  <a:txBody>
                    <a:bodyPr/>
                    <a:lstStyle/>
                    <a:p>
                      <a:pPr algn="ctr" fontAlgn="ctr"/>
                      <a:r>
                        <a:rPr lang="zh-CN" altLang="en-US" sz="1400" b="1" u="none" strike="noStrike" kern="1200" dirty="0">
                          <a:solidFill>
                            <a:schemeClr val="lt1"/>
                          </a:solidFill>
                          <a:latin typeface="微软雅黑" panose="020B0503020204020204" charset="-122"/>
                          <a:ea typeface="微软雅黑" panose="020B0503020204020204" charset="-122"/>
                          <a:cs typeface="+mn-cs"/>
                        </a:rPr>
                        <a:t>税率</a:t>
                      </a:r>
                      <a:endParaRPr lang="zh-CN" altLang="en-US" sz="1400" b="1" u="none" strike="noStrike" kern="1200" dirty="0">
                        <a:solidFill>
                          <a:schemeClr val="lt1"/>
                        </a:solidFill>
                        <a:latin typeface="微软雅黑" panose="020B0503020204020204" charset="-122"/>
                        <a:ea typeface="微软雅黑" panose="020B0503020204020204" charset="-122"/>
                        <a:cs typeface="+mn-cs"/>
                      </a:endParaRPr>
                    </a:p>
                  </a:txBody>
                  <a:tcPr marL="6364" marR="6364" marT="6364" marB="0" anchor="ctr"/>
                </a:tc>
                <a:tc>
                  <a:txBody>
                    <a:bodyPr/>
                    <a:lstStyle/>
                    <a:p>
                      <a:pPr marL="0" marR="0" indent="0" algn="ctr" defTabSz="914400" rtl="0" eaLnBrk="1" fontAlgn="ctr" latinLnBrk="0" hangingPunct="1">
                        <a:lnSpc>
                          <a:spcPct val="100000"/>
                        </a:lnSpc>
                        <a:spcBef>
                          <a:spcPts val="0"/>
                        </a:spcBef>
                        <a:spcAft>
                          <a:spcPts val="0"/>
                        </a:spcAft>
                        <a:buClrTx/>
                        <a:buSzTx/>
                        <a:buFontTx/>
                        <a:buNone/>
                        <a:defRPr/>
                      </a:pPr>
                      <a:r>
                        <a:rPr lang="zh-CN" altLang="en-US" sz="1400" u="none" strike="noStrike" dirty="0" smtClean="0">
                          <a:latin typeface="微软雅黑" panose="020B0503020204020204" charset="-122"/>
                          <a:ea typeface="微软雅黑" panose="020B0503020204020204" charset="-122"/>
                        </a:rPr>
                        <a:t>金额（含税</a:t>
                      </a:r>
                      <a:r>
                        <a:rPr lang="en-US" altLang="zh-CN" sz="1400" u="none" strike="noStrike" dirty="0" smtClean="0">
                          <a:latin typeface="微软雅黑" panose="020B0503020204020204" charset="-122"/>
                          <a:ea typeface="微软雅黑" panose="020B0503020204020204" charset="-122"/>
                        </a:rPr>
                        <a:t>/</a:t>
                      </a:r>
                      <a:r>
                        <a:rPr lang="zh-CN" altLang="en-US" sz="1400" u="none" strike="noStrike" dirty="0" smtClean="0">
                          <a:latin typeface="微软雅黑" panose="020B0503020204020204" charset="-122"/>
                          <a:ea typeface="微软雅黑" panose="020B0503020204020204" charset="-122"/>
                        </a:rPr>
                        <a:t>元）</a:t>
                      </a:r>
                      <a:endParaRPr lang="zh-CN" altLang="en-US" sz="1400" b="0" i="0" u="none" strike="noStrike" dirty="0" smtClean="0">
                        <a:solidFill>
                          <a:srgbClr val="000000"/>
                        </a:solidFill>
                        <a:latin typeface="微软雅黑" panose="020B0503020204020204" charset="-122"/>
                        <a:ea typeface="微软雅黑" panose="020B0503020204020204" charset="-122"/>
                      </a:endParaRPr>
                    </a:p>
                  </a:txBody>
                  <a:tcPr marL="6364" marR="6364" marT="6364" marB="0" anchor="ctr"/>
                </a:tc>
                <a:tc>
                  <a:txBody>
                    <a:bodyPr/>
                    <a:lstStyle/>
                    <a:p>
                      <a:pPr algn="ctr" fontAlgn="ctr"/>
                      <a:r>
                        <a:rPr lang="zh-CN" altLang="en-US" sz="1400" u="none" strike="noStrike" dirty="0" smtClean="0">
                          <a:latin typeface="微软雅黑" panose="020B0503020204020204" charset="-122"/>
                          <a:ea typeface="微软雅黑" panose="020B0503020204020204" charset="-122"/>
                        </a:rPr>
                        <a:t>备注</a:t>
                      </a:r>
                      <a:endParaRPr lang="en-US" altLang="zh-CN" sz="1400" u="none" strike="noStrike" dirty="0" smtClean="0">
                        <a:latin typeface="微软雅黑" panose="020B0503020204020204" charset="-122"/>
                        <a:ea typeface="微软雅黑" panose="020B0503020204020204" charset="-122"/>
                      </a:endParaRPr>
                    </a:p>
                  </a:txBody>
                  <a:tcPr marL="6364" marR="6364" marT="6364" marB="0" anchor="ctr"/>
                </a:tc>
              </a:tr>
              <a:tr h="272415">
                <a:tc>
                  <a:txBody>
                    <a:bodyPr/>
                    <a:lstStyle/>
                    <a:p>
                      <a:pPr algn="ctr" fontAlgn="ctr">
                        <a:lnSpc>
                          <a:spcPct val="100000"/>
                        </a:lnSpc>
                        <a:buClrTx/>
                        <a:buSzTx/>
                        <a:buFontTx/>
                      </a:pPr>
                      <a:r>
                        <a:rPr lang="en-US" altLang="zh-CN" sz="1100" b="0" i="0" u="none" strike="noStrike" dirty="0" smtClean="0">
                          <a:solidFill>
                            <a:srgbClr val="000000"/>
                          </a:solidFill>
                          <a:latin typeface="微软雅黑" panose="020B0503020204020204" charset="-122"/>
                          <a:ea typeface="微软雅黑" panose="020B0503020204020204" charset="-122"/>
                        </a:rPr>
                        <a:t>IT-建设</a:t>
                      </a:r>
                      <a:endParaRPr lang="en-US" altLang="zh-CN" sz="1100" b="0" i="0" u="none" strike="noStrike" dirty="0" smtClean="0">
                        <a:solidFill>
                          <a:srgbClr val="000000"/>
                        </a:solidFill>
                        <a:latin typeface="微软雅黑" panose="020B0503020204020204" charset="-122"/>
                        <a:ea typeface="微软雅黑" panose="020B0503020204020204" charset="-122"/>
                      </a:endParaRPr>
                    </a:p>
                  </a:txBody>
                  <a:tcPr marL="9525" marR="9525" marT="9525" marB="0" anchor="ctr"/>
                </a:tc>
                <a:tc>
                  <a:txBody>
                    <a:bodyPr/>
                    <a:lstStyle/>
                    <a:p>
                      <a:pPr algn="ctr" fontAlgn="ctr">
                        <a:buClrTx/>
                        <a:buSzTx/>
                        <a:buFontTx/>
                      </a:pPr>
                      <a:r>
                        <a:rPr lang="en-US" altLang="zh-CN" sz="1100" dirty="0" smtClean="0">
                          <a:solidFill>
                            <a:srgbClr val="000000"/>
                          </a:solidFill>
                          <a:latin typeface="微软雅黑" panose="020B0503020204020204" charset="-122"/>
                          <a:ea typeface="微软雅黑" panose="020B0503020204020204" charset="-122"/>
                        </a:rPr>
                        <a:t>涉及细分场景的，请简单描述</a:t>
                      </a:r>
                      <a:endParaRPr lang="en-US" altLang="zh-CN" sz="1100" dirty="0" smtClean="0">
                        <a:solidFill>
                          <a:srgbClr val="000000"/>
                        </a:solidFill>
                        <a:latin typeface="微软雅黑" panose="020B0503020204020204" charset="-122"/>
                        <a:ea typeface="微软雅黑" panose="020B0503020204020204" charset="-122"/>
                      </a:endParaRPr>
                    </a:p>
                  </a:txBody>
                  <a:tcPr marL="9525" marR="9525" marT="9525" marB="0" anchor="ctr"/>
                </a:tc>
                <a:tc>
                  <a:txBody>
                    <a:bodyPr/>
                    <a:lstStyle/>
                    <a:p>
                      <a:pPr algn="ctr" fontAlgn="ctr"/>
                      <a:endParaRPr lang="zh-CN" altLang="en-US" sz="1200" b="0" i="0" u="none" strike="noStrike" dirty="0">
                        <a:solidFill>
                          <a:srgbClr val="000000"/>
                        </a:solidFill>
                        <a:latin typeface="微软雅黑" panose="020B0503020204020204" charset="-122"/>
                        <a:ea typeface="微软雅黑" panose="020B0503020204020204" charset="-122"/>
                      </a:endParaRPr>
                    </a:p>
                  </a:txBody>
                  <a:tcPr marL="6364" marR="6364" marT="6364" marB="0" anchor="ctr"/>
                </a:tc>
                <a:tc>
                  <a:txBody>
                    <a:bodyPr/>
                    <a:lstStyle/>
                    <a:p>
                      <a:pPr algn="ctr" fontAlgn="ctr"/>
                      <a:endParaRPr lang="zh-CN" altLang="en-US" sz="1200" b="1" u="none" strike="noStrike" kern="1200" dirty="0">
                        <a:solidFill>
                          <a:schemeClr val="lt1"/>
                        </a:solidFill>
                        <a:latin typeface="微软雅黑" panose="020B0503020204020204" charset="-122"/>
                        <a:ea typeface="微软雅黑" panose="020B0503020204020204" charset="-122"/>
                        <a:cs typeface="+mn-cs"/>
                      </a:endParaRPr>
                    </a:p>
                  </a:txBody>
                  <a:tcPr marL="6364" marR="6364" marT="6364" marB="0" anchor="ctr"/>
                </a:tc>
                <a:tc>
                  <a:txBody>
                    <a:bodyPr/>
                    <a:lstStyle/>
                    <a:p>
                      <a:pPr marL="0" marR="0" indent="0" algn="ctr" defTabSz="914400" rtl="0" eaLnBrk="1" fontAlgn="ctr" latinLnBrk="0" hangingPunct="1">
                        <a:lnSpc>
                          <a:spcPct val="100000"/>
                        </a:lnSpc>
                        <a:spcBef>
                          <a:spcPts val="0"/>
                        </a:spcBef>
                        <a:spcAft>
                          <a:spcPts val="0"/>
                        </a:spcAft>
                        <a:buClrTx/>
                        <a:buSzTx/>
                        <a:buFontTx/>
                        <a:buNone/>
                        <a:defRPr/>
                      </a:pPr>
                      <a:endParaRPr lang="zh-CN" altLang="en-US" sz="1200" b="0" i="0" u="none" strike="noStrike" dirty="0" smtClean="0">
                        <a:solidFill>
                          <a:srgbClr val="000000"/>
                        </a:solidFill>
                        <a:latin typeface="微软雅黑" panose="020B0503020204020204" charset="-122"/>
                        <a:ea typeface="微软雅黑" panose="020B0503020204020204" charset="-122"/>
                      </a:endParaRPr>
                    </a:p>
                  </a:txBody>
                  <a:tcPr marL="6364" marR="6364" marT="6364" marB="0" anchor="ctr"/>
                </a:tc>
                <a:tc>
                  <a:txBody>
                    <a:bodyPr/>
                    <a:lstStyle/>
                    <a:p>
                      <a:pPr algn="ctr" fontAlgn="ctr"/>
                      <a:endParaRPr lang="zh-CN" altLang="en-US" sz="1200" u="none" strike="noStrike" dirty="0" smtClean="0">
                        <a:latin typeface="微软雅黑" panose="020B0503020204020204" charset="-122"/>
                        <a:ea typeface="微软雅黑" panose="020B0503020204020204" charset="-122"/>
                      </a:endParaRPr>
                    </a:p>
                  </a:txBody>
                  <a:tcPr marL="6364" marR="6364" marT="6364" marB="0" anchor="ctr"/>
                </a:tc>
              </a:tr>
              <a:tr h="244475">
                <a:tc>
                  <a:txBody>
                    <a:bodyPr/>
                    <a:lstStyle/>
                    <a:p>
                      <a:pPr algn="ctr" fontAlgn="ctr">
                        <a:lnSpc>
                          <a:spcPct val="100000"/>
                        </a:lnSpc>
                        <a:buClrTx/>
                        <a:buSzTx/>
                        <a:buFontTx/>
                      </a:pPr>
                      <a:r>
                        <a:rPr lang="en-US" altLang="zh-CN" sz="1100" b="0" i="0" u="none" strike="noStrike" dirty="0" smtClean="0">
                          <a:solidFill>
                            <a:srgbClr val="000000"/>
                          </a:solidFill>
                          <a:latin typeface="微软雅黑" panose="020B0503020204020204" charset="-122"/>
                          <a:ea typeface="微软雅黑" panose="020B0503020204020204" charset="-122"/>
                        </a:rPr>
                        <a:t>IT-维护</a:t>
                      </a:r>
                      <a:endParaRPr lang="en-US" altLang="zh-CN" sz="1100" b="0" i="0" u="none" strike="noStrike" dirty="0" smtClean="0">
                        <a:solidFill>
                          <a:srgbClr val="000000"/>
                        </a:solidFill>
                        <a:latin typeface="微软雅黑" panose="020B0503020204020204" charset="-122"/>
                        <a:ea typeface="微软雅黑" panose="020B0503020204020204" charset="-122"/>
                      </a:endParaRPr>
                    </a:p>
                  </a:txBody>
                  <a:tcPr marL="9525" marR="9525" marT="9525" marB="0" anchor="ctr"/>
                </a:tc>
                <a:tc>
                  <a:txBody>
                    <a:bodyPr/>
                    <a:lstStyle/>
                    <a:p>
                      <a:pPr algn="ctr"/>
                      <a:endParaRPr lang="zh-CN" altLang="en-US" sz="1200" dirty="0">
                        <a:latin typeface="微软雅黑" panose="020B0503020204020204" charset="-122"/>
                        <a:ea typeface="微软雅黑" panose="020B0503020204020204" charset="-122"/>
                      </a:endParaRPr>
                    </a:p>
                  </a:txBody>
                  <a:tcPr marL="9525" marR="9525" marT="9525" marB="0" anchor="ctr"/>
                </a:tc>
                <a:tc>
                  <a:txBody>
                    <a:bodyPr/>
                    <a:lstStyle/>
                    <a:p>
                      <a:pPr algn="ctr" fontAlgn="ctr"/>
                      <a:endParaRPr lang="zh-CN" altLang="en-US" sz="1200" b="0" i="0" u="none" strike="noStrike" dirty="0">
                        <a:solidFill>
                          <a:srgbClr val="000000"/>
                        </a:solidFill>
                        <a:latin typeface="微软雅黑" panose="020B0503020204020204" charset="-122"/>
                        <a:ea typeface="微软雅黑" panose="020B0503020204020204" charset="-122"/>
                      </a:endParaRPr>
                    </a:p>
                  </a:txBody>
                  <a:tcPr marL="6364" marR="6364" marT="6364" marB="0" anchor="ctr"/>
                </a:tc>
                <a:tc>
                  <a:txBody>
                    <a:bodyPr/>
                    <a:lstStyle/>
                    <a:p>
                      <a:pPr algn="ctr" fontAlgn="ctr"/>
                      <a:endParaRPr lang="zh-CN" altLang="en-US" sz="1200" b="1" u="none" strike="noStrike" kern="1200" dirty="0">
                        <a:solidFill>
                          <a:schemeClr val="lt1"/>
                        </a:solidFill>
                        <a:latin typeface="微软雅黑" panose="020B0503020204020204" charset="-122"/>
                        <a:ea typeface="微软雅黑" panose="020B0503020204020204" charset="-122"/>
                        <a:cs typeface="+mn-cs"/>
                      </a:endParaRPr>
                    </a:p>
                  </a:txBody>
                  <a:tcPr marL="6364" marR="6364" marT="6364" marB="0" anchor="ctr"/>
                </a:tc>
                <a:tc>
                  <a:txBody>
                    <a:bodyPr/>
                    <a:lstStyle/>
                    <a:p>
                      <a:pPr marL="0" marR="0" indent="0" algn="ctr" defTabSz="914400" rtl="0" eaLnBrk="1" fontAlgn="ctr" latinLnBrk="0" hangingPunct="1">
                        <a:lnSpc>
                          <a:spcPct val="100000"/>
                        </a:lnSpc>
                        <a:spcBef>
                          <a:spcPts val="0"/>
                        </a:spcBef>
                        <a:spcAft>
                          <a:spcPts val="0"/>
                        </a:spcAft>
                        <a:buClrTx/>
                        <a:buSzTx/>
                        <a:buFontTx/>
                        <a:buNone/>
                        <a:defRPr/>
                      </a:pPr>
                      <a:endParaRPr lang="zh-CN" altLang="en-US" sz="1200" b="0" i="0" u="none" strike="noStrike" dirty="0" smtClean="0">
                        <a:solidFill>
                          <a:srgbClr val="000000"/>
                        </a:solidFill>
                        <a:latin typeface="微软雅黑" panose="020B0503020204020204" charset="-122"/>
                        <a:ea typeface="微软雅黑" panose="020B0503020204020204" charset="-122"/>
                      </a:endParaRPr>
                    </a:p>
                  </a:txBody>
                  <a:tcPr marL="6364" marR="6364" marT="6364" marB="0" anchor="ctr"/>
                </a:tc>
                <a:tc>
                  <a:txBody>
                    <a:bodyPr/>
                    <a:lstStyle/>
                    <a:p>
                      <a:pPr algn="ctr" fontAlgn="ctr"/>
                      <a:endParaRPr lang="en-US" altLang="zh-CN" sz="1200" u="none" strike="noStrike" dirty="0" smtClean="0">
                        <a:latin typeface="微软雅黑" panose="020B0503020204020204" charset="-122"/>
                        <a:ea typeface="微软雅黑" panose="020B0503020204020204" charset="-122"/>
                      </a:endParaRPr>
                    </a:p>
                  </a:txBody>
                  <a:tcPr marL="6364" marR="6364" marT="6364" marB="0" anchor="ctr"/>
                </a:tc>
              </a:tr>
              <a:tr h="234950">
                <a:tc>
                  <a:txBody>
                    <a:bodyPr/>
                    <a:lstStyle/>
                    <a:p>
                      <a:pPr algn="ctr" fontAlgn="ctr">
                        <a:lnSpc>
                          <a:spcPct val="100000"/>
                        </a:lnSpc>
                        <a:buClrTx/>
                        <a:buSzTx/>
                        <a:buFontTx/>
                        <a:buNone/>
                      </a:pPr>
                      <a:r>
                        <a:rPr lang="en-US" altLang="zh-CN" sz="1100" b="1" i="0" u="none" strike="noStrike" dirty="0" smtClean="0">
                          <a:solidFill>
                            <a:srgbClr val="000000"/>
                          </a:solidFill>
                          <a:latin typeface="微软雅黑" panose="020B0503020204020204" charset="-122"/>
                          <a:ea typeface="微软雅黑" panose="020B0503020204020204" charset="-122"/>
                        </a:rPr>
                        <a:t>IT支出小计</a:t>
                      </a:r>
                      <a:endParaRPr lang="en-US" altLang="zh-CN" sz="1100" b="1" i="0" u="none" strike="noStrike" dirty="0" smtClean="0">
                        <a:solidFill>
                          <a:srgbClr val="000000"/>
                        </a:solidFill>
                        <a:latin typeface="微软雅黑" panose="020B0503020204020204" charset="-122"/>
                        <a:ea typeface="微软雅黑" panose="020B0503020204020204" charset="-122"/>
                      </a:endParaRPr>
                    </a:p>
                  </a:txBody>
                  <a:tcPr marL="9525" marR="9525" marT="9525" marB="0" anchor="ctr"/>
                </a:tc>
                <a:tc>
                  <a:txBody>
                    <a:bodyPr/>
                    <a:lstStyle/>
                    <a:p>
                      <a:pPr algn="ctr">
                        <a:buNone/>
                      </a:pPr>
                      <a:endParaRPr lang="zh-CN" altLang="en-US" sz="1200" dirty="0">
                        <a:latin typeface="微软雅黑" panose="020B0503020204020204" charset="-122"/>
                        <a:ea typeface="微软雅黑" panose="020B0503020204020204" charset="-122"/>
                      </a:endParaRPr>
                    </a:p>
                  </a:txBody>
                  <a:tcPr marL="9525" marR="9525" marT="9525" marB="0" anchor="ctr"/>
                </a:tc>
                <a:tc>
                  <a:txBody>
                    <a:bodyPr/>
                    <a:lstStyle/>
                    <a:p>
                      <a:pPr algn="ctr" fontAlgn="ctr">
                        <a:buNone/>
                      </a:pPr>
                      <a:endParaRPr lang="zh-CN" altLang="en-US" sz="1200" b="0" i="0" u="none" strike="noStrike" dirty="0">
                        <a:solidFill>
                          <a:srgbClr val="000000"/>
                        </a:solidFill>
                        <a:latin typeface="微软雅黑" panose="020B0503020204020204" charset="-122"/>
                        <a:ea typeface="微软雅黑" panose="020B0503020204020204" charset="-122"/>
                      </a:endParaRPr>
                    </a:p>
                  </a:txBody>
                  <a:tcPr marL="6364" marR="6364" marT="6364" marB="0" anchor="ctr"/>
                </a:tc>
                <a:tc>
                  <a:txBody>
                    <a:bodyPr/>
                    <a:lstStyle/>
                    <a:p>
                      <a:pPr algn="ctr" fontAlgn="ctr">
                        <a:buNone/>
                      </a:pPr>
                      <a:endParaRPr lang="zh-CN" altLang="en-US" sz="1200" b="1" u="none" strike="noStrike" kern="1200" dirty="0">
                        <a:solidFill>
                          <a:schemeClr val="lt1"/>
                        </a:solidFill>
                        <a:latin typeface="微软雅黑" panose="020B0503020204020204" charset="-122"/>
                        <a:ea typeface="微软雅黑" panose="020B0503020204020204" charset="-122"/>
                        <a:cs typeface="+mn-cs"/>
                      </a:endParaRPr>
                    </a:p>
                  </a:txBody>
                  <a:tcPr marL="6364" marR="6364" marT="6364" marB="0" anchor="ctr"/>
                </a:tc>
                <a:tc>
                  <a:txBody>
                    <a:bodyPr/>
                    <a:lstStyle/>
                    <a:p>
                      <a:pPr marL="0" marR="0" indent="0" algn="ctr" defTabSz="914400" rtl="0" eaLnBrk="1" fontAlgn="ctr" latinLnBrk="0" hangingPunct="1">
                        <a:lnSpc>
                          <a:spcPct val="100000"/>
                        </a:lnSpc>
                        <a:spcBef>
                          <a:spcPts val="0"/>
                        </a:spcBef>
                        <a:spcAft>
                          <a:spcPts val="0"/>
                        </a:spcAft>
                        <a:buClrTx/>
                        <a:buSzTx/>
                        <a:buFontTx/>
                        <a:buNone/>
                        <a:defRPr/>
                      </a:pPr>
                      <a:endParaRPr lang="zh-CN" altLang="en-US" sz="1200" b="0" i="0" u="none" strike="noStrike" dirty="0" smtClean="0">
                        <a:solidFill>
                          <a:srgbClr val="000000"/>
                        </a:solidFill>
                        <a:latin typeface="微软雅黑" panose="020B0503020204020204" charset="-122"/>
                        <a:ea typeface="微软雅黑" panose="020B0503020204020204" charset="-122"/>
                      </a:endParaRPr>
                    </a:p>
                  </a:txBody>
                  <a:tcPr marL="6364" marR="6364" marT="6364" marB="0" anchor="ctr"/>
                </a:tc>
                <a:tc>
                  <a:txBody>
                    <a:bodyPr/>
                    <a:lstStyle/>
                    <a:p>
                      <a:pPr algn="ctr" fontAlgn="ctr">
                        <a:buNone/>
                      </a:pPr>
                      <a:endParaRPr lang="en-US" altLang="zh-CN" sz="1200" u="none" strike="noStrike" dirty="0" smtClean="0">
                        <a:latin typeface="微软雅黑" panose="020B0503020204020204" charset="-122"/>
                        <a:ea typeface="微软雅黑" panose="020B0503020204020204" charset="-122"/>
                      </a:endParaRPr>
                    </a:p>
                  </a:txBody>
                  <a:tcPr marL="6364" marR="6364" marT="6364" marB="0" anchor="ctr"/>
                </a:tc>
              </a:tr>
              <a:tr h="0">
                <a:tc>
                  <a:txBody>
                    <a:bodyPr/>
                    <a:lstStyle/>
                    <a:p>
                      <a:pPr algn="ctr" fontAlgn="ctr">
                        <a:lnSpc>
                          <a:spcPct val="100000"/>
                        </a:lnSpc>
                        <a:buClrTx/>
                        <a:buSzTx/>
                        <a:buFontTx/>
                      </a:pPr>
                      <a:r>
                        <a:rPr lang="en-US" altLang="zh-CN" sz="1100" b="0" i="0" u="none" strike="noStrike" dirty="0" smtClean="0">
                          <a:solidFill>
                            <a:srgbClr val="000000"/>
                          </a:solidFill>
                          <a:latin typeface="微软雅黑" panose="020B0503020204020204" charset="-122"/>
                          <a:ea typeface="微软雅黑" panose="020B0503020204020204" charset="-122"/>
                        </a:rPr>
                        <a:t>CT-专线建设</a:t>
                      </a:r>
                      <a:endParaRPr lang="en-US" altLang="zh-CN" sz="1100" b="0" i="0" u="none" strike="noStrike" dirty="0" smtClean="0">
                        <a:solidFill>
                          <a:srgbClr val="000000"/>
                        </a:solidFill>
                        <a:latin typeface="微软雅黑" panose="020B0503020204020204" charset="-122"/>
                        <a:ea typeface="微软雅黑" panose="020B0503020204020204" charset="-122"/>
                      </a:endParaRPr>
                    </a:p>
                  </a:txBody>
                  <a:tcPr marL="9525" marR="9525" marT="9525" marB="0" anchor="ctr"/>
                </a:tc>
                <a:tc>
                  <a:txBody>
                    <a:bodyPr/>
                    <a:lstStyle/>
                    <a:p>
                      <a:pPr algn="ctr"/>
                      <a:endParaRPr lang="zh-CN" altLang="en-US" sz="1200" dirty="0">
                        <a:latin typeface="微软雅黑" panose="020B0503020204020204" charset="-122"/>
                        <a:ea typeface="微软雅黑" panose="020B0503020204020204" charset="-122"/>
                      </a:endParaRPr>
                    </a:p>
                  </a:txBody>
                  <a:tcPr marL="9525" marR="9525" marT="9525" marB="0" anchor="ctr"/>
                </a:tc>
                <a:tc>
                  <a:txBody>
                    <a:bodyPr/>
                    <a:lstStyle/>
                    <a:p>
                      <a:pPr algn="ctr" fontAlgn="ctr"/>
                      <a:endParaRPr lang="zh-CN" altLang="en-US" sz="1200" b="0" i="0" u="none" strike="noStrike" dirty="0">
                        <a:solidFill>
                          <a:srgbClr val="000000"/>
                        </a:solidFill>
                        <a:latin typeface="微软雅黑" panose="020B0503020204020204" charset="-122"/>
                        <a:ea typeface="微软雅黑" panose="020B0503020204020204" charset="-122"/>
                      </a:endParaRPr>
                    </a:p>
                  </a:txBody>
                  <a:tcPr marL="6364" marR="6364" marT="6364" marB="0" anchor="ctr"/>
                </a:tc>
                <a:tc>
                  <a:txBody>
                    <a:bodyPr/>
                    <a:lstStyle/>
                    <a:p>
                      <a:pPr algn="ctr" fontAlgn="ctr"/>
                      <a:endParaRPr lang="zh-CN" altLang="en-US" sz="1200" b="1" u="none" strike="noStrike" kern="1200" dirty="0">
                        <a:solidFill>
                          <a:schemeClr val="lt1"/>
                        </a:solidFill>
                        <a:latin typeface="微软雅黑" panose="020B0503020204020204" charset="-122"/>
                        <a:ea typeface="微软雅黑" panose="020B0503020204020204" charset="-122"/>
                        <a:cs typeface="+mn-cs"/>
                      </a:endParaRPr>
                    </a:p>
                  </a:txBody>
                  <a:tcPr marL="6364" marR="6364" marT="6364" marB="0" anchor="ctr"/>
                </a:tc>
                <a:tc>
                  <a:txBody>
                    <a:bodyPr/>
                    <a:lstStyle/>
                    <a:p>
                      <a:pPr marL="0" marR="0" indent="0" algn="ctr" defTabSz="914400" rtl="0" eaLnBrk="1" fontAlgn="ctr" latinLnBrk="0" hangingPunct="1">
                        <a:lnSpc>
                          <a:spcPct val="100000"/>
                        </a:lnSpc>
                        <a:spcBef>
                          <a:spcPts val="0"/>
                        </a:spcBef>
                        <a:spcAft>
                          <a:spcPts val="0"/>
                        </a:spcAft>
                        <a:buClrTx/>
                        <a:buSzTx/>
                        <a:buFontTx/>
                        <a:buNone/>
                        <a:defRPr/>
                      </a:pPr>
                      <a:endParaRPr lang="zh-CN" altLang="en-US" sz="1200" b="0" i="0" u="none" strike="noStrike" dirty="0" smtClean="0">
                        <a:solidFill>
                          <a:srgbClr val="000000"/>
                        </a:solidFill>
                        <a:latin typeface="微软雅黑" panose="020B0503020204020204" charset="-122"/>
                        <a:ea typeface="微软雅黑" panose="020B0503020204020204" charset="-122"/>
                      </a:endParaRPr>
                    </a:p>
                  </a:txBody>
                  <a:tcPr marL="6364" marR="6364" marT="6364" marB="0" anchor="ctr"/>
                </a:tc>
                <a:tc>
                  <a:txBody>
                    <a:bodyPr/>
                    <a:lstStyle/>
                    <a:p>
                      <a:pPr algn="ctr" fontAlgn="ctr"/>
                      <a:endParaRPr lang="en-US" altLang="zh-CN" sz="1200" u="none" strike="noStrike" dirty="0" smtClean="0">
                        <a:latin typeface="微软雅黑" panose="020B0503020204020204" charset="-122"/>
                        <a:ea typeface="微软雅黑" panose="020B0503020204020204" charset="-122"/>
                      </a:endParaRPr>
                    </a:p>
                  </a:txBody>
                  <a:tcPr marL="6364" marR="6364" marT="6364" marB="0" anchor="ctr"/>
                </a:tc>
              </a:tr>
              <a:tr h="244475">
                <a:tc>
                  <a:txBody>
                    <a:bodyPr/>
                    <a:lstStyle/>
                    <a:p>
                      <a:pPr algn="ctr" fontAlgn="ctr">
                        <a:lnSpc>
                          <a:spcPct val="100000"/>
                        </a:lnSpc>
                        <a:buClrTx/>
                        <a:buSzTx/>
                        <a:buFontTx/>
                      </a:pPr>
                      <a:r>
                        <a:rPr lang="en-US" altLang="zh-CN" sz="1100" b="0" i="0" u="none" strike="noStrike" dirty="0" smtClean="0">
                          <a:solidFill>
                            <a:srgbClr val="000000"/>
                          </a:solidFill>
                          <a:latin typeface="微软雅黑" panose="020B0503020204020204" charset="-122"/>
                          <a:ea typeface="微软雅黑" panose="020B0503020204020204" charset="-122"/>
                        </a:rPr>
                        <a:t>CT-专线维护</a:t>
                      </a:r>
                      <a:endParaRPr lang="en-US" altLang="zh-CN" sz="1100" b="0" i="0" u="none" strike="noStrike" dirty="0" smtClean="0">
                        <a:solidFill>
                          <a:srgbClr val="000000"/>
                        </a:solidFill>
                        <a:latin typeface="微软雅黑" panose="020B0503020204020204" charset="-122"/>
                        <a:ea typeface="微软雅黑" panose="020B0503020204020204" charset="-122"/>
                      </a:endParaRPr>
                    </a:p>
                  </a:txBody>
                  <a:tcPr marL="9525" marR="9525" marT="9525" marB="0" anchor="ctr"/>
                </a:tc>
                <a:tc>
                  <a:txBody>
                    <a:bodyPr/>
                    <a:lstStyle/>
                    <a:p>
                      <a:pPr algn="ctr"/>
                      <a:endParaRPr lang="zh-CN" altLang="en-US" sz="1200" dirty="0">
                        <a:latin typeface="微软雅黑" panose="020B0503020204020204" charset="-122"/>
                        <a:ea typeface="微软雅黑" panose="020B0503020204020204" charset="-122"/>
                      </a:endParaRPr>
                    </a:p>
                  </a:txBody>
                  <a:tcPr marL="9525" marR="9525" marT="9525" marB="0" anchor="ctr"/>
                </a:tc>
                <a:tc>
                  <a:txBody>
                    <a:bodyPr/>
                    <a:lstStyle/>
                    <a:p>
                      <a:pPr algn="ctr" fontAlgn="ctr"/>
                      <a:endParaRPr lang="zh-CN" altLang="en-US" sz="1200" b="0" i="0" u="none" strike="noStrike" dirty="0">
                        <a:solidFill>
                          <a:srgbClr val="000000"/>
                        </a:solidFill>
                        <a:latin typeface="微软雅黑" panose="020B0503020204020204" charset="-122"/>
                        <a:ea typeface="微软雅黑" panose="020B0503020204020204" charset="-122"/>
                      </a:endParaRPr>
                    </a:p>
                  </a:txBody>
                  <a:tcPr marL="6364" marR="6364" marT="6364" marB="0" anchor="ctr"/>
                </a:tc>
                <a:tc>
                  <a:txBody>
                    <a:bodyPr/>
                    <a:lstStyle/>
                    <a:p>
                      <a:pPr algn="ctr" fontAlgn="ctr"/>
                      <a:endParaRPr lang="zh-CN" altLang="en-US" sz="1200" b="1" u="none" strike="noStrike" kern="1200" dirty="0">
                        <a:solidFill>
                          <a:schemeClr val="lt1"/>
                        </a:solidFill>
                        <a:latin typeface="微软雅黑" panose="020B0503020204020204" charset="-122"/>
                        <a:ea typeface="微软雅黑" panose="020B0503020204020204" charset="-122"/>
                        <a:cs typeface="+mn-cs"/>
                      </a:endParaRPr>
                    </a:p>
                  </a:txBody>
                  <a:tcPr marL="6364" marR="6364" marT="6364" marB="0" anchor="ctr"/>
                </a:tc>
                <a:tc>
                  <a:txBody>
                    <a:bodyPr/>
                    <a:lstStyle/>
                    <a:p>
                      <a:pPr marL="0" marR="0" indent="0" algn="ctr" defTabSz="914400" rtl="0" eaLnBrk="1" fontAlgn="ctr" latinLnBrk="0" hangingPunct="1">
                        <a:lnSpc>
                          <a:spcPct val="100000"/>
                        </a:lnSpc>
                        <a:spcBef>
                          <a:spcPts val="0"/>
                        </a:spcBef>
                        <a:spcAft>
                          <a:spcPts val="0"/>
                        </a:spcAft>
                        <a:buClrTx/>
                        <a:buSzTx/>
                        <a:buFontTx/>
                        <a:buNone/>
                        <a:defRPr/>
                      </a:pPr>
                      <a:endParaRPr lang="zh-CN" altLang="en-US" sz="1200" b="0" i="0" u="none" strike="noStrike" dirty="0" smtClean="0">
                        <a:solidFill>
                          <a:srgbClr val="000000"/>
                        </a:solidFill>
                        <a:latin typeface="微软雅黑" panose="020B0503020204020204" charset="-122"/>
                        <a:ea typeface="微软雅黑" panose="020B0503020204020204" charset="-122"/>
                      </a:endParaRPr>
                    </a:p>
                  </a:txBody>
                  <a:tcPr marL="6364" marR="6364" marT="6364" marB="0" anchor="ctr"/>
                </a:tc>
                <a:tc>
                  <a:txBody>
                    <a:bodyPr/>
                    <a:lstStyle/>
                    <a:p>
                      <a:pPr algn="ctr" fontAlgn="ctr"/>
                      <a:endParaRPr lang="en-US" altLang="zh-CN" sz="1200" u="none" strike="noStrike" dirty="0" smtClean="0">
                        <a:latin typeface="微软雅黑" panose="020B0503020204020204" charset="-122"/>
                        <a:ea typeface="微软雅黑" panose="020B0503020204020204" charset="-122"/>
                      </a:endParaRPr>
                    </a:p>
                  </a:txBody>
                  <a:tcPr marL="6364" marR="6364" marT="6364" marB="0" anchor="ctr"/>
                </a:tc>
              </a:tr>
              <a:tr h="244475">
                <a:tc>
                  <a:txBody>
                    <a:bodyPr/>
                    <a:lstStyle/>
                    <a:p>
                      <a:pPr algn="ctr" fontAlgn="ctr">
                        <a:lnSpc>
                          <a:spcPct val="100000"/>
                        </a:lnSpc>
                        <a:buClrTx/>
                        <a:buSzTx/>
                        <a:buFontTx/>
                      </a:pPr>
                      <a:r>
                        <a:rPr lang="en-US" altLang="zh-CN" sz="1100" b="1" i="0" u="none" strike="noStrike" dirty="0" smtClean="0">
                          <a:solidFill>
                            <a:srgbClr val="000000"/>
                          </a:solidFill>
                          <a:latin typeface="微软雅黑" panose="020B0503020204020204" charset="-122"/>
                          <a:ea typeface="微软雅黑" panose="020B0503020204020204" charset="-122"/>
                        </a:rPr>
                        <a:t>CT支出小计</a:t>
                      </a:r>
                      <a:endParaRPr lang="en-US" altLang="zh-CN" sz="1100" b="1" i="0" u="none" strike="noStrike" dirty="0" smtClean="0">
                        <a:solidFill>
                          <a:srgbClr val="000000"/>
                        </a:solidFill>
                        <a:latin typeface="微软雅黑" panose="020B0503020204020204" charset="-122"/>
                        <a:ea typeface="微软雅黑" panose="020B0503020204020204" charset="-122"/>
                      </a:endParaRPr>
                    </a:p>
                  </a:txBody>
                  <a:tcPr marL="9525" marR="9525" marT="9525" marB="0" anchor="ctr"/>
                </a:tc>
                <a:tc>
                  <a:txBody>
                    <a:bodyPr/>
                    <a:lstStyle/>
                    <a:p>
                      <a:pPr algn="ctr"/>
                      <a:endParaRPr lang="zh-CN" altLang="en-US" sz="1200" dirty="0">
                        <a:latin typeface="微软雅黑" panose="020B0503020204020204" charset="-122"/>
                        <a:ea typeface="微软雅黑" panose="020B0503020204020204" charset="-122"/>
                      </a:endParaRPr>
                    </a:p>
                  </a:txBody>
                  <a:tcPr marL="9525" marR="9525" marT="9525" marB="0" anchor="ctr"/>
                </a:tc>
                <a:tc>
                  <a:txBody>
                    <a:bodyPr/>
                    <a:lstStyle/>
                    <a:p>
                      <a:pPr algn="ctr" fontAlgn="ctr"/>
                      <a:endParaRPr lang="zh-CN" altLang="en-US" sz="1200" b="0" i="0" u="none" strike="noStrike" dirty="0">
                        <a:solidFill>
                          <a:srgbClr val="000000"/>
                        </a:solidFill>
                        <a:latin typeface="微软雅黑" panose="020B0503020204020204" charset="-122"/>
                        <a:ea typeface="微软雅黑" panose="020B0503020204020204" charset="-122"/>
                      </a:endParaRPr>
                    </a:p>
                  </a:txBody>
                  <a:tcPr marL="6364" marR="6364" marT="6364" marB="0" anchor="ctr"/>
                </a:tc>
                <a:tc>
                  <a:txBody>
                    <a:bodyPr/>
                    <a:lstStyle/>
                    <a:p>
                      <a:pPr algn="ctr" fontAlgn="ctr"/>
                      <a:endParaRPr lang="zh-CN" altLang="en-US" sz="1200" b="1" u="none" strike="noStrike" kern="1200" dirty="0">
                        <a:solidFill>
                          <a:schemeClr val="lt1"/>
                        </a:solidFill>
                        <a:latin typeface="微软雅黑" panose="020B0503020204020204" charset="-122"/>
                        <a:ea typeface="微软雅黑" panose="020B0503020204020204" charset="-122"/>
                        <a:cs typeface="+mn-cs"/>
                      </a:endParaRPr>
                    </a:p>
                  </a:txBody>
                  <a:tcPr marL="6364" marR="6364" marT="6364" marB="0" anchor="ctr"/>
                </a:tc>
                <a:tc>
                  <a:txBody>
                    <a:bodyPr/>
                    <a:lstStyle/>
                    <a:p>
                      <a:pPr marL="0" marR="0" indent="0" algn="ctr" defTabSz="914400" rtl="0" eaLnBrk="1" fontAlgn="ctr" latinLnBrk="0" hangingPunct="1">
                        <a:lnSpc>
                          <a:spcPct val="100000"/>
                        </a:lnSpc>
                        <a:spcBef>
                          <a:spcPts val="0"/>
                        </a:spcBef>
                        <a:spcAft>
                          <a:spcPts val="0"/>
                        </a:spcAft>
                        <a:buClrTx/>
                        <a:buSzTx/>
                        <a:buFontTx/>
                        <a:buNone/>
                        <a:defRPr/>
                      </a:pPr>
                      <a:endParaRPr lang="zh-CN" altLang="en-US" sz="1200" b="0" i="0" u="none" strike="noStrike" dirty="0" smtClean="0">
                        <a:solidFill>
                          <a:srgbClr val="000000"/>
                        </a:solidFill>
                        <a:latin typeface="微软雅黑" panose="020B0503020204020204" charset="-122"/>
                        <a:ea typeface="微软雅黑" panose="020B0503020204020204" charset="-122"/>
                      </a:endParaRPr>
                    </a:p>
                  </a:txBody>
                  <a:tcPr marL="6364" marR="6364" marT="6364" marB="0" anchor="ctr"/>
                </a:tc>
                <a:tc>
                  <a:txBody>
                    <a:bodyPr/>
                    <a:lstStyle/>
                    <a:p>
                      <a:pPr algn="ctr" fontAlgn="ctr"/>
                      <a:endParaRPr lang="en-US" altLang="zh-CN" sz="1200" u="none" strike="noStrike" dirty="0" smtClean="0">
                        <a:latin typeface="微软雅黑" panose="020B0503020204020204" charset="-122"/>
                        <a:ea typeface="微软雅黑" panose="020B0503020204020204" charset="-122"/>
                      </a:endParaRPr>
                    </a:p>
                  </a:txBody>
                  <a:tcPr marL="6364" marR="6364" marT="6364" marB="0" anchor="ctr"/>
                </a:tc>
              </a:tr>
              <a:tr h="244475">
                <a:tc>
                  <a:txBody>
                    <a:bodyPr/>
                    <a:p>
                      <a:pPr algn="ctr" fontAlgn="ctr">
                        <a:lnSpc>
                          <a:spcPct val="100000"/>
                        </a:lnSpc>
                        <a:buClrTx/>
                        <a:buSzTx/>
                        <a:buFontTx/>
                        <a:buNone/>
                      </a:pPr>
                      <a:r>
                        <a:rPr lang="en-US" altLang="zh-CN" sz="1100" i="0" u="none" strike="noStrike" dirty="0" smtClean="0">
                          <a:solidFill>
                            <a:srgbClr val="000000"/>
                          </a:solidFill>
                          <a:latin typeface="微软雅黑" panose="020B0503020204020204" charset="-122"/>
                          <a:ea typeface="微软雅黑" panose="020B0503020204020204" charset="-122"/>
                        </a:rPr>
                        <a:t>其它</a:t>
                      </a:r>
                      <a:r>
                        <a:rPr lang="zh-CN" altLang="en-US" sz="1100" i="0" u="none" strike="noStrike" dirty="0" smtClean="0">
                          <a:solidFill>
                            <a:srgbClr val="000000"/>
                          </a:solidFill>
                          <a:latin typeface="微软雅黑" panose="020B0503020204020204" charset="-122"/>
                          <a:ea typeface="微软雅黑" panose="020B0503020204020204" charset="-122"/>
                        </a:rPr>
                        <a:t>费用（运营成本等）</a:t>
                      </a:r>
                      <a:endParaRPr lang="zh-CN" altLang="en-US" sz="1100" b="0" i="0" u="none" strike="noStrike" dirty="0" smtClean="0">
                        <a:solidFill>
                          <a:srgbClr val="000000"/>
                        </a:solidFill>
                        <a:latin typeface="微软雅黑" panose="020B0503020204020204" charset="-122"/>
                        <a:ea typeface="微软雅黑" panose="020B0503020204020204" charset="-122"/>
                      </a:endParaRPr>
                    </a:p>
                  </a:txBody>
                  <a:tcPr marL="9525" marR="9525" marT="9525" marB="0" anchor="ctr"/>
                </a:tc>
                <a:tc>
                  <a:txBody>
                    <a:bodyPr/>
                    <a:p>
                      <a:pPr algn="ctr">
                        <a:buNone/>
                      </a:pPr>
                      <a:endParaRPr lang="zh-CN" altLang="en-US" sz="1200" dirty="0">
                        <a:latin typeface="微软雅黑" panose="020B0503020204020204" charset="-122"/>
                        <a:ea typeface="微软雅黑" panose="020B0503020204020204" charset="-122"/>
                      </a:endParaRPr>
                    </a:p>
                  </a:txBody>
                  <a:tcPr marL="9525" marR="9525" marT="9525" marB="0" anchor="ctr"/>
                </a:tc>
                <a:tc>
                  <a:txBody>
                    <a:bodyPr/>
                    <a:p>
                      <a:pPr algn="ctr" fontAlgn="ctr">
                        <a:buNone/>
                      </a:pPr>
                      <a:endParaRPr lang="zh-CN" altLang="en-US" sz="1200" b="0" i="0" u="none" strike="noStrike" dirty="0">
                        <a:solidFill>
                          <a:srgbClr val="000000"/>
                        </a:solidFill>
                        <a:latin typeface="微软雅黑" panose="020B0503020204020204" charset="-122"/>
                        <a:ea typeface="微软雅黑" panose="020B0503020204020204" charset="-122"/>
                      </a:endParaRPr>
                    </a:p>
                  </a:txBody>
                  <a:tcPr marL="6364" marR="6364" marT="6364" marB="0" anchor="ctr"/>
                </a:tc>
                <a:tc>
                  <a:txBody>
                    <a:bodyPr/>
                    <a:p>
                      <a:pPr algn="ctr" fontAlgn="ctr">
                        <a:buNone/>
                      </a:pPr>
                      <a:endParaRPr lang="zh-CN" altLang="en-US" sz="1200" b="1" u="none" strike="noStrike" kern="1200" dirty="0">
                        <a:solidFill>
                          <a:schemeClr val="lt1"/>
                        </a:solidFill>
                        <a:latin typeface="微软雅黑" panose="020B0503020204020204" charset="-122"/>
                        <a:ea typeface="微软雅黑" panose="020B0503020204020204" charset="-122"/>
                        <a:cs typeface="+mn-cs"/>
                      </a:endParaRPr>
                    </a:p>
                  </a:txBody>
                  <a:tcPr marL="6364" marR="6364" marT="6364" marB="0" anchor="ctr"/>
                </a:tc>
                <a:tc>
                  <a:txBody>
                    <a:bodyPr/>
                    <a:p>
                      <a:pPr marL="0" marR="0" indent="0" algn="ctr" defTabSz="914400" rtl="0" eaLnBrk="1" fontAlgn="ctr" latinLnBrk="0" hangingPunct="1">
                        <a:lnSpc>
                          <a:spcPct val="100000"/>
                        </a:lnSpc>
                        <a:spcBef>
                          <a:spcPts val="0"/>
                        </a:spcBef>
                        <a:spcAft>
                          <a:spcPts val="0"/>
                        </a:spcAft>
                        <a:buClrTx/>
                        <a:buSzTx/>
                        <a:buFontTx/>
                        <a:buNone/>
                        <a:defRPr/>
                      </a:pPr>
                      <a:endParaRPr lang="zh-CN" altLang="en-US" sz="1200" b="0" i="0" u="none" strike="noStrike" dirty="0" smtClean="0">
                        <a:solidFill>
                          <a:srgbClr val="000000"/>
                        </a:solidFill>
                        <a:latin typeface="微软雅黑" panose="020B0503020204020204" charset="-122"/>
                        <a:ea typeface="微软雅黑" panose="020B0503020204020204" charset="-122"/>
                      </a:endParaRPr>
                    </a:p>
                  </a:txBody>
                  <a:tcPr marL="6364" marR="6364" marT="6364" marB="0" anchor="ctr"/>
                </a:tc>
                <a:tc>
                  <a:txBody>
                    <a:bodyPr/>
                    <a:p>
                      <a:pPr algn="ctr" fontAlgn="ctr">
                        <a:buNone/>
                      </a:pPr>
                      <a:r>
                        <a:rPr lang="zh-CN" altLang="en-US" sz="1200" dirty="0">
                          <a:solidFill>
                            <a:srgbClr val="000000"/>
                          </a:solidFill>
                          <a:latin typeface="微软雅黑" panose="020B0503020204020204" charset="-122"/>
                          <a:ea typeface="微软雅黑" panose="020B0503020204020204" charset="-122"/>
                          <a:sym typeface="+mn-ea"/>
                        </a:rPr>
                        <a:t>招标代理服务费等</a:t>
                      </a:r>
                      <a:endParaRPr lang="en-US" altLang="zh-CN" sz="1200" u="none" strike="noStrike" dirty="0" smtClean="0">
                        <a:latin typeface="微软雅黑" panose="020B0503020204020204" charset="-122"/>
                        <a:ea typeface="微软雅黑" panose="020B0503020204020204" charset="-122"/>
                      </a:endParaRPr>
                    </a:p>
                  </a:txBody>
                  <a:tcPr marL="6364" marR="6364" marT="6364" marB="0" anchor="ctr"/>
                </a:tc>
              </a:tr>
              <a:tr h="226060">
                <a:tc>
                  <a:txBody>
                    <a:bodyPr/>
                    <a:lstStyle/>
                    <a:p>
                      <a:pPr algn="ctr" fontAlgn="ctr">
                        <a:lnSpc>
                          <a:spcPct val="100000"/>
                        </a:lnSpc>
                        <a:buClrTx/>
                        <a:buSzTx/>
                        <a:buFontTx/>
                      </a:pPr>
                      <a:r>
                        <a:rPr lang="en-US" altLang="zh-CN" sz="1100" b="1" i="0" u="none" strike="noStrike" dirty="0" smtClean="0">
                          <a:solidFill>
                            <a:srgbClr val="000000"/>
                          </a:solidFill>
                          <a:latin typeface="微软雅黑" panose="020B0503020204020204" charset="-122"/>
                          <a:ea typeface="微软雅黑" panose="020B0503020204020204" charset="-122"/>
                        </a:rPr>
                        <a:t>总计</a:t>
                      </a:r>
                      <a:endParaRPr lang="en-US" altLang="zh-CN" sz="1100" b="1" i="0" u="none" strike="noStrike" dirty="0" smtClean="0">
                        <a:solidFill>
                          <a:srgbClr val="000000"/>
                        </a:solidFill>
                        <a:latin typeface="微软雅黑" panose="020B0503020204020204" charset="-122"/>
                        <a:ea typeface="微软雅黑" panose="020B0503020204020204" charset="-122"/>
                      </a:endParaRPr>
                    </a:p>
                  </a:txBody>
                  <a:tcPr marL="9525" marR="9525" marT="9525" marB="0" anchor="ctr"/>
                </a:tc>
                <a:tc>
                  <a:txBody>
                    <a:bodyPr/>
                    <a:lstStyle/>
                    <a:p>
                      <a:pPr algn="ctr"/>
                      <a:endParaRPr lang="zh-CN" altLang="en-US" sz="1200" dirty="0">
                        <a:latin typeface="微软雅黑" panose="020B0503020204020204" charset="-122"/>
                        <a:ea typeface="微软雅黑" panose="020B0503020204020204" charset="-122"/>
                      </a:endParaRPr>
                    </a:p>
                  </a:txBody>
                  <a:tcPr marL="9525" marR="9525" marT="9525" marB="0" anchor="ctr"/>
                </a:tc>
                <a:tc>
                  <a:txBody>
                    <a:bodyPr/>
                    <a:lstStyle/>
                    <a:p>
                      <a:pPr algn="ctr" fontAlgn="ctr"/>
                      <a:endParaRPr lang="zh-CN" altLang="en-US" sz="1200" b="0" i="0" u="none" strike="noStrike" dirty="0">
                        <a:solidFill>
                          <a:srgbClr val="000000"/>
                        </a:solidFill>
                        <a:latin typeface="微软雅黑" panose="020B0503020204020204" charset="-122"/>
                        <a:ea typeface="微软雅黑" panose="020B0503020204020204" charset="-122"/>
                      </a:endParaRPr>
                    </a:p>
                  </a:txBody>
                  <a:tcPr marL="6364" marR="6364" marT="6364" marB="0" anchor="ctr"/>
                </a:tc>
                <a:tc>
                  <a:txBody>
                    <a:bodyPr/>
                    <a:lstStyle/>
                    <a:p>
                      <a:pPr algn="ctr" fontAlgn="ctr"/>
                      <a:endParaRPr lang="zh-CN" altLang="en-US" sz="1200" b="1" u="none" strike="noStrike" kern="1200" dirty="0">
                        <a:solidFill>
                          <a:schemeClr val="lt1"/>
                        </a:solidFill>
                        <a:latin typeface="微软雅黑" panose="020B0503020204020204" charset="-122"/>
                        <a:ea typeface="微软雅黑" panose="020B0503020204020204" charset="-122"/>
                        <a:cs typeface="+mn-cs"/>
                      </a:endParaRPr>
                    </a:p>
                  </a:txBody>
                  <a:tcPr marL="6364" marR="6364" marT="6364" marB="0" anchor="ctr"/>
                </a:tc>
                <a:tc>
                  <a:txBody>
                    <a:bodyPr/>
                    <a:lstStyle/>
                    <a:p>
                      <a:pPr marL="0" marR="0" indent="0" algn="ctr" defTabSz="914400" rtl="0" eaLnBrk="1" fontAlgn="ctr" latinLnBrk="0" hangingPunct="1">
                        <a:lnSpc>
                          <a:spcPct val="100000"/>
                        </a:lnSpc>
                        <a:spcBef>
                          <a:spcPts val="0"/>
                        </a:spcBef>
                        <a:spcAft>
                          <a:spcPts val="0"/>
                        </a:spcAft>
                        <a:buClrTx/>
                        <a:buSzTx/>
                        <a:buFontTx/>
                        <a:buNone/>
                        <a:defRPr/>
                      </a:pPr>
                      <a:endParaRPr lang="zh-CN" altLang="en-US" sz="1200" b="0" i="0" u="none" strike="noStrike" dirty="0" smtClean="0">
                        <a:solidFill>
                          <a:srgbClr val="000000"/>
                        </a:solidFill>
                        <a:latin typeface="微软雅黑" panose="020B0503020204020204" charset="-122"/>
                        <a:ea typeface="微软雅黑" panose="020B0503020204020204" charset="-122"/>
                      </a:endParaRPr>
                    </a:p>
                  </a:txBody>
                  <a:tcPr marL="6364" marR="6364" marT="6364" marB="0" anchor="ctr"/>
                </a:tc>
                <a:tc>
                  <a:txBody>
                    <a:bodyPr/>
                    <a:lstStyle/>
                    <a:p>
                      <a:pPr algn="ctr" fontAlgn="ctr"/>
                      <a:endParaRPr lang="en-US" altLang="zh-CN" sz="1200" u="none" strike="noStrike" dirty="0" smtClean="0">
                        <a:latin typeface="微软雅黑" panose="020B0503020204020204" charset="-122"/>
                        <a:ea typeface="微软雅黑" panose="020B0503020204020204" charset="-122"/>
                      </a:endParaRPr>
                    </a:p>
                  </a:txBody>
                  <a:tcPr marL="6364" marR="6364" marT="6364" marB="0" anchor="ctr"/>
                </a:tc>
              </a:tr>
            </a:tbl>
          </a:graphicData>
        </a:graphic>
      </p:graphicFrame>
      <p:sp>
        <p:nvSpPr>
          <p:cNvPr id="2" name="Rectangle 4"/>
          <p:cNvSpPr>
            <a:spLocks noChangeArrowheads="1"/>
          </p:cNvSpPr>
          <p:nvPr/>
        </p:nvSpPr>
        <p:spPr bwMode="auto">
          <a:xfrm>
            <a:off x="311155" y="5892789"/>
            <a:ext cx="8208912" cy="337185"/>
          </a:xfrm>
          <a:prstGeom prst="rect">
            <a:avLst/>
          </a:prstGeom>
          <a:gradFill rotWithShape="1">
            <a:gsLst>
              <a:gs pos="0">
                <a:srgbClr val="FFCC99">
                  <a:alpha val="85999"/>
                </a:srgbClr>
              </a:gs>
              <a:gs pos="100000">
                <a:schemeClr val="bg1"/>
              </a:gs>
            </a:gsLst>
            <a:lin ang="0" scaled="1"/>
          </a:gradFill>
          <a:ln>
            <a:noFill/>
          </a:ln>
        </p:spPr>
        <p:txBody>
          <a:bodyPr wrap="square">
            <a:spAutoFit/>
          </a:bodyPr>
          <a:lstStyle/>
          <a:p>
            <a:pPr fontAlgn="base">
              <a:spcBef>
                <a:spcPct val="20000"/>
              </a:spcBef>
              <a:spcAft>
                <a:spcPct val="0"/>
              </a:spcAft>
              <a:buClr>
                <a:srgbClr val="000099"/>
              </a:buClr>
              <a:buSzPct val="75000"/>
              <a:buFont typeface="Wingdings" panose="05000000000000000000" pitchFamily="2" charset="2"/>
              <a:buNone/>
              <a:defRPr/>
            </a:pPr>
            <a:r>
              <a:rPr lang="zh-CN" altLang="en-US" sz="1600" b="1" dirty="0">
                <a:solidFill>
                  <a:prstClr val="black"/>
                </a:solidFill>
                <a:latin typeface="微软雅黑" panose="020B0503020204020204" charset="-122"/>
                <a:ea typeface="微软雅黑" panose="020B0503020204020204" charset="-122"/>
              </a:rPr>
              <a:t>项目整体投资收益评分</a:t>
            </a:r>
            <a:r>
              <a:rPr lang="zh-CN" altLang="en-US" sz="1400" dirty="0">
                <a:solidFill>
                  <a:prstClr val="black"/>
                </a:solidFill>
                <a:latin typeface="微软雅黑" panose="020B0503020204020204" charset="-122"/>
                <a:ea typeface="微软雅黑" panose="020B0503020204020204" charset="-122"/>
              </a:rPr>
              <a:t>（详见附件</a:t>
            </a:r>
            <a:r>
              <a:rPr lang="en-US" altLang="zh-CN" sz="1400" dirty="0">
                <a:solidFill>
                  <a:prstClr val="black"/>
                </a:solidFill>
                <a:latin typeface="微软雅黑" panose="020B0503020204020204" charset="-122"/>
                <a:ea typeface="微软雅黑" panose="020B0503020204020204" charset="-122"/>
              </a:rPr>
              <a:t>10</a:t>
            </a:r>
            <a:r>
              <a:rPr lang="zh-CN" altLang="en-US" sz="1400" dirty="0">
                <a:solidFill>
                  <a:prstClr val="black"/>
                </a:solidFill>
                <a:latin typeface="微软雅黑" panose="020B0503020204020204" charset="-122"/>
                <a:ea typeface="微软雅黑" panose="020B0503020204020204" charset="-122"/>
              </a:rPr>
              <a:t>）</a:t>
            </a:r>
            <a:endParaRPr lang="zh-CN" altLang="en-US" sz="1400" dirty="0">
              <a:solidFill>
                <a:prstClr val="black"/>
              </a:solidFill>
              <a:latin typeface="微软雅黑" panose="020B0503020204020204" charset="-122"/>
              <a:ea typeface="微软雅黑" panose="020B0503020204020204" charset="-122"/>
            </a:endParaRPr>
          </a:p>
        </p:txBody>
      </p:sp>
      <p:sp>
        <p:nvSpPr>
          <p:cNvPr id="8" name="矩形 7"/>
          <p:cNvSpPr/>
          <p:nvPr/>
        </p:nvSpPr>
        <p:spPr>
          <a:xfrm>
            <a:off x="311155" y="6116795"/>
            <a:ext cx="3204210" cy="737235"/>
          </a:xfrm>
          <a:prstGeom prst="rect">
            <a:avLst/>
          </a:prstGeom>
        </p:spPr>
        <p:txBody>
          <a:bodyPr wrap="square">
            <a:spAutoFit/>
          </a:bodyPr>
          <a:lstStyle/>
          <a:p>
            <a:pPr>
              <a:lnSpc>
                <a:spcPct val="150000"/>
              </a:lnSpc>
              <a:buFont typeface="Wingdings" panose="05000000000000000000" pitchFamily="2" charset="2"/>
              <a:buChar char="n"/>
            </a:pPr>
            <a:r>
              <a:rPr lang="zh-CN" altLang="zh-CN" sz="1400" dirty="0">
                <a:latin typeface="微软雅黑" panose="020B0503020204020204" charset="-122"/>
                <a:ea typeface="微软雅黑" panose="020B0503020204020204" charset="-122"/>
              </a:rPr>
              <a:t>合同年限：</a:t>
            </a:r>
            <a:r>
              <a:rPr lang="en-US" altLang="zh-CN" sz="1400" dirty="0">
                <a:latin typeface="微软雅黑" panose="020B0503020204020204" charset="-122"/>
                <a:ea typeface="微软雅黑" panose="020B0503020204020204" charset="-122"/>
              </a:rPr>
              <a:t>X</a:t>
            </a:r>
            <a:r>
              <a:rPr lang="zh-CN" altLang="en-US" sz="1400" dirty="0">
                <a:latin typeface="微软雅黑" panose="020B0503020204020204" charset="-122"/>
                <a:ea typeface="微软雅黑" panose="020B0503020204020204" charset="-122"/>
              </a:rPr>
              <a:t>年</a:t>
            </a:r>
            <a:endParaRPr lang="en-US" altLang="zh-CN" sz="1400" dirty="0">
              <a:latin typeface="微软雅黑" panose="020B0503020204020204" charset="-122"/>
              <a:ea typeface="微软雅黑" panose="020B0503020204020204" charset="-122"/>
            </a:endParaRPr>
          </a:p>
          <a:p>
            <a:pPr>
              <a:lnSpc>
                <a:spcPct val="150000"/>
              </a:lnSpc>
              <a:buFont typeface="Wingdings" panose="05000000000000000000" pitchFamily="2" charset="2"/>
              <a:buChar char="n"/>
            </a:pPr>
            <a:r>
              <a:rPr lang="zh-CN" altLang="en-US" sz="1400" dirty="0">
                <a:latin typeface="微软雅黑" panose="020B0503020204020204" charset="-122"/>
                <a:ea typeface="微软雅黑" panose="020B0503020204020204" charset="-122"/>
              </a:rPr>
              <a:t>动态回收期：</a:t>
            </a:r>
            <a:r>
              <a:rPr lang="en-US" altLang="zh-CN" sz="1400" dirty="0">
                <a:latin typeface="微软雅黑" panose="020B0503020204020204" charset="-122"/>
                <a:ea typeface="微软雅黑" panose="020B0503020204020204" charset="-122"/>
              </a:rPr>
              <a:t>X</a:t>
            </a:r>
            <a:r>
              <a:rPr lang="zh-CN" altLang="en-US" sz="1400" dirty="0">
                <a:latin typeface="微软雅黑" panose="020B0503020204020204" charset="-122"/>
                <a:ea typeface="微软雅黑" panose="020B0503020204020204" charset="-122"/>
              </a:rPr>
              <a:t>年</a:t>
            </a:r>
            <a:endParaRPr lang="zh-CN" altLang="en-US" sz="1400" dirty="0">
              <a:solidFill>
                <a:srgbClr val="FF0000"/>
              </a:solidFill>
              <a:latin typeface="微软雅黑" panose="020B0503020204020204" charset="-122"/>
              <a:ea typeface="微软雅黑" panose="020B0503020204020204" charset="-122"/>
            </a:endParaRPr>
          </a:p>
        </p:txBody>
      </p:sp>
      <p:sp>
        <p:nvSpPr>
          <p:cNvPr id="9" name="矩形 8"/>
          <p:cNvSpPr/>
          <p:nvPr/>
        </p:nvSpPr>
        <p:spPr>
          <a:xfrm>
            <a:off x="3344827" y="6117035"/>
            <a:ext cx="3077210" cy="737235"/>
          </a:xfrm>
          <a:prstGeom prst="rect">
            <a:avLst/>
          </a:prstGeom>
        </p:spPr>
        <p:txBody>
          <a:bodyPr wrap="square">
            <a:spAutoFit/>
          </a:bodyPr>
          <a:lstStyle/>
          <a:p>
            <a:pPr lvl="0">
              <a:lnSpc>
                <a:spcPct val="150000"/>
              </a:lnSpc>
              <a:buFont typeface="Wingdings" panose="05000000000000000000" pitchFamily="2" charset="2"/>
              <a:buChar char="n"/>
            </a:pPr>
            <a:r>
              <a:rPr lang="zh-CN" altLang="en-US" sz="1400" dirty="0">
                <a:solidFill>
                  <a:prstClr val="black"/>
                </a:solidFill>
                <a:latin typeface="微软雅黑" panose="020B0503020204020204" charset="-122"/>
                <a:ea typeface="微软雅黑" panose="020B0503020204020204" charset="-122"/>
              </a:rPr>
              <a:t>项目净现值率</a:t>
            </a:r>
            <a:r>
              <a:rPr lang="zh-CN" altLang="zh-CN" sz="1400" dirty="0">
                <a:solidFill>
                  <a:prstClr val="black"/>
                </a:solidFill>
                <a:latin typeface="微软雅黑" panose="020B0503020204020204" charset="-122"/>
                <a:ea typeface="微软雅黑" panose="020B0503020204020204" charset="-122"/>
              </a:rPr>
              <a:t>：</a:t>
            </a:r>
            <a:endParaRPr lang="en-US" altLang="zh-CN" sz="1400" dirty="0">
              <a:solidFill>
                <a:prstClr val="black"/>
              </a:solidFill>
              <a:latin typeface="微软雅黑" panose="020B0503020204020204" charset="-122"/>
              <a:ea typeface="微软雅黑" panose="020B0503020204020204" charset="-122"/>
            </a:endParaRPr>
          </a:p>
          <a:p>
            <a:pPr lvl="0">
              <a:lnSpc>
                <a:spcPct val="150000"/>
              </a:lnSpc>
              <a:buFont typeface="Wingdings" panose="05000000000000000000" pitchFamily="2" charset="2"/>
              <a:buChar char="n"/>
            </a:pPr>
            <a:r>
              <a:rPr lang="zh-CN" altLang="en-US" sz="1400" dirty="0">
                <a:solidFill>
                  <a:prstClr val="black"/>
                </a:solidFill>
                <a:latin typeface="微软雅黑" panose="020B0503020204020204" charset="-122"/>
                <a:ea typeface="微软雅黑" panose="020B0503020204020204" charset="-122"/>
              </a:rPr>
              <a:t>项目毛利润率</a:t>
            </a:r>
            <a:r>
              <a:rPr lang="zh-CN" altLang="en-US" sz="1400" dirty="0" smtClean="0">
                <a:solidFill>
                  <a:prstClr val="black"/>
                </a:solidFill>
                <a:latin typeface="微软雅黑" panose="020B0503020204020204" charset="-122"/>
                <a:ea typeface="微软雅黑" panose="020B0503020204020204" charset="-122"/>
              </a:rPr>
              <a:t>：</a:t>
            </a:r>
            <a:endParaRPr lang="en-US" altLang="zh-CN" sz="1400" dirty="0">
              <a:solidFill>
                <a:prstClr val="black"/>
              </a:solidFill>
              <a:latin typeface="微软雅黑" panose="020B0503020204020204" charset="-122"/>
              <a:ea typeface="微软雅黑" panose="020B0503020204020204" charset="-122"/>
            </a:endParaRPr>
          </a:p>
        </p:txBody>
      </p:sp>
      <p:sp>
        <p:nvSpPr>
          <p:cNvPr id="10" name="矩形 9"/>
          <p:cNvSpPr/>
          <p:nvPr/>
        </p:nvSpPr>
        <p:spPr>
          <a:xfrm>
            <a:off x="9102090" y="6120765"/>
            <a:ext cx="2244725" cy="737235"/>
          </a:xfrm>
          <a:prstGeom prst="rect">
            <a:avLst/>
          </a:prstGeom>
        </p:spPr>
        <p:txBody>
          <a:bodyPr wrap="square">
            <a:spAutoFit/>
          </a:bodyPr>
          <a:lstStyle/>
          <a:p>
            <a:pPr lvl="0">
              <a:lnSpc>
                <a:spcPct val="150000"/>
              </a:lnSpc>
              <a:buFont typeface="Wingdings" panose="05000000000000000000" pitchFamily="2" charset="2"/>
              <a:buChar char="n"/>
            </a:pPr>
            <a:r>
              <a:rPr lang="en-US" altLang="zh-CN" sz="1400" dirty="0">
                <a:solidFill>
                  <a:prstClr val="black"/>
                </a:solidFill>
                <a:latin typeface="微软雅黑" panose="020B0503020204020204" charset="-122"/>
                <a:ea typeface="微软雅黑" panose="020B0503020204020204" charset="-122"/>
              </a:rPr>
              <a:t>CT</a:t>
            </a:r>
            <a:r>
              <a:rPr lang="zh-CN" altLang="en-US" sz="1400" dirty="0">
                <a:solidFill>
                  <a:prstClr val="black"/>
                </a:solidFill>
                <a:latin typeface="微软雅黑" panose="020B0503020204020204" charset="-122"/>
                <a:ea typeface="微软雅黑" panose="020B0503020204020204" charset="-122"/>
              </a:rPr>
              <a:t>收入：</a:t>
            </a:r>
            <a:r>
              <a:rPr lang="en-US" altLang="zh-CN" sz="1400" dirty="0">
                <a:solidFill>
                  <a:prstClr val="black"/>
                </a:solidFill>
                <a:latin typeface="微软雅黑" panose="020B0503020204020204" charset="-122"/>
                <a:ea typeface="微软雅黑" panose="020B0503020204020204" charset="-122"/>
              </a:rPr>
              <a:t> </a:t>
            </a:r>
            <a:endParaRPr lang="en-US" altLang="zh-CN" sz="1400" dirty="0">
              <a:solidFill>
                <a:prstClr val="black"/>
              </a:solidFill>
              <a:latin typeface="微软雅黑" panose="020B0503020204020204" charset="-122"/>
              <a:ea typeface="微软雅黑" panose="020B0503020204020204" charset="-122"/>
            </a:endParaRPr>
          </a:p>
          <a:p>
            <a:pPr lvl="0">
              <a:lnSpc>
                <a:spcPct val="150000"/>
              </a:lnSpc>
              <a:buFont typeface="Wingdings" panose="05000000000000000000" pitchFamily="2" charset="2"/>
              <a:buChar char="n"/>
            </a:pPr>
            <a:r>
              <a:rPr lang="en-US" altLang="zh-CN" sz="1400" dirty="0">
                <a:solidFill>
                  <a:prstClr val="black"/>
                </a:solidFill>
                <a:latin typeface="微软雅黑" panose="020B0503020204020204" charset="-122"/>
                <a:ea typeface="微软雅黑" panose="020B0503020204020204" charset="-122"/>
                <a:sym typeface="+mn-ea"/>
              </a:rPr>
              <a:t>CT</a:t>
            </a:r>
            <a:r>
              <a:rPr lang="zh-CN" altLang="en-US" sz="1400" dirty="0">
                <a:solidFill>
                  <a:prstClr val="black"/>
                </a:solidFill>
                <a:latin typeface="微软雅黑" panose="020B0503020204020204" charset="-122"/>
                <a:ea typeface="微软雅黑" panose="020B0503020204020204" charset="-122"/>
                <a:sym typeface="+mn-ea"/>
              </a:rPr>
              <a:t>净现值率：</a:t>
            </a:r>
            <a:endParaRPr lang="zh-CN" altLang="en-US" sz="1400" dirty="0">
              <a:solidFill>
                <a:prstClr val="black"/>
              </a:solidFill>
              <a:latin typeface="微软雅黑" panose="020B0503020204020204" charset="-122"/>
              <a:ea typeface="微软雅黑" panose="020B0503020204020204" charset="-122"/>
              <a:sym typeface="+mn-ea"/>
            </a:endParaRPr>
          </a:p>
        </p:txBody>
      </p:sp>
      <p:sp>
        <p:nvSpPr>
          <p:cNvPr id="11" name="矩形 10"/>
          <p:cNvSpPr/>
          <p:nvPr/>
        </p:nvSpPr>
        <p:spPr>
          <a:xfrm>
            <a:off x="6275070" y="6123940"/>
            <a:ext cx="2244725" cy="737235"/>
          </a:xfrm>
          <a:prstGeom prst="rect">
            <a:avLst/>
          </a:prstGeom>
        </p:spPr>
        <p:txBody>
          <a:bodyPr wrap="square">
            <a:spAutoFit/>
          </a:bodyPr>
          <a:p>
            <a:pPr lvl="0">
              <a:lnSpc>
                <a:spcPct val="150000"/>
              </a:lnSpc>
              <a:buFont typeface="Wingdings" panose="05000000000000000000" pitchFamily="2" charset="2"/>
              <a:buChar char="n"/>
            </a:pPr>
            <a:r>
              <a:rPr lang="en-US" altLang="zh-CN" sz="1400" dirty="0">
                <a:solidFill>
                  <a:prstClr val="black"/>
                </a:solidFill>
                <a:latin typeface="微软雅黑" panose="020B0503020204020204" charset="-122"/>
                <a:ea typeface="微软雅黑" panose="020B0503020204020204" charset="-122"/>
              </a:rPr>
              <a:t>IT</a:t>
            </a:r>
            <a:r>
              <a:rPr lang="zh-CN" altLang="en-US" sz="1400" dirty="0">
                <a:solidFill>
                  <a:prstClr val="black"/>
                </a:solidFill>
                <a:latin typeface="微软雅黑" panose="020B0503020204020204" charset="-122"/>
                <a:ea typeface="微软雅黑" panose="020B0503020204020204" charset="-122"/>
              </a:rPr>
              <a:t>净现值率：</a:t>
            </a:r>
            <a:r>
              <a:rPr lang="en-US" altLang="zh-CN" sz="1400" dirty="0">
                <a:solidFill>
                  <a:prstClr val="black"/>
                </a:solidFill>
                <a:latin typeface="微软雅黑" panose="020B0503020204020204" charset="-122"/>
                <a:ea typeface="微软雅黑" panose="020B0503020204020204" charset="-122"/>
              </a:rPr>
              <a:t> </a:t>
            </a:r>
            <a:endParaRPr lang="en-US" altLang="zh-CN" sz="1400" dirty="0">
              <a:solidFill>
                <a:prstClr val="black"/>
              </a:solidFill>
              <a:latin typeface="微软雅黑" panose="020B0503020204020204" charset="-122"/>
              <a:ea typeface="微软雅黑" panose="020B0503020204020204" charset="-122"/>
            </a:endParaRPr>
          </a:p>
          <a:p>
            <a:pPr lvl="0">
              <a:lnSpc>
                <a:spcPct val="150000"/>
              </a:lnSpc>
              <a:buFont typeface="Wingdings" panose="05000000000000000000" pitchFamily="2" charset="2"/>
              <a:buChar char="n"/>
            </a:pPr>
            <a:r>
              <a:rPr lang="zh-CN" altLang="en-US" sz="1400" dirty="0">
                <a:solidFill>
                  <a:prstClr val="black"/>
                </a:solidFill>
                <a:latin typeface="微软雅黑" panose="020B0503020204020204" charset="-122"/>
                <a:ea typeface="微软雅黑" panose="020B0503020204020204" charset="-122"/>
                <a:sym typeface="+mn-ea"/>
              </a:rPr>
              <a:t>项目净现值：</a:t>
            </a:r>
            <a:endParaRPr lang="zh-CN" altLang="en-US" sz="1400" dirty="0">
              <a:solidFill>
                <a:prstClr val="black"/>
              </a:solidFill>
              <a:latin typeface="微软雅黑" panose="020B0503020204020204" charset="-122"/>
              <a:ea typeface="微软雅黑" panose="020B0503020204020204" charset="-122"/>
              <a:sym typeface="+mn-ea"/>
            </a:endParaRPr>
          </a:p>
        </p:txBody>
      </p:sp>
      <p:sp>
        <p:nvSpPr>
          <p:cNvPr id="12" name="灯片编号占位符 11"/>
          <p:cNvSpPr>
            <a:spLocks noGrp="1"/>
          </p:cNvSpPr>
          <p:nvPr>
            <p:ph type="sldNum" sz="quarter" idx="12"/>
          </p:nvPr>
        </p:nvSpPr>
        <p:spPr>
          <a:xfrm>
            <a:off x="9072880" y="6356350"/>
            <a:ext cx="2743200" cy="365125"/>
          </a:xfrm>
        </p:spPr>
        <p:txBody>
          <a:bodyPr/>
          <a:p>
            <a:r>
              <a:rPr lang="en-US" altLang="zh-CN" smtClean="0"/>
              <a:t>6</a:t>
            </a:r>
            <a:endParaRPr lang="en-US" altLang="zh-CN" smtClean="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635" y="-8890"/>
            <a:ext cx="12192635" cy="892175"/>
          </a:xfrm>
          <a:prstGeom prst="rect">
            <a:avLst/>
          </a:prstGeom>
        </p:spPr>
      </p:pic>
      <p:sp>
        <p:nvSpPr>
          <p:cNvPr id="7" name="Rectangle 2"/>
          <p:cNvSpPr>
            <a:spLocks noChangeArrowheads="1"/>
          </p:cNvSpPr>
          <p:nvPr/>
        </p:nvSpPr>
        <p:spPr bwMode="auto">
          <a:xfrm>
            <a:off x="158750" y="144780"/>
            <a:ext cx="10179050" cy="584835"/>
          </a:xfrm>
          <a:prstGeom prst="rect">
            <a:avLst/>
          </a:prstGeom>
          <a:noFill/>
          <a:ln w="9525">
            <a:noFill/>
            <a:miter lim="800000"/>
          </a:ln>
        </p:spPr>
        <p:txBody>
          <a:bodyPr anchor="b"/>
          <a:lstStyle/>
          <a:p>
            <a:pPr eaLnBrk="0" hangingPunct="0"/>
            <a:r>
              <a:rPr lang="zh-CN" altLang="en-US" sz="2800" b="1" dirty="0">
                <a:solidFill>
                  <a:schemeClr val="bg1"/>
                </a:solidFill>
                <a:latin typeface="黑体" panose="02010609060101010101" charset="-122"/>
                <a:ea typeface="黑体" panose="02010609060101010101" charset="-122"/>
              </a:rPr>
              <a:t>六、项目内容</a:t>
            </a:r>
            <a:r>
              <a:rPr lang="en-US" altLang="zh-CN" sz="2800" b="1" dirty="0" smtClean="0">
                <a:solidFill>
                  <a:schemeClr val="bg1"/>
                </a:solidFill>
                <a:latin typeface="黑体" panose="02010609060101010101" charset="-122"/>
                <a:ea typeface="黑体" panose="02010609060101010101" charset="-122"/>
              </a:rPr>
              <a:t>-IT</a:t>
            </a:r>
            <a:r>
              <a:rPr lang="zh-CN" altLang="en-US" sz="2800" b="1" dirty="0">
                <a:solidFill>
                  <a:schemeClr val="bg1"/>
                </a:solidFill>
                <a:latin typeface="黑体" panose="02010609060101010101" charset="-122"/>
                <a:ea typeface="黑体" panose="02010609060101010101" charset="-122"/>
              </a:rPr>
              <a:t>部分</a:t>
            </a:r>
            <a:r>
              <a:rPr lang="zh-CN" altLang="en-US" sz="2800" b="1" dirty="0" smtClean="0">
                <a:solidFill>
                  <a:schemeClr val="bg1"/>
                </a:solidFill>
                <a:latin typeface="黑体" panose="02010609060101010101" charset="-122"/>
                <a:ea typeface="黑体" panose="02010609060101010101" charset="-122"/>
              </a:rPr>
              <a:t>商务</a:t>
            </a:r>
            <a:r>
              <a:rPr lang="zh-CN" altLang="en-US" sz="2800" b="1" dirty="0">
                <a:solidFill>
                  <a:schemeClr val="bg1"/>
                </a:solidFill>
                <a:latin typeface="黑体" panose="02010609060101010101" charset="-122"/>
                <a:ea typeface="黑体" panose="02010609060101010101" charset="-122"/>
              </a:rPr>
              <a:t>模式及收付款说明</a:t>
            </a:r>
            <a:endParaRPr lang="zh-CN" altLang="en-US" sz="2800" b="1" dirty="0">
              <a:solidFill>
                <a:schemeClr val="bg1"/>
              </a:solidFill>
              <a:latin typeface="黑体" panose="02010609060101010101" charset="-122"/>
              <a:ea typeface="黑体" panose="02010609060101010101" charset="-122"/>
            </a:endParaRPr>
          </a:p>
        </p:txBody>
      </p:sp>
      <p:sp>
        <p:nvSpPr>
          <p:cNvPr id="5" name="矩形 4"/>
          <p:cNvSpPr/>
          <p:nvPr/>
        </p:nvSpPr>
        <p:spPr>
          <a:xfrm>
            <a:off x="398145" y="1116965"/>
            <a:ext cx="11243310" cy="1691005"/>
          </a:xfrm>
          <a:prstGeom prst="rect">
            <a:avLst/>
          </a:prstGeom>
        </p:spPr>
        <p:txBody>
          <a:bodyPr wrap="square">
            <a:spAutoFit/>
          </a:bodyPr>
          <a:lstStyle/>
          <a:p>
            <a:pPr marL="285750" indent="-285750">
              <a:lnSpc>
                <a:spcPct val="120000"/>
              </a:lnSpc>
              <a:spcAft>
                <a:spcPts val="600"/>
              </a:spcAft>
              <a:buClr>
                <a:srgbClr val="FF0000"/>
              </a:buClr>
              <a:buFont typeface="Wingdings" panose="05000000000000000000" pitchFamily="2" charset="2"/>
              <a:buChar char="p"/>
              <a:defRPr/>
            </a:pPr>
            <a:r>
              <a:rPr lang="zh-CN" altLang="en-US" sz="1400" dirty="0">
                <a:latin typeface="微软雅黑" panose="020B0503020204020204" charset="-122"/>
                <a:ea typeface="微软雅黑" panose="020B0503020204020204" charset="-122"/>
              </a:rPr>
              <a:t>商务模式：服务</a:t>
            </a:r>
            <a:r>
              <a:rPr lang="zh-CN" altLang="en-US" sz="1400" dirty="0" smtClean="0">
                <a:latin typeface="微软雅黑" panose="020B0503020204020204" charset="-122"/>
                <a:ea typeface="微软雅黑" panose="020B0503020204020204" charset="-122"/>
              </a:rPr>
              <a:t>购销</a:t>
            </a:r>
            <a:r>
              <a:rPr lang="en-US" altLang="zh-CN" sz="1400" dirty="0" smtClean="0">
                <a:latin typeface="微软雅黑" panose="020B0503020204020204" charset="-122"/>
                <a:ea typeface="微软雅黑" panose="020B0503020204020204" charset="-122"/>
              </a:rPr>
              <a:t>/</a:t>
            </a:r>
            <a:r>
              <a:rPr lang="zh-CN" altLang="en-US" sz="1400" dirty="0" smtClean="0">
                <a:latin typeface="微软雅黑" panose="020B0503020204020204" charset="-122"/>
                <a:ea typeface="微软雅黑" panose="020B0503020204020204" charset="-122"/>
              </a:rPr>
              <a:t>投资模式</a:t>
            </a:r>
            <a:r>
              <a:rPr lang="en-US" altLang="zh-CN" sz="1400" dirty="0" smtClean="0">
                <a:latin typeface="微软雅黑" panose="020B0503020204020204" charset="-122"/>
                <a:ea typeface="微软雅黑" panose="020B0503020204020204" charset="-122"/>
              </a:rPr>
              <a:t>/</a:t>
            </a:r>
            <a:r>
              <a:rPr lang="zh-CN" altLang="en-US" sz="1400" dirty="0" smtClean="0">
                <a:latin typeface="微软雅黑" panose="020B0503020204020204" charset="-122"/>
                <a:ea typeface="微软雅黑" panose="020B0503020204020204" charset="-122"/>
              </a:rPr>
              <a:t>设备销售</a:t>
            </a:r>
            <a:endParaRPr lang="zh-CN" altLang="en-US" sz="1400" dirty="0">
              <a:latin typeface="微软雅黑" panose="020B0503020204020204" charset="-122"/>
              <a:ea typeface="微软雅黑" panose="020B0503020204020204" charset="-122"/>
              <a:sym typeface="+mn-ea"/>
            </a:endParaRPr>
          </a:p>
          <a:p>
            <a:pPr marL="285750" indent="-285750">
              <a:lnSpc>
                <a:spcPct val="120000"/>
              </a:lnSpc>
              <a:spcAft>
                <a:spcPts val="600"/>
              </a:spcAft>
              <a:buClr>
                <a:srgbClr val="FF0000"/>
              </a:buClr>
              <a:buFont typeface="Wingdings" panose="05000000000000000000" pitchFamily="2" charset="2"/>
              <a:buChar char="p"/>
              <a:defRPr/>
            </a:pPr>
            <a:r>
              <a:rPr lang="zh-CN" altLang="en-US" sz="1400" dirty="0">
                <a:latin typeface="微软雅黑" panose="020B0503020204020204" charset="-122"/>
                <a:ea typeface="微软雅黑" panose="020B0503020204020204" charset="-122"/>
              </a:rPr>
              <a:t>资金来源：成本</a:t>
            </a:r>
            <a:r>
              <a:rPr lang="zh-CN" altLang="en-US" sz="1400" dirty="0" smtClean="0">
                <a:latin typeface="微软雅黑" panose="020B0503020204020204" charset="-122"/>
                <a:ea typeface="微软雅黑" panose="020B0503020204020204" charset="-122"/>
              </a:rPr>
              <a:t>开支</a:t>
            </a:r>
            <a:r>
              <a:rPr lang="en-US" altLang="zh-CN" sz="1400" dirty="0" smtClean="0">
                <a:latin typeface="微软雅黑" panose="020B0503020204020204" charset="-122"/>
                <a:ea typeface="微软雅黑" panose="020B0503020204020204" charset="-122"/>
              </a:rPr>
              <a:t>/</a:t>
            </a:r>
            <a:r>
              <a:rPr lang="zh-CN" altLang="en-US" sz="1400" dirty="0" smtClean="0">
                <a:latin typeface="微软雅黑" panose="020B0503020204020204" charset="-122"/>
                <a:ea typeface="微软雅黑" panose="020B0503020204020204" charset="-122"/>
              </a:rPr>
              <a:t>资本开支</a:t>
            </a:r>
            <a:endParaRPr lang="zh-CN" altLang="en-US" sz="1400" dirty="0" smtClean="0">
              <a:latin typeface="微软雅黑" panose="020B0503020204020204" charset="-122"/>
              <a:ea typeface="微软雅黑" panose="020B0503020204020204" charset="-122"/>
            </a:endParaRPr>
          </a:p>
          <a:p>
            <a:pPr marL="285750" indent="-285750">
              <a:lnSpc>
                <a:spcPct val="120000"/>
              </a:lnSpc>
              <a:spcAft>
                <a:spcPts val="600"/>
              </a:spcAft>
              <a:buClr>
                <a:srgbClr val="FF0000"/>
              </a:buClr>
              <a:buFont typeface="Wingdings" panose="05000000000000000000" pitchFamily="2" charset="2"/>
              <a:buChar char="p"/>
              <a:defRPr/>
            </a:pPr>
            <a:r>
              <a:rPr lang="zh-CN" altLang="en-US" sz="1400" dirty="0" smtClean="0">
                <a:highlight>
                  <a:srgbClr val="FFFF00"/>
                </a:highlight>
                <a:latin typeface="微软雅黑" panose="020B0503020204020204" charset="-122"/>
                <a:ea typeface="微软雅黑" panose="020B0503020204020204" charset="-122"/>
              </a:rPr>
              <a:t>供应商是否为中小企业：是</a:t>
            </a:r>
            <a:r>
              <a:rPr lang="en-US" altLang="zh-CN" sz="1400" dirty="0" smtClean="0">
                <a:highlight>
                  <a:srgbClr val="FFFF00"/>
                </a:highlight>
                <a:latin typeface="微软雅黑" panose="020B0503020204020204" charset="-122"/>
                <a:ea typeface="微软雅黑" panose="020B0503020204020204" charset="-122"/>
              </a:rPr>
              <a:t>/</a:t>
            </a:r>
            <a:r>
              <a:rPr lang="zh-CN" altLang="en-US" sz="1400" dirty="0" smtClean="0">
                <a:highlight>
                  <a:srgbClr val="FFFF00"/>
                </a:highlight>
                <a:latin typeface="微软雅黑" panose="020B0503020204020204" charset="-122"/>
                <a:ea typeface="微软雅黑" panose="020B0503020204020204" charset="-122"/>
              </a:rPr>
              <a:t>否</a:t>
            </a:r>
            <a:r>
              <a:rPr lang="en-US" altLang="zh-CN" sz="1400" dirty="0" smtClean="0">
                <a:highlight>
                  <a:srgbClr val="FFFF00"/>
                </a:highlight>
                <a:latin typeface="微软雅黑" panose="020B0503020204020204" charset="-122"/>
                <a:ea typeface="微软雅黑" panose="020B0503020204020204" charset="-122"/>
              </a:rPr>
              <a:t>    </a:t>
            </a:r>
            <a:endParaRPr lang="en-US" altLang="zh-CN" sz="1400" dirty="0" smtClean="0">
              <a:highlight>
                <a:srgbClr val="FFFF00"/>
              </a:highlight>
              <a:latin typeface="微软雅黑" panose="020B0503020204020204" charset="-122"/>
              <a:ea typeface="微软雅黑" panose="020B0503020204020204" charset="-122"/>
            </a:endParaRPr>
          </a:p>
          <a:p>
            <a:pPr marL="285750" indent="-285750">
              <a:lnSpc>
                <a:spcPct val="120000"/>
              </a:lnSpc>
              <a:spcAft>
                <a:spcPts val="600"/>
              </a:spcAft>
              <a:buClr>
                <a:srgbClr val="FF0000"/>
              </a:buClr>
              <a:buFont typeface="Wingdings" panose="05000000000000000000" pitchFamily="2" charset="2"/>
              <a:buChar char="p"/>
              <a:defRPr/>
            </a:pPr>
            <a:r>
              <a:rPr lang="zh-CN" altLang="en-US" sz="1400" dirty="0" smtClean="0">
                <a:highlight>
                  <a:srgbClr val="FFFF00"/>
                </a:highlight>
                <a:latin typeface="微软雅黑" panose="020B0503020204020204" charset="-122"/>
                <a:ea typeface="微软雅黑" panose="020B0503020204020204" charset="-122"/>
              </a:rPr>
              <a:t>是否涉及垫资：是</a:t>
            </a:r>
            <a:r>
              <a:rPr lang="en-US" altLang="zh-CN" sz="1400" dirty="0" smtClean="0">
                <a:highlight>
                  <a:srgbClr val="FFFF00"/>
                </a:highlight>
                <a:latin typeface="微软雅黑" panose="020B0503020204020204" charset="-122"/>
                <a:ea typeface="微软雅黑" panose="020B0503020204020204" charset="-122"/>
              </a:rPr>
              <a:t>/</a:t>
            </a:r>
            <a:r>
              <a:rPr lang="zh-CN" altLang="en-US" sz="1400" dirty="0" smtClean="0">
                <a:highlight>
                  <a:srgbClr val="FFFF00"/>
                </a:highlight>
                <a:latin typeface="微软雅黑" panose="020B0503020204020204" charset="-122"/>
                <a:ea typeface="微软雅黑" panose="020B0503020204020204" charset="-122"/>
              </a:rPr>
              <a:t>否</a:t>
            </a:r>
            <a:r>
              <a:rPr lang="zh-CN" altLang="en-US" sz="1400" dirty="0" smtClean="0">
                <a:highlight>
                  <a:srgbClr val="FFFF00"/>
                </a:highlight>
                <a:latin typeface="微软雅黑" panose="020B0503020204020204" charset="-122"/>
                <a:ea typeface="微软雅黑" panose="020B0503020204020204" charset="-122"/>
                <a:sym typeface="+mn-ea"/>
              </a:rPr>
              <a:t>（</a:t>
            </a:r>
            <a:r>
              <a:rPr lang="zh-CN" altLang="en-US" sz="1400" dirty="0" smtClean="0">
                <a:solidFill>
                  <a:srgbClr val="FF0000"/>
                </a:solidFill>
                <a:highlight>
                  <a:srgbClr val="FFFF00"/>
                </a:highlight>
                <a:latin typeface="微软雅黑" panose="020B0503020204020204" charset="-122"/>
                <a:ea typeface="微软雅黑" panose="020B0503020204020204" charset="-122"/>
                <a:sym typeface="+mn-ea"/>
              </a:rPr>
              <a:t>如为大型企业且不涉及垫资，则必须明确：客户回款后再支付给供应商，向供应商付款金额不高于客户回款金额。</a:t>
            </a:r>
            <a:r>
              <a:rPr lang="zh-CN" altLang="en-US" sz="1400" dirty="0" smtClean="0">
                <a:highlight>
                  <a:srgbClr val="FFFF00"/>
                </a:highlight>
                <a:latin typeface="微软雅黑" panose="020B0503020204020204" charset="-122"/>
                <a:ea typeface="微软雅黑" panose="020B0503020204020204" charset="-122"/>
                <a:sym typeface="+mn-ea"/>
              </a:rPr>
              <a:t>）</a:t>
            </a:r>
            <a:r>
              <a:rPr lang="en-US" altLang="zh-CN" sz="1400" dirty="0" smtClean="0">
                <a:highlight>
                  <a:srgbClr val="FFFF00"/>
                </a:highlight>
                <a:latin typeface="微软雅黑" panose="020B0503020204020204" charset="-122"/>
                <a:ea typeface="微软雅黑" panose="020B0503020204020204" charset="-122"/>
              </a:rPr>
              <a:t>   </a:t>
            </a:r>
            <a:endParaRPr lang="zh-CN" altLang="en-US" sz="1400" dirty="0" smtClean="0">
              <a:highlight>
                <a:srgbClr val="FFFF00"/>
              </a:highlight>
              <a:latin typeface="微软雅黑" panose="020B0503020204020204" charset="-122"/>
              <a:ea typeface="微软雅黑" panose="020B0503020204020204" charset="-122"/>
            </a:endParaRPr>
          </a:p>
          <a:p>
            <a:pPr marL="285750" indent="-285750">
              <a:lnSpc>
                <a:spcPct val="120000"/>
              </a:lnSpc>
              <a:spcAft>
                <a:spcPts val="600"/>
              </a:spcAft>
              <a:buClr>
                <a:srgbClr val="FF0000"/>
              </a:buClr>
              <a:buFont typeface="Wingdings" panose="05000000000000000000" pitchFamily="2" charset="2"/>
              <a:buChar char="p"/>
              <a:defRPr/>
            </a:pPr>
            <a:r>
              <a:rPr lang="zh-CN" altLang="en-US" sz="1400" dirty="0">
                <a:solidFill>
                  <a:schemeClr val="tx1"/>
                </a:solidFill>
                <a:latin typeface="微软雅黑" panose="020B0503020204020204" charset="-122"/>
                <a:ea typeface="微软雅黑" panose="020B0503020204020204" charset="-122"/>
                <a:sym typeface="+mn-ea"/>
              </a:rPr>
              <a:t>客户单位性质：政府</a:t>
            </a:r>
            <a:r>
              <a:rPr lang="en-US" altLang="zh-CN" sz="1400" dirty="0">
                <a:solidFill>
                  <a:schemeClr val="tx1"/>
                </a:solidFill>
                <a:latin typeface="微软雅黑" panose="020B0503020204020204" charset="-122"/>
                <a:ea typeface="微软雅黑" panose="020B0503020204020204" charset="-122"/>
                <a:sym typeface="+mn-ea"/>
              </a:rPr>
              <a:t>/</a:t>
            </a:r>
            <a:r>
              <a:rPr lang="zh-CN" altLang="en-US" sz="1400" dirty="0">
                <a:solidFill>
                  <a:schemeClr val="tx1"/>
                </a:solidFill>
                <a:latin typeface="微软雅黑" panose="020B0503020204020204" charset="-122"/>
                <a:ea typeface="微软雅黑" panose="020B0503020204020204" charset="-122"/>
                <a:sym typeface="+mn-ea"/>
              </a:rPr>
              <a:t>国企</a:t>
            </a:r>
            <a:r>
              <a:rPr lang="en-US" altLang="zh-CN" sz="1400" dirty="0">
                <a:solidFill>
                  <a:schemeClr val="tx1"/>
                </a:solidFill>
                <a:latin typeface="微软雅黑" panose="020B0503020204020204" charset="-122"/>
                <a:ea typeface="微软雅黑" panose="020B0503020204020204" charset="-122"/>
                <a:sym typeface="+mn-ea"/>
              </a:rPr>
              <a:t>/</a:t>
            </a:r>
            <a:r>
              <a:rPr lang="zh-CN" altLang="en-US" sz="1400" dirty="0">
                <a:solidFill>
                  <a:schemeClr val="tx1"/>
                </a:solidFill>
                <a:latin typeface="微软雅黑" panose="020B0503020204020204" charset="-122"/>
                <a:ea typeface="微软雅黑" panose="020B0503020204020204" charset="-122"/>
                <a:sym typeface="+mn-ea"/>
              </a:rPr>
              <a:t>事业单位</a:t>
            </a:r>
            <a:r>
              <a:rPr lang="en-US" altLang="zh-CN" sz="1400" dirty="0">
                <a:solidFill>
                  <a:schemeClr val="tx1"/>
                </a:solidFill>
                <a:latin typeface="微软雅黑" panose="020B0503020204020204" charset="-122"/>
                <a:ea typeface="微软雅黑" panose="020B0503020204020204" charset="-122"/>
                <a:sym typeface="+mn-ea"/>
              </a:rPr>
              <a:t>/</a:t>
            </a:r>
            <a:r>
              <a:rPr lang="zh-CN" altLang="en-US" sz="1400" dirty="0">
                <a:solidFill>
                  <a:schemeClr val="tx1"/>
                </a:solidFill>
                <a:latin typeface="微软雅黑" panose="020B0503020204020204" charset="-122"/>
                <a:ea typeface="微软雅黑" panose="020B0503020204020204" charset="-122"/>
                <a:sym typeface="+mn-ea"/>
              </a:rPr>
              <a:t>其它等</a:t>
            </a:r>
            <a:endParaRPr lang="zh-CN" altLang="en-US" sz="1400" dirty="0">
              <a:solidFill>
                <a:schemeClr val="tx1"/>
              </a:solidFill>
              <a:latin typeface="微软雅黑" panose="020B0503020204020204" charset="-122"/>
              <a:ea typeface="微软雅黑" panose="020B0503020204020204" charset="-122"/>
              <a:sym typeface="+mn-ea"/>
            </a:endParaRPr>
          </a:p>
        </p:txBody>
      </p:sp>
      <p:graphicFrame>
        <p:nvGraphicFramePr>
          <p:cNvPr id="6" name="表格 5"/>
          <p:cNvGraphicFramePr>
            <a:graphicFrameLocks noGrp="1"/>
          </p:cNvGraphicFramePr>
          <p:nvPr>
            <p:custDataLst>
              <p:tags r:id="rId2"/>
            </p:custDataLst>
          </p:nvPr>
        </p:nvGraphicFramePr>
        <p:xfrm>
          <a:off x="370840" y="4628745"/>
          <a:ext cx="11270673" cy="1768475"/>
        </p:xfrm>
        <a:graphic>
          <a:graphicData uri="http://schemas.openxmlformats.org/drawingml/2006/table">
            <a:tbl>
              <a:tblPr firstRow="1" bandRow="1">
                <a:tableStyleId>{5C22544A-7EE6-4342-B048-85BDC9FD1C3A}</a:tableStyleId>
              </a:tblPr>
              <a:tblGrid>
                <a:gridCol w="1946564"/>
                <a:gridCol w="2050472"/>
                <a:gridCol w="1898073"/>
                <a:gridCol w="2036618"/>
                <a:gridCol w="1745673"/>
                <a:gridCol w="1593273"/>
              </a:tblGrid>
              <a:tr h="501015">
                <a:tc>
                  <a:txBody>
                    <a:bodyPr/>
                    <a:lstStyle/>
                    <a:p>
                      <a:pPr algn="ctr"/>
                      <a:r>
                        <a:rPr lang="zh-CN" altLang="en-US" sz="1200" dirty="0">
                          <a:latin typeface="微软雅黑" panose="020B0503020204020204" charset="-122"/>
                          <a:ea typeface="微软雅黑" panose="020B0503020204020204" charset="-122"/>
                        </a:rPr>
                        <a:t>年限</a:t>
                      </a:r>
                      <a:endParaRPr lang="zh-CN" altLang="en-US" sz="1200" dirty="0">
                        <a:latin typeface="微软雅黑" panose="020B0503020204020204" charset="-122"/>
                        <a:ea typeface="微软雅黑" panose="020B050302020402020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r>
                        <a:rPr lang="en-US" altLang="zh-CN" sz="1400" dirty="0">
                          <a:solidFill>
                            <a:srgbClr val="FF0000"/>
                          </a:solidFill>
                          <a:latin typeface="微软雅黑" panose="020B0503020204020204" charset="-122"/>
                          <a:ea typeface="微软雅黑" panose="020B0503020204020204" charset="-122"/>
                        </a:rPr>
                        <a:t>IT</a:t>
                      </a:r>
                      <a:r>
                        <a:rPr lang="zh-CN" altLang="en-US" sz="1400" dirty="0">
                          <a:solidFill>
                            <a:srgbClr val="FF0000"/>
                          </a:solidFill>
                          <a:latin typeface="微软雅黑" panose="020B0503020204020204" charset="-122"/>
                          <a:ea typeface="微软雅黑" panose="020B0503020204020204" charset="-122"/>
                        </a:rPr>
                        <a:t>收入（不含税</a:t>
                      </a:r>
                      <a:r>
                        <a:rPr lang="en-US" altLang="zh-CN" sz="1400" dirty="0">
                          <a:solidFill>
                            <a:srgbClr val="FF0000"/>
                          </a:solidFill>
                          <a:latin typeface="微软雅黑" panose="020B0503020204020204" charset="-122"/>
                          <a:ea typeface="微软雅黑" panose="020B0503020204020204" charset="-122"/>
                        </a:rPr>
                        <a:t>/</a:t>
                      </a:r>
                      <a:r>
                        <a:rPr lang="zh-CN" altLang="en-US" sz="1400" dirty="0">
                          <a:solidFill>
                            <a:srgbClr val="FF0000"/>
                          </a:solidFill>
                          <a:latin typeface="微软雅黑" panose="020B0503020204020204" charset="-122"/>
                          <a:ea typeface="微软雅黑" panose="020B0503020204020204" charset="-122"/>
                        </a:rPr>
                        <a:t>元）</a:t>
                      </a:r>
                      <a:endParaRPr lang="zh-CN" altLang="en-US" sz="1400" dirty="0">
                        <a:solidFill>
                          <a:srgbClr val="FF0000"/>
                        </a:solidFill>
                        <a:latin typeface="微软雅黑" panose="020B0503020204020204" charset="-122"/>
                        <a:ea typeface="微软雅黑" panose="020B050302020402020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r>
                        <a:rPr lang="en-US" altLang="zh-CN" sz="1400" b="1" dirty="0" smtClean="0">
                          <a:solidFill>
                            <a:srgbClr val="FF0000"/>
                          </a:solidFill>
                          <a:latin typeface="微软雅黑" panose="020B0503020204020204" charset="-122"/>
                          <a:ea typeface="微软雅黑" panose="020B0503020204020204" charset="-122"/>
                        </a:rPr>
                        <a:t>IT</a:t>
                      </a:r>
                      <a:r>
                        <a:rPr lang="zh-CN" altLang="en-US" sz="1400" b="1" dirty="0" smtClean="0">
                          <a:solidFill>
                            <a:srgbClr val="FF0000"/>
                          </a:solidFill>
                          <a:latin typeface="微软雅黑" panose="020B0503020204020204" charset="-122"/>
                          <a:ea typeface="微软雅黑" panose="020B0503020204020204" charset="-122"/>
                        </a:rPr>
                        <a:t>收入（含税</a:t>
                      </a:r>
                      <a:r>
                        <a:rPr lang="en-US" altLang="zh-CN" sz="1400" b="1" dirty="0" smtClean="0">
                          <a:solidFill>
                            <a:srgbClr val="FF0000"/>
                          </a:solidFill>
                          <a:latin typeface="微软雅黑" panose="020B0503020204020204" charset="-122"/>
                          <a:ea typeface="微软雅黑" panose="020B0503020204020204" charset="-122"/>
                        </a:rPr>
                        <a:t>/</a:t>
                      </a:r>
                      <a:r>
                        <a:rPr lang="zh-CN" altLang="en-US" sz="1400" b="1" dirty="0" smtClean="0">
                          <a:solidFill>
                            <a:srgbClr val="FF0000"/>
                          </a:solidFill>
                          <a:latin typeface="微软雅黑" panose="020B0503020204020204" charset="-122"/>
                          <a:ea typeface="微软雅黑" panose="020B0503020204020204" charset="-122"/>
                        </a:rPr>
                        <a:t>元）</a:t>
                      </a:r>
                      <a:endParaRPr lang="zh-CN" altLang="en-US" sz="1400" b="1" dirty="0">
                        <a:solidFill>
                          <a:srgbClr val="FF0000"/>
                        </a:solidFill>
                        <a:latin typeface="微软雅黑" panose="020B0503020204020204" charset="-122"/>
                        <a:ea typeface="微软雅黑" panose="020B0503020204020204" charset="-122"/>
                      </a:endParaRPr>
                    </a:p>
                  </a:txBody>
                  <a:tcPr anchor="ct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mpd="sng">
                      <a:solidFill>
                        <a:schemeClr val="tx1"/>
                      </a:solidFill>
                      <a:prstDash val="soli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400" b="1" dirty="0" smtClean="0">
                          <a:solidFill>
                            <a:srgbClr val="FF0000"/>
                          </a:solidFill>
                          <a:latin typeface="微软雅黑" panose="020B0503020204020204" charset="-122"/>
                          <a:ea typeface="微软雅黑" panose="020B0503020204020204" charset="-122"/>
                        </a:rPr>
                        <a:t>IT</a:t>
                      </a:r>
                      <a:r>
                        <a:rPr lang="zh-CN" altLang="en-US" sz="1400" b="1" dirty="0" smtClean="0">
                          <a:solidFill>
                            <a:srgbClr val="FF0000"/>
                          </a:solidFill>
                          <a:latin typeface="微软雅黑" panose="020B0503020204020204" charset="-122"/>
                          <a:ea typeface="微软雅黑" panose="020B0503020204020204" charset="-122"/>
                        </a:rPr>
                        <a:t>支出（不含税</a:t>
                      </a:r>
                      <a:r>
                        <a:rPr lang="en-US" altLang="zh-CN" sz="1400" b="1" dirty="0" smtClean="0">
                          <a:solidFill>
                            <a:srgbClr val="FF0000"/>
                          </a:solidFill>
                          <a:latin typeface="微软雅黑" panose="020B0503020204020204" charset="-122"/>
                          <a:ea typeface="微软雅黑" panose="020B0503020204020204" charset="-122"/>
                        </a:rPr>
                        <a:t>/</a:t>
                      </a:r>
                      <a:r>
                        <a:rPr lang="zh-CN" altLang="en-US" sz="1400" b="1" dirty="0" smtClean="0">
                          <a:solidFill>
                            <a:srgbClr val="FF0000"/>
                          </a:solidFill>
                          <a:latin typeface="微软雅黑" panose="020B0503020204020204" charset="-122"/>
                          <a:ea typeface="微软雅黑" panose="020B0503020204020204" charset="-122"/>
                        </a:rPr>
                        <a:t>元）</a:t>
                      </a:r>
                      <a:endParaRPr lang="zh-CN" altLang="en-US" sz="1400" b="1" dirty="0" smtClean="0">
                        <a:solidFill>
                          <a:srgbClr val="FF0000"/>
                        </a:solidFill>
                        <a:latin typeface="微软雅黑" panose="020B0503020204020204" charset="-122"/>
                        <a:ea typeface="微软雅黑" panose="020B050302020402020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smtClean="0">
                          <a:solidFill>
                            <a:srgbClr val="FF0000"/>
                          </a:solidFill>
                          <a:latin typeface="微软雅黑" panose="020B0503020204020204" charset="-122"/>
                          <a:ea typeface="微软雅黑" panose="020B0503020204020204" charset="-122"/>
                        </a:rPr>
                        <a:t>IT</a:t>
                      </a:r>
                      <a:r>
                        <a:rPr lang="zh-CN" altLang="en-US" sz="1400" b="1" dirty="0" smtClean="0">
                          <a:solidFill>
                            <a:srgbClr val="FF0000"/>
                          </a:solidFill>
                          <a:latin typeface="微软雅黑" panose="020B0503020204020204" charset="-122"/>
                          <a:ea typeface="微软雅黑" panose="020B0503020204020204" charset="-122"/>
                        </a:rPr>
                        <a:t>支出（含税</a:t>
                      </a:r>
                      <a:r>
                        <a:rPr lang="en-US" altLang="zh-CN" sz="1400" b="1" dirty="0" smtClean="0">
                          <a:solidFill>
                            <a:srgbClr val="FF0000"/>
                          </a:solidFill>
                          <a:latin typeface="微软雅黑" panose="020B0503020204020204" charset="-122"/>
                          <a:ea typeface="微软雅黑" panose="020B0503020204020204" charset="-122"/>
                        </a:rPr>
                        <a:t>/</a:t>
                      </a:r>
                      <a:r>
                        <a:rPr lang="zh-CN" altLang="en-US" sz="1400" b="1" dirty="0" smtClean="0">
                          <a:solidFill>
                            <a:srgbClr val="FF0000"/>
                          </a:solidFill>
                          <a:latin typeface="微软雅黑" panose="020B0503020204020204" charset="-122"/>
                          <a:ea typeface="微软雅黑" panose="020B0503020204020204" charset="-122"/>
                        </a:rPr>
                        <a:t>元）</a:t>
                      </a:r>
                      <a:endParaRPr lang="zh-CN" altLang="en-US" sz="1400" b="1" dirty="0">
                        <a:solidFill>
                          <a:srgbClr val="FF0000"/>
                        </a:solidFill>
                        <a:latin typeface="微软雅黑" panose="020B0503020204020204" charset="-122"/>
                        <a:ea typeface="微软雅黑" panose="020B0503020204020204" charset="-122"/>
                      </a:endParaRPr>
                    </a:p>
                  </a:txBody>
                  <a:tcPr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solidFill>
                            <a:srgbClr val="FF0000"/>
                          </a:solidFill>
                          <a:latin typeface="微软雅黑" panose="020B0503020204020204" charset="-122"/>
                          <a:ea typeface="微软雅黑" panose="020B0503020204020204" charset="-122"/>
                        </a:rPr>
                        <a:t>预计回款时间</a:t>
                      </a:r>
                      <a:endParaRPr lang="zh-CN" altLang="en-US" sz="1400" dirty="0">
                        <a:solidFill>
                          <a:srgbClr val="FF0000"/>
                        </a:solidFill>
                        <a:latin typeface="微软雅黑" panose="020B0503020204020204" charset="-122"/>
                        <a:ea typeface="微软雅黑" panose="020B050302020402020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16865">
                <a:tc>
                  <a:txBody>
                    <a:bodyPr/>
                    <a:lstStyle/>
                    <a:p>
                      <a:pPr algn="ctr"/>
                      <a:r>
                        <a:rPr lang="zh-CN" altLang="en-US" sz="1200" dirty="0" smtClean="0">
                          <a:latin typeface="微软雅黑" panose="020B0503020204020204" charset="-122"/>
                          <a:ea typeface="微软雅黑" panose="020B0503020204020204" charset="-122"/>
                        </a:rPr>
                        <a:t>第一年</a:t>
                      </a:r>
                      <a:endParaRPr lang="zh-CN" altLang="en-US" sz="1200" dirty="0">
                        <a:latin typeface="微软雅黑" panose="020B0503020204020204" charset="-122"/>
                        <a:ea typeface="微软雅黑" panose="020B0503020204020204"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endParaRPr lang="en-US" altLang="zh-CN" sz="1200" b="1" dirty="0">
                        <a:solidFill>
                          <a:srgbClr val="FF0000"/>
                        </a:solidFill>
                        <a:latin typeface="微软雅黑" panose="020B0503020204020204" charset="-122"/>
                        <a:ea typeface="微软雅黑" panose="020B0503020204020204" charset="-122"/>
                        <a:sym typeface="+mn-ea"/>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00000"/>
                        </a:lnSpc>
                      </a:pPr>
                      <a:endParaRPr lang="en-US" altLang="zh-CN" sz="1200" kern="1200" dirty="0">
                        <a:solidFill>
                          <a:srgbClr val="000000"/>
                        </a:solidFill>
                        <a:latin typeface="微软雅黑" panose="020B0503020204020204" charset="-122"/>
                        <a:ea typeface="微软雅黑" panose="020B0503020204020204" charset="-122"/>
                        <a:cs typeface="+mn-cs"/>
                        <a:sym typeface="+mn-ea"/>
                      </a:endParaRPr>
                    </a:p>
                  </a:txBody>
                  <a:tcPr marL="0" marR="0" marT="0" marB="0" anchor="ct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mpd="sng">
                      <a:solidFill>
                        <a:schemeClr val="tx1"/>
                      </a:solidFill>
                      <a:prstDash val="solid"/>
                    </a:lnB>
                  </a:tcPr>
                </a:tc>
                <a:tc>
                  <a:txBody>
                    <a:bodyPr/>
                    <a:lstStyle/>
                    <a:p>
                      <a:pPr algn="ctr" fontAlgn="ctr">
                        <a:lnSpc>
                          <a:spcPct val="100000"/>
                        </a:lnSpc>
                      </a:pPr>
                      <a:endParaRPr lang="en-US" altLang="zh-CN" sz="1200" kern="1200" dirty="0">
                        <a:solidFill>
                          <a:srgbClr val="000000"/>
                        </a:solidFill>
                        <a:latin typeface="微软雅黑" panose="020B0503020204020204" charset="-122"/>
                        <a:ea typeface="微软雅黑" panose="020B0503020204020204" charset="-122"/>
                        <a:cs typeface="+mn-cs"/>
                        <a:sym typeface="+mn-ea"/>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lnSpc>
                          <a:spcPct val="100000"/>
                        </a:lnSpc>
                      </a:pPr>
                      <a:endParaRPr lang="en-US" altLang="zh-CN" sz="1200" kern="1200" dirty="0">
                        <a:solidFill>
                          <a:srgbClr val="000000"/>
                        </a:solidFill>
                        <a:latin typeface="微软雅黑" panose="020B0503020204020204" charset="-122"/>
                        <a:ea typeface="微软雅黑" panose="020B0503020204020204" charset="-122"/>
                        <a:cs typeface="+mn-cs"/>
                        <a:sym typeface="+mn-ea"/>
                      </a:endParaRPr>
                    </a:p>
                  </a:txBody>
                  <a:tcPr marL="0" marR="0" marT="0" marB="0"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zh-CN" altLang="en-US" sz="1200" kern="1200" dirty="0">
                        <a:solidFill>
                          <a:schemeClr val="dk1"/>
                        </a:solidFill>
                        <a:latin typeface="微软雅黑" panose="020B0503020204020204" charset="-122"/>
                        <a:ea typeface="微软雅黑" panose="020B0503020204020204" charset="-122"/>
                        <a:cs typeface="+mn-cs"/>
                      </a:endParaRPr>
                    </a:p>
                  </a:txBody>
                  <a:tcPr marL="0" marR="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1686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dirty="0" smtClean="0">
                          <a:latin typeface="微软雅黑" panose="020B0503020204020204" charset="-122"/>
                          <a:ea typeface="微软雅黑" panose="020B0503020204020204" charset="-122"/>
                        </a:rPr>
                        <a:t>第二年</a:t>
                      </a:r>
                      <a:endParaRPr lang="zh-CN" altLang="en-US" sz="1200" dirty="0">
                        <a:latin typeface="微软雅黑" panose="020B0503020204020204" charset="-122"/>
                        <a:ea typeface="微软雅黑" panose="020B0503020204020204" charset="-122"/>
                      </a:endParaRPr>
                    </a:p>
                  </a:txBody>
                  <a:tcPr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tc>
                  <a:txBody>
                    <a:bodyPr/>
                    <a:lstStyle/>
                    <a:p>
                      <a:pPr algn="ctr" fontAlgn="ctr"/>
                      <a:endParaRPr lang="en-US" altLang="zh-CN" sz="1200" kern="1200" dirty="0">
                        <a:solidFill>
                          <a:srgbClr val="000000"/>
                        </a:solidFill>
                        <a:latin typeface="微软雅黑" panose="020B0503020204020204" charset="-122"/>
                        <a:ea typeface="微软雅黑" panose="020B0503020204020204" charset="-122"/>
                        <a:cs typeface="+mn-cs"/>
                        <a:sym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tc>
                  <a:txBody>
                    <a:bodyPr/>
                    <a:lstStyle/>
                    <a:p>
                      <a:pPr algn="ctr" fontAlgn="ctr">
                        <a:lnSpc>
                          <a:spcPct val="100000"/>
                        </a:lnSpc>
                      </a:pPr>
                      <a:endParaRPr lang="en-US" altLang="zh-CN" sz="1200" kern="1200" dirty="0">
                        <a:solidFill>
                          <a:srgbClr val="000000"/>
                        </a:solidFill>
                        <a:latin typeface="微软雅黑" panose="020B0503020204020204" charset="-122"/>
                        <a:ea typeface="微软雅黑" panose="020B0503020204020204" charset="-122"/>
                        <a:cs typeface="+mn-cs"/>
                        <a:sym typeface="+mn-ea"/>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tc>
                  <a:txBody>
                    <a:bodyPr/>
                    <a:lstStyle/>
                    <a:p>
                      <a:pPr algn="ctr" fontAlgn="ctr">
                        <a:lnSpc>
                          <a:spcPct val="100000"/>
                        </a:lnSpc>
                      </a:pPr>
                      <a:endParaRPr lang="en-US" altLang="zh-CN" sz="1200" kern="1200" dirty="0">
                        <a:solidFill>
                          <a:srgbClr val="000000"/>
                        </a:solidFill>
                        <a:latin typeface="微软雅黑" panose="020B0503020204020204" charset="-122"/>
                        <a:ea typeface="微软雅黑" panose="020B0503020204020204" charset="-122"/>
                        <a:cs typeface="+mn-cs"/>
                        <a:sym typeface="+mn-ea"/>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lnSpc>
                          <a:spcPct val="100000"/>
                        </a:lnSpc>
                      </a:pPr>
                      <a:endParaRPr lang="en-US" altLang="zh-CN" sz="1200" kern="1200" dirty="0">
                        <a:solidFill>
                          <a:srgbClr val="000000"/>
                        </a:solidFill>
                        <a:latin typeface="微软雅黑" panose="020B0503020204020204" charset="-122"/>
                        <a:ea typeface="微软雅黑" panose="020B0503020204020204" charset="-122"/>
                        <a:cs typeface="+mn-cs"/>
                        <a:sym typeface="+mn-ea"/>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endParaRPr lang="zh-CN" altLang="en-US" sz="1200" kern="1200" dirty="0">
                        <a:solidFill>
                          <a:schemeClr val="dk1"/>
                        </a:solidFill>
                        <a:latin typeface="微软雅黑" panose="020B0503020204020204" charset="-122"/>
                        <a:ea typeface="微软雅黑" panose="020B0503020204020204" charset="-122"/>
                        <a:cs typeface="+mn-cs"/>
                      </a:endParaRPr>
                    </a:p>
                  </a:txBody>
                  <a:tcPr marL="0" marR="0" marT="0" marB="0"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tcPr>
                </a:tc>
              </a:tr>
              <a:tr h="316865">
                <a:tc>
                  <a:txBody>
                    <a:bodyPr/>
                    <a:lstStyle/>
                    <a:p>
                      <a:pPr algn="ctr"/>
                      <a:r>
                        <a:rPr lang="zh-CN" altLang="en-US" sz="1200" dirty="0" smtClean="0">
                          <a:latin typeface="微软雅黑" panose="020B0503020204020204" charset="-122"/>
                          <a:ea typeface="微软雅黑" panose="020B0503020204020204" charset="-122"/>
                        </a:rPr>
                        <a:t>第三年</a:t>
                      </a:r>
                      <a:endParaRPr lang="zh-CN" altLang="en-US" sz="1200" dirty="0">
                        <a:latin typeface="微软雅黑" panose="020B0503020204020204" charset="-122"/>
                        <a:ea typeface="微软雅黑" panose="020B0503020204020204" charset="-122"/>
                      </a:endParaRPr>
                    </a:p>
                  </a:txBody>
                  <a:tcPr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altLang="zh-CN" sz="1200" b="1" dirty="0">
                        <a:solidFill>
                          <a:srgbClr val="FF0000"/>
                        </a:solidFill>
                        <a:latin typeface="微软雅黑" panose="020B0503020204020204" charset="-122"/>
                        <a:ea typeface="微软雅黑" panose="020B0503020204020204" charset="-122"/>
                        <a:sym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lnSpc>
                          <a:spcPct val="100000"/>
                        </a:lnSpc>
                      </a:pPr>
                      <a:endParaRPr lang="en-US" altLang="zh-CN" sz="1200" kern="1200" dirty="0">
                        <a:solidFill>
                          <a:srgbClr val="000000"/>
                        </a:solidFill>
                        <a:latin typeface="微软雅黑" panose="020B0503020204020204" charset="-122"/>
                        <a:ea typeface="微软雅黑" panose="020B0503020204020204" charset="-122"/>
                        <a:cs typeface="+mn-cs"/>
                        <a:sym typeface="+mn-ea"/>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lnSpc>
                          <a:spcPct val="100000"/>
                        </a:lnSpc>
                      </a:pPr>
                      <a:endParaRPr lang="en-US" altLang="zh-CN" sz="1200" kern="1200" dirty="0">
                        <a:solidFill>
                          <a:srgbClr val="000000"/>
                        </a:solidFill>
                        <a:latin typeface="微软雅黑" panose="020B0503020204020204" charset="-122"/>
                        <a:ea typeface="微软雅黑" panose="020B0503020204020204" charset="-122"/>
                        <a:cs typeface="+mn-cs"/>
                        <a:sym typeface="+mn-ea"/>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lnSpc>
                          <a:spcPct val="100000"/>
                        </a:lnSpc>
                      </a:pPr>
                      <a:endParaRPr lang="en-US" altLang="zh-CN" sz="1200" kern="1200" dirty="0">
                        <a:solidFill>
                          <a:srgbClr val="000000"/>
                        </a:solidFill>
                        <a:latin typeface="微软雅黑" panose="020B0503020204020204" charset="-122"/>
                        <a:ea typeface="微软雅黑" panose="020B0503020204020204" charset="-122"/>
                        <a:cs typeface="+mn-cs"/>
                        <a:sym typeface="+mn-ea"/>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200" dirty="0">
                        <a:latin typeface="微软雅黑" panose="020B0503020204020204" charset="-122"/>
                        <a:ea typeface="微软雅黑" panose="020B0503020204020204" charset="-122"/>
                      </a:endParaRPr>
                    </a:p>
                  </a:txBody>
                  <a:tcPr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16865">
                <a:tc>
                  <a:txBody>
                    <a:bodyPr/>
                    <a:lstStyle/>
                    <a:p>
                      <a:pPr algn="ctr"/>
                      <a:r>
                        <a:rPr lang="zh-CN" altLang="en-US" sz="1200" dirty="0">
                          <a:latin typeface="微软雅黑" panose="020B0503020204020204" charset="-122"/>
                          <a:ea typeface="微软雅黑" panose="020B0503020204020204" charset="-122"/>
                        </a:rPr>
                        <a:t>总计</a:t>
                      </a:r>
                      <a:endParaRPr lang="zh-CN" altLang="en-US" sz="1200" dirty="0">
                        <a:latin typeface="微软雅黑" panose="020B0503020204020204" charset="-122"/>
                        <a:ea typeface="微软雅黑" panose="020B0503020204020204" charset="-122"/>
                      </a:endParaRPr>
                    </a:p>
                  </a:txBody>
                  <a:tcPr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tc>
                  <a:txBody>
                    <a:bodyPr/>
                    <a:lstStyle/>
                    <a:p>
                      <a:pPr algn="ctr" fontAlgn="ctr"/>
                      <a:endParaRPr lang="en-US" altLang="zh-CN" sz="1200" b="1" dirty="0">
                        <a:solidFill>
                          <a:srgbClr val="FF0000"/>
                        </a:solidFill>
                        <a:latin typeface="微软雅黑" panose="020B0503020204020204" charset="-122"/>
                        <a:ea typeface="微软雅黑" panose="020B0503020204020204" charset="-122"/>
                        <a:sym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tc>
                  <a:txBody>
                    <a:bodyPr/>
                    <a:lstStyle/>
                    <a:p>
                      <a:pPr algn="ctr" fontAlgn="ctr">
                        <a:lnSpc>
                          <a:spcPct val="100000"/>
                        </a:lnSpc>
                      </a:pPr>
                      <a:endParaRPr lang="en-US" altLang="zh-CN" sz="1200" kern="1200" dirty="0">
                        <a:solidFill>
                          <a:srgbClr val="000000"/>
                        </a:solidFill>
                        <a:latin typeface="微软雅黑" panose="020B0503020204020204" charset="-122"/>
                        <a:ea typeface="微软雅黑" panose="020B0503020204020204" charset="-122"/>
                        <a:cs typeface="+mn-cs"/>
                        <a:sym typeface="+mn-ea"/>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tc>
                  <a:txBody>
                    <a:bodyPr/>
                    <a:lstStyle/>
                    <a:p>
                      <a:pPr algn="ctr" fontAlgn="ctr">
                        <a:lnSpc>
                          <a:spcPct val="100000"/>
                        </a:lnSpc>
                      </a:pPr>
                      <a:endParaRPr lang="en-US" altLang="zh-CN" sz="1200" kern="1200" dirty="0">
                        <a:solidFill>
                          <a:srgbClr val="000000"/>
                        </a:solidFill>
                        <a:latin typeface="微软雅黑" panose="020B0503020204020204" charset="-122"/>
                        <a:ea typeface="微软雅黑" panose="020B0503020204020204" charset="-122"/>
                        <a:cs typeface="+mn-cs"/>
                        <a:sym typeface="+mn-ea"/>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lnSpc>
                          <a:spcPct val="100000"/>
                        </a:lnSpc>
                      </a:pPr>
                      <a:endParaRPr lang="en-US" altLang="zh-CN" sz="1200" kern="1200" dirty="0">
                        <a:solidFill>
                          <a:srgbClr val="000000"/>
                        </a:solidFill>
                        <a:latin typeface="微软雅黑" panose="020B0503020204020204" charset="-122"/>
                        <a:ea typeface="微软雅黑" panose="020B0503020204020204" charset="-122"/>
                        <a:cs typeface="+mn-cs"/>
                        <a:sym typeface="+mn-ea"/>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200" dirty="0">
                        <a:latin typeface="微软雅黑" panose="020B0503020204020204" charset="-122"/>
                        <a:ea typeface="微软雅黑" panose="020B0503020204020204" charset="-122"/>
                      </a:endParaRPr>
                    </a:p>
                  </a:txBody>
                  <a:tcPr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tcPr>
                </a:tc>
              </a:tr>
            </a:tbl>
          </a:graphicData>
        </a:graphic>
      </p:graphicFrame>
      <p:sp>
        <p:nvSpPr>
          <p:cNvPr id="3" name="文本框 2"/>
          <p:cNvSpPr txBox="1"/>
          <p:nvPr/>
        </p:nvSpPr>
        <p:spPr>
          <a:xfrm>
            <a:off x="397510" y="3434080"/>
            <a:ext cx="5654040" cy="414020"/>
          </a:xfrm>
          <a:prstGeom prst="rect">
            <a:avLst/>
          </a:prstGeom>
          <a:noFill/>
          <a:ln>
            <a:solidFill>
              <a:schemeClr val="tx1"/>
            </a:solidFill>
          </a:ln>
        </p:spPr>
        <p:txBody>
          <a:bodyPr wrap="square" rtlCol="0">
            <a:spAutoFit/>
          </a:bodyPr>
          <a:lstStyle/>
          <a:p>
            <a:pPr algn="l">
              <a:lnSpc>
                <a:spcPct val="150000"/>
              </a:lnSpc>
              <a:buClrTx/>
              <a:buSzTx/>
              <a:buNone/>
            </a:pPr>
            <a:r>
              <a:rPr lang="zh-CN" altLang="en-US" sz="1400" dirty="0">
                <a:ln>
                  <a:noFill/>
                </a:ln>
              </a:rPr>
              <a:t>收款进度说明：</a:t>
            </a:r>
            <a:endParaRPr lang="zh-CN" altLang="en-US" sz="1400" dirty="0">
              <a:ln>
                <a:noFill/>
              </a:ln>
              <a:latin typeface="微软雅黑" panose="020B0503020204020204" charset="-122"/>
              <a:ea typeface="微软雅黑" panose="020B0503020204020204" charset="-122"/>
              <a:sym typeface="+mn-ea"/>
            </a:endParaRPr>
          </a:p>
        </p:txBody>
      </p:sp>
      <p:sp>
        <p:nvSpPr>
          <p:cNvPr id="8" name="文本框 7"/>
          <p:cNvSpPr txBox="1"/>
          <p:nvPr/>
        </p:nvSpPr>
        <p:spPr>
          <a:xfrm>
            <a:off x="6204585" y="3433445"/>
            <a:ext cx="5428615" cy="414020"/>
          </a:xfrm>
          <a:prstGeom prst="rect">
            <a:avLst/>
          </a:prstGeom>
          <a:noFill/>
          <a:ln>
            <a:solidFill>
              <a:schemeClr val="tx1"/>
            </a:solidFill>
          </a:ln>
        </p:spPr>
        <p:txBody>
          <a:bodyPr wrap="square" rtlCol="0">
            <a:noAutofit/>
          </a:bodyPr>
          <a:lstStyle/>
          <a:p>
            <a:pPr fontAlgn="auto">
              <a:lnSpc>
                <a:spcPct val="150000"/>
              </a:lnSpc>
            </a:pPr>
            <a:r>
              <a:rPr lang="zh-CN" altLang="en-US" sz="1400" dirty="0"/>
              <a:t>付款进度说明：</a:t>
            </a:r>
            <a:endParaRPr lang="zh-CN" altLang="en-US" sz="1400" dirty="0">
              <a:latin typeface="微软雅黑" panose="020B0503020204020204" charset="-122"/>
              <a:ea typeface="微软雅黑" panose="020B0503020204020204" charset="-122"/>
            </a:endParaRPr>
          </a:p>
        </p:txBody>
      </p:sp>
      <p:sp>
        <p:nvSpPr>
          <p:cNvPr id="10" name="灯片编号占位符 9"/>
          <p:cNvSpPr>
            <a:spLocks noGrp="1"/>
          </p:cNvSpPr>
          <p:nvPr>
            <p:ph type="sldNum" sz="quarter" idx="12"/>
          </p:nvPr>
        </p:nvSpPr>
        <p:spPr>
          <a:xfrm>
            <a:off x="9072880" y="6423025"/>
            <a:ext cx="2743200" cy="365125"/>
          </a:xfrm>
        </p:spPr>
        <p:txBody>
          <a:bodyPr/>
          <a:lstStyle/>
          <a:p>
            <a:r>
              <a:rPr lang="en-US" altLang="zh-CN" smtClean="0"/>
              <a:t>7</a:t>
            </a:r>
            <a:endParaRPr lang="en-US" altLang="zh-CN" smtClean="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635" y="-8890"/>
            <a:ext cx="12192635" cy="892175"/>
          </a:xfrm>
          <a:prstGeom prst="rect">
            <a:avLst/>
          </a:prstGeom>
        </p:spPr>
      </p:pic>
      <p:sp>
        <p:nvSpPr>
          <p:cNvPr id="7" name="Rectangle 2"/>
          <p:cNvSpPr>
            <a:spLocks noChangeArrowheads="1"/>
          </p:cNvSpPr>
          <p:nvPr/>
        </p:nvSpPr>
        <p:spPr bwMode="auto">
          <a:xfrm>
            <a:off x="69850" y="153670"/>
            <a:ext cx="7043738" cy="584697"/>
          </a:xfrm>
          <a:prstGeom prst="rect">
            <a:avLst/>
          </a:prstGeom>
          <a:noFill/>
          <a:ln w="9525">
            <a:noFill/>
            <a:miter lim="800000"/>
          </a:ln>
        </p:spPr>
        <p:txBody>
          <a:bodyPr anchor="b"/>
          <a:lstStyle/>
          <a:p>
            <a:pPr eaLnBrk="0" hangingPunct="0"/>
            <a:r>
              <a:rPr lang="zh-CN" altLang="en-US" sz="2800" b="1" dirty="0">
                <a:solidFill>
                  <a:schemeClr val="bg1"/>
                </a:solidFill>
                <a:latin typeface="黑体" panose="02010609060101010101" charset="-122"/>
                <a:ea typeface="黑体" panose="02010609060101010101" charset="-122"/>
              </a:rPr>
              <a:t>七、项目内容</a:t>
            </a:r>
            <a:r>
              <a:rPr lang="en-US" altLang="zh-CN" sz="2800" b="1" dirty="0">
                <a:solidFill>
                  <a:schemeClr val="bg1"/>
                </a:solidFill>
                <a:latin typeface="黑体" panose="02010609060101010101" charset="-122"/>
                <a:ea typeface="黑体" panose="02010609060101010101" charset="-122"/>
              </a:rPr>
              <a:t>-IT</a:t>
            </a:r>
            <a:r>
              <a:rPr lang="zh-CN" altLang="en-US" sz="2800" b="1" dirty="0">
                <a:solidFill>
                  <a:schemeClr val="bg1"/>
                </a:solidFill>
                <a:latin typeface="黑体" panose="02010609060101010101" charset="-122"/>
                <a:ea typeface="黑体" panose="02010609060101010101" charset="-122"/>
              </a:rPr>
              <a:t>部分预算情况</a:t>
            </a:r>
            <a:endParaRPr lang="en-US" altLang="zh-CN" sz="2800" b="1" dirty="0">
              <a:solidFill>
                <a:schemeClr val="bg1"/>
              </a:solidFill>
              <a:latin typeface="黑体" panose="02010609060101010101" charset="-122"/>
              <a:ea typeface="黑体" panose="02010609060101010101" charset="-122"/>
            </a:endParaRPr>
          </a:p>
        </p:txBody>
      </p:sp>
      <p:sp>
        <p:nvSpPr>
          <p:cNvPr id="6" name="灯片编号占位符 5"/>
          <p:cNvSpPr>
            <a:spLocks noGrp="1"/>
          </p:cNvSpPr>
          <p:nvPr/>
        </p:nvSpPr>
        <p:spPr>
          <a:xfrm>
            <a:off x="9110694" y="7125802"/>
            <a:ext cx="2743200" cy="365125"/>
          </a:xfrm>
          <a:prstGeom prst="rect">
            <a:avLst/>
          </a:prstGeom>
        </p:spPr>
        <p:txBody>
          <a:bodyPr vert="horz" lIns="91440" tIns="45720" rIns="91440" bIns="45720" rtlCol="0" anchor="ctr">
            <a:normAutofit/>
          </a:bodyP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9AE70B2-8BF9-45C0-BB95-33D1B9D3A854}" type="slidenum">
              <a:rPr lang="zh-CN" altLang="en-US" smtClean="0"/>
            </a:fld>
            <a:endParaRPr lang="zh-CN" altLang="en-US"/>
          </a:p>
        </p:txBody>
      </p:sp>
      <p:sp>
        <p:nvSpPr>
          <p:cNvPr id="10" name="文本框 9"/>
          <p:cNvSpPr txBox="1"/>
          <p:nvPr/>
        </p:nvSpPr>
        <p:spPr>
          <a:xfrm>
            <a:off x="824865" y="1277620"/>
            <a:ext cx="7876540" cy="33718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latin typeface="微软雅黑" panose="020B0503020204020204" charset="-122"/>
                <a:ea typeface="微软雅黑" panose="020B0503020204020204" charset="-122"/>
              </a:rPr>
              <a:t>本次上会项目的预算立项情况（资本</a:t>
            </a:r>
            <a:r>
              <a:rPr lang="zh-CN" altLang="en-US" sz="1600" b="1" dirty="0" smtClean="0">
                <a:latin typeface="微软雅黑" panose="020B0503020204020204" charset="-122"/>
                <a:ea typeface="微软雅黑" panose="020B0503020204020204" charset="-122"/>
              </a:rPr>
              <a:t>开支</a:t>
            </a:r>
            <a:r>
              <a:rPr lang="en-US" altLang="zh-CN" sz="1600" b="1" dirty="0" smtClean="0">
                <a:latin typeface="微软雅黑" panose="020B0503020204020204" charset="-122"/>
                <a:ea typeface="微软雅黑" panose="020B0503020204020204" charset="-122"/>
              </a:rPr>
              <a:t>|</a:t>
            </a:r>
            <a:r>
              <a:rPr lang="zh-CN" altLang="en-US" sz="1600" b="1" dirty="0">
                <a:latin typeface="微软雅黑" panose="020B0503020204020204" charset="-122"/>
                <a:ea typeface="微软雅黑" panose="020B0503020204020204" charset="-122"/>
              </a:rPr>
              <a:t>成本开支</a:t>
            </a:r>
            <a:r>
              <a:rPr lang="en-US" altLang="zh-CN" sz="1600" b="1" dirty="0" smtClean="0">
                <a:latin typeface="微软雅黑" panose="020B0503020204020204" charset="-122"/>
                <a:ea typeface="微软雅黑" panose="020B0503020204020204" charset="-122"/>
              </a:rPr>
              <a:t>|</a:t>
            </a:r>
            <a:r>
              <a:rPr lang="zh-CN" altLang="en-US" sz="1600" b="1" dirty="0" smtClean="0">
                <a:latin typeface="微软雅黑" panose="020B0503020204020204" charset="-122"/>
                <a:ea typeface="微软雅黑" panose="020B0503020204020204" charset="-122"/>
              </a:rPr>
              <a:t>资本</a:t>
            </a:r>
            <a:r>
              <a:rPr lang="en-US" altLang="zh-CN" sz="1600" b="1" dirty="0" smtClean="0">
                <a:latin typeface="微软雅黑" panose="020B0503020204020204" charset="-122"/>
                <a:ea typeface="微软雅黑" panose="020B0503020204020204" charset="-122"/>
              </a:rPr>
              <a:t>+</a:t>
            </a:r>
            <a:r>
              <a:rPr lang="zh-CN" altLang="en-US" sz="1600" b="1" dirty="0" smtClean="0">
                <a:latin typeface="微软雅黑" panose="020B0503020204020204" charset="-122"/>
                <a:ea typeface="微软雅黑" panose="020B0503020204020204" charset="-122"/>
              </a:rPr>
              <a:t>成本</a:t>
            </a:r>
            <a:endParaRPr lang="zh-CN" altLang="en-US" sz="1600" b="1" dirty="0" smtClean="0">
              <a:latin typeface="微软雅黑" panose="020B0503020204020204" charset="-122"/>
              <a:ea typeface="微软雅黑" panose="020B0503020204020204" charset="-122"/>
            </a:endParaRPr>
          </a:p>
        </p:txBody>
      </p:sp>
      <p:sp>
        <p:nvSpPr>
          <p:cNvPr id="11" name="矩形 10"/>
          <p:cNvSpPr/>
          <p:nvPr/>
        </p:nvSpPr>
        <p:spPr>
          <a:xfrm>
            <a:off x="885825" y="1739265"/>
            <a:ext cx="10075545" cy="218376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n"/>
            </a:pPr>
            <a:r>
              <a:rPr lang="zh-CN" altLang="en-US" sz="1600" dirty="0">
                <a:latin typeface="微软雅黑" panose="020B0503020204020204" charset="-122"/>
                <a:ea typeface="微软雅黑" panose="020B0503020204020204" charset="-122"/>
              </a:rPr>
              <a:t>未配置预算，本次作为新增预算项目提交决策</a:t>
            </a:r>
            <a:r>
              <a:rPr lang="zh-CN" altLang="en-US" sz="1600" dirty="0" smtClean="0">
                <a:latin typeface="微软雅黑" panose="020B0503020204020204" charset="-122"/>
                <a:ea typeface="微软雅黑" panose="020B0503020204020204" charset="-122"/>
              </a:rPr>
              <a:t>。（</a:t>
            </a:r>
            <a:r>
              <a:rPr lang="zh-CN" altLang="en-US" sz="1600" dirty="0" smtClean="0">
                <a:solidFill>
                  <a:srgbClr val="FF0000"/>
                </a:solidFill>
                <a:latin typeface="微软雅黑" panose="020B0503020204020204" charset="-122"/>
                <a:ea typeface="微软雅黑" panose="020B0503020204020204" charset="-122"/>
              </a:rPr>
              <a:t>指新立项项目</a:t>
            </a:r>
            <a:r>
              <a:rPr lang="zh-CN" altLang="en-US" sz="1600" dirty="0" smtClean="0">
                <a:latin typeface="微软雅黑" panose="020B0503020204020204" charset="-122"/>
                <a:ea typeface="微软雅黑" panose="020B0503020204020204" charset="-122"/>
              </a:rPr>
              <a:t>）</a:t>
            </a:r>
            <a:endParaRPr lang="en-US" altLang="zh-CN" sz="1600" dirty="0" smtClean="0">
              <a:latin typeface="微软雅黑" panose="020B0503020204020204" charset="-122"/>
              <a:ea typeface="微软雅黑" panose="020B0503020204020204" charset="-122"/>
            </a:endParaRPr>
          </a:p>
          <a:p>
            <a:pPr>
              <a:lnSpc>
                <a:spcPct val="150000"/>
              </a:lnSpc>
            </a:pPr>
            <a:r>
              <a:rPr lang="zh-CN" altLang="en-US" sz="1600" dirty="0" smtClean="0"/>
              <a:t>     </a:t>
            </a:r>
            <a:r>
              <a:rPr lang="zh-CN" altLang="en-US" sz="1600" b="1" dirty="0" smtClean="0">
                <a:solidFill>
                  <a:srgbClr val="FF0000"/>
                </a:solidFill>
              </a:rPr>
              <a:t>预算</a:t>
            </a:r>
            <a:r>
              <a:rPr lang="zh-CN" altLang="en-US" sz="1600" b="1" dirty="0">
                <a:solidFill>
                  <a:srgbClr val="FF0000"/>
                </a:solidFill>
              </a:rPr>
              <a:t>科目名称</a:t>
            </a:r>
            <a:r>
              <a:rPr lang="zh-CN" altLang="en-US" sz="1600" dirty="0">
                <a:solidFill>
                  <a:srgbClr val="FF0000"/>
                </a:solidFill>
              </a:rPr>
              <a:t>：</a:t>
            </a:r>
            <a:r>
              <a:rPr lang="zh-CN" altLang="en-US" sz="1600" dirty="0">
                <a:solidFill>
                  <a:srgbClr val="FF0000"/>
                </a:solidFill>
                <a:latin typeface="微软雅黑" panose="020B0503020204020204" charset="-122"/>
                <a:ea typeface="微软雅黑" panose="020B0503020204020204" charset="-122"/>
                <a:sym typeface="+mn-ea"/>
              </a:rPr>
              <a:t>202</a:t>
            </a:r>
            <a:r>
              <a:rPr lang="en-US" altLang="zh-CN" sz="1600" dirty="0">
                <a:solidFill>
                  <a:srgbClr val="FF0000"/>
                </a:solidFill>
                <a:latin typeface="微软雅黑" panose="020B0503020204020204" charset="-122"/>
                <a:ea typeface="微软雅黑" panose="020B0503020204020204" charset="-122"/>
                <a:sym typeface="+mn-ea"/>
              </a:rPr>
              <a:t>4</a:t>
            </a:r>
            <a:r>
              <a:rPr lang="zh-CN" altLang="en-US" sz="1600" dirty="0">
                <a:solidFill>
                  <a:srgbClr val="FF0000"/>
                </a:solidFill>
                <a:latin typeface="微软雅黑" panose="020B0503020204020204" charset="-122"/>
                <a:ea typeface="微软雅黑" panose="020B0503020204020204" charset="-122"/>
                <a:sym typeface="+mn-ea"/>
              </a:rPr>
              <a:t>年云网ICT</a:t>
            </a:r>
            <a:r>
              <a:rPr lang="zh-CN" altLang="en-US" sz="1600" dirty="0" smtClean="0">
                <a:solidFill>
                  <a:srgbClr val="FF0000"/>
                </a:solidFill>
                <a:latin typeface="微软雅黑" panose="020B0503020204020204" charset="-122"/>
                <a:ea typeface="微软雅黑" panose="020B0503020204020204" charset="-122"/>
                <a:sym typeface="+mn-ea"/>
              </a:rPr>
              <a:t>项目（投资）</a:t>
            </a:r>
            <a:endParaRPr lang="zh-CN" altLang="en-US" sz="1600" dirty="0" smtClean="0">
              <a:solidFill>
                <a:srgbClr val="FF0000"/>
              </a:solidFill>
              <a:latin typeface="微软雅黑" panose="020B0503020204020204" charset="-122"/>
              <a:ea typeface="微软雅黑" panose="020B0503020204020204" charset="-122"/>
              <a:sym typeface="+mn-ea"/>
            </a:endParaRPr>
          </a:p>
          <a:p>
            <a:pPr>
              <a:lnSpc>
                <a:spcPct val="150000"/>
              </a:lnSpc>
            </a:pPr>
            <a:r>
              <a:rPr lang="zh-CN" altLang="en-US" sz="1600" dirty="0" smtClean="0">
                <a:solidFill>
                  <a:srgbClr val="FF0000"/>
                </a:solidFill>
                <a:latin typeface="微软雅黑" panose="020B0503020204020204" charset="-122"/>
                <a:ea typeface="微软雅黑" panose="020B0503020204020204" charset="-122"/>
                <a:sym typeface="+mn-ea"/>
              </a:rPr>
              <a:t> </a:t>
            </a:r>
            <a:r>
              <a:rPr lang="en-US" altLang="zh-CN" sz="1600" dirty="0" smtClean="0">
                <a:solidFill>
                  <a:srgbClr val="FF0000"/>
                </a:solidFill>
                <a:latin typeface="微软雅黑" panose="020B0503020204020204" charset="-122"/>
                <a:ea typeface="微软雅黑" panose="020B0503020204020204" charset="-122"/>
                <a:sym typeface="+mn-ea"/>
              </a:rPr>
              <a:t>                           </a:t>
            </a:r>
            <a:r>
              <a:rPr lang="zh-CN" altLang="en-US" sz="1600" dirty="0" smtClean="0">
                <a:solidFill>
                  <a:srgbClr val="FF0000"/>
                </a:solidFill>
                <a:latin typeface="微软雅黑" panose="020B0503020204020204" charset="-122"/>
                <a:ea typeface="微软雅黑" panose="020B0503020204020204" charset="-122"/>
                <a:sym typeface="+mn-ea"/>
              </a:rPr>
              <a:t>投资型</a:t>
            </a:r>
            <a:r>
              <a:rPr lang="en-US" altLang="zh-CN" sz="1600" dirty="0" smtClean="0">
                <a:solidFill>
                  <a:srgbClr val="FF0000"/>
                </a:solidFill>
                <a:latin typeface="微软雅黑" panose="020B0503020204020204" charset="-122"/>
                <a:ea typeface="微软雅黑" panose="020B0503020204020204" charset="-122"/>
                <a:sym typeface="+mn-ea"/>
              </a:rPr>
              <a:t>ICT-</a:t>
            </a:r>
            <a:r>
              <a:rPr lang="zh-CN" altLang="en-US" sz="1600" dirty="0" smtClean="0">
                <a:solidFill>
                  <a:srgbClr val="FF0000"/>
                </a:solidFill>
                <a:latin typeface="微软雅黑" panose="020B0503020204020204" charset="-122"/>
                <a:ea typeface="微软雅黑" panose="020B0503020204020204" charset="-122"/>
                <a:sym typeface="+mn-ea"/>
              </a:rPr>
              <a:t>维保（成本）</a:t>
            </a:r>
            <a:endParaRPr lang="zh-CN" altLang="en-US" sz="1600" dirty="0" smtClean="0">
              <a:solidFill>
                <a:srgbClr val="FF0000"/>
              </a:solidFill>
              <a:latin typeface="微软雅黑" panose="020B0503020204020204" charset="-122"/>
              <a:ea typeface="微软雅黑" panose="020B0503020204020204" charset="-122"/>
              <a:sym typeface="+mn-ea"/>
            </a:endParaRPr>
          </a:p>
          <a:p>
            <a:pPr>
              <a:lnSpc>
                <a:spcPct val="150000"/>
              </a:lnSpc>
            </a:pPr>
            <a:r>
              <a:rPr lang="en-US" altLang="zh-CN" sz="1600" dirty="0" smtClean="0">
                <a:solidFill>
                  <a:srgbClr val="FF0000"/>
                </a:solidFill>
                <a:latin typeface="微软雅黑" panose="020B0503020204020204" charset="-122"/>
                <a:ea typeface="微软雅黑" panose="020B0503020204020204" charset="-122"/>
                <a:sym typeface="+mn-ea"/>
              </a:rPr>
              <a:t>                            ICT</a:t>
            </a:r>
            <a:r>
              <a:rPr lang="zh-CN" altLang="en-US" sz="1600" dirty="0" smtClean="0">
                <a:solidFill>
                  <a:srgbClr val="FF0000"/>
                </a:solidFill>
                <a:latin typeface="微软雅黑" panose="020B0503020204020204" charset="-122"/>
                <a:ea typeface="微软雅黑" panose="020B0503020204020204" charset="-122"/>
                <a:sym typeface="+mn-ea"/>
              </a:rPr>
              <a:t>成本</a:t>
            </a:r>
            <a:r>
              <a:rPr lang="en-US" altLang="zh-CN" sz="1600" dirty="0" smtClean="0">
                <a:solidFill>
                  <a:srgbClr val="FF0000"/>
                </a:solidFill>
                <a:latin typeface="微软雅黑" panose="020B0503020204020204" charset="-122"/>
                <a:ea typeface="微软雅黑" panose="020B0503020204020204" charset="-122"/>
                <a:sym typeface="+mn-ea"/>
              </a:rPr>
              <a:t>-</a:t>
            </a:r>
            <a:r>
              <a:rPr lang="zh-CN" altLang="en-US" sz="1600" dirty="0" smtClean="0">
                <a:solidFill>
                  <a:srgbClr val="FF0000"/>
                </a:solidFill>
                <a:latin typeface="微软雅黑" panose="020B0503020204020204" charset="-122"/>
                <a:ea typeface="微软雅黑" panose="020B0503020204020204" charset="-122"/>
                <a:sym typeface="+mn-ea"/>
              </a:rPr>
              <a:t>集成</a:t>
            </a:r>
            <a:r>
              <a:rPr lang="en-US" altLang="zh-CN" sz="1600" dirty="0" smtClean="0">
                <a:solidFill>
                  <a:srgbClr val="FF0000"/>
                </a:solidFill>
                <a:latin typeface="微软雅黑" panose="020B0503020204020204" charset="-122"/>
                <a:ea typeface="微软雅黑" panose="020B0503020204020204" charset="-122"/>
                <a:sym typeface="+mn-ea"/>
              </a:rPr>
              <a:t>/</a:t>
            </a:r>
            <a:r>
              <a:rPr lang="zh-CN" altLang="en-US" sz="1600" dirty="0" smtClean="0">
                <a:solidFill>
                  <a:srgbClr val="FF0000"/>
                </a:solidFill>
                <a:latin typeface="微软雅黑" panose="020B0503020204020204" charset="-122"/>
                <a:ea typeface="微软雅黑" panose="020B0503020204020204" charset="-122"/>
                <a:sym typeface="+mn-ea"/>
              </a:rPr>
              <a:t>维保</a:t>
            </a:r>
            <a:r>
              <a:rPr lang="en-US" altLang="zh-CN" sz="1600" dirty="0" smtClean="0">
                <a:solidFill>
                  <a:srgbClr val="FF0000"/>
                </a:solidFill>
                <a:latin typeface="微软雅黑" panose="020B0503020204020204" charset="-122"/>
                <a:ea typeface="微软雅黑" panose="020B0503020204020204" charset="-122"/>
                <a:sym typeface="+mn-ea"/>
              </a:rPr>
              <a:t>/</a:t>
            </a:r>
            <a:r>
              <a:rPr lang="zh-CN" altLang="en-US" sz="1600" dirty="0" smtClean="0">
                <a:solidFill>
                  <a:srgbClr val="FF0000"/>
                </a:solidFill>
                <a:latin typeface="微软雅黑" panose="020B0503020204020204" charset="-122"/>
                <a:ea typeface="微软雅黑" panose="020B0503020204020204" charset="-122"/>
                <a:sym typeface="+mn-ea"/>
              </a:rPr>
              <a:t>设备（成本）</a:t>
            </a:r>
            <a:endParaRPr lang="zh-CN" altLang="en-US" sz="1600" dirty="0" smtClean="0">
              <a:solidFill>
                <a:srgbClr val="FF0000"/>
              </a:solidFill>
              <a:latin typeface="微软雅黑" panose="020B0503020204020204" charset="-122"/>
              <a:ea typeface="微软雅黑" panose="020B0503020204020204" charset="-122"/>
              <a:sym typeface="+mn-ea"/>
            </a:endParaRPr>
          </a:p>
          <a:p>
            <a:pPr>
              <a:lnSpc>
                <a:spcPct val="150000"/>
              </a:lnSpc>
            </a:pPr>
            <a:r>
              <a:rPr lang="zh-CN" altLang="en-US" sz="1600" dirty="0" smtClean="0">
                <a:solidFill>
                  <a:srgbClr val="FF0000"/>
                </a:solidFill>
                <a:latin typeface="微软雅黑" panose="020B0503020204020204" charset="-122"/>
                <a:ea typeface="微软雅黑" panose="020B0503020204020204" charset="-122"/>
                <a:sym typeface="+mn-ea"/>
              </a:rPr>
              <a:t> </a:t>
            </a:r>
            <a:r>
              <a:rPr lang="en-US" altLang="zh-CN" sz="1600" dirty="0" smtClean="0">
                <a:solidFill>
                  <a:srgbClr val="FF0000"/>
                </a:solidFill>
                <a:latin typeface="微软雅黑" panose="020B0503020204020204" charset="-122"/>
                <a:ea typeface="微软雅黑" panose="020B0503020204020204" charset="-122"/>
                <a:sym typeface="+mn-ea"/>
              </a:rPr>
              <a:t>                           </a:t>
            </a:r>
            <a:r>
              <a:rPr lang="zh-CN" altLang="en-US" sz="1600" dirty="0" smtClean="0">
                <a:solidFill>
                  <a:srgbClr val="FF0000"/>
                </a:solidFill>
                <a:latin typeface="微软雅黑" panose="020B0503020204020204" charset="-122"/>
                <a:ea typeface="微软雅黑" panose="020B0503020204020204" charset="-122"/>
                <a:sym typeface="+mn-ea"/>
              </a:rPr>
              <a:t>业务支撑费（移动云</a:t>
            </a:r>
            <a:r>
              <a:rPr lang="en-US" altLang="zh-CN" sz="1600" dirty="0" smtClean="0">
                <a:solidFill>
                  <a:srgbClr val="FF0000"/>
                </a:solidFill>
                <a:latin typeface="微软雅黑" panose="020B0503020204020204" charset="-122"/>
                <a:ea typeface="微软雅黑" panose="020B0503020204020204" charset="-122"/>
                <a:sym typeface="+mn-ea"/>
              </a:rPr>
              <a:t>-</a:t>
            </a:r>
            <a:r>
              <a:rPr lang="zh-CN" altLang="en-US" sz="1600" dirty="0" smtClean="0">
                <a:solidFill>
                  <a:srgbClr val="FF0000"/>
                </a:solidFill>
                <a:latin typeface="微软雅黑" panose="020B0503020204020204" charset="-122"/>
                <a:ea typeface="微软雅黑" panose="020B0503020204020204" charset="-122"/>
                <a:sym typeface="+mn-ea"/>
              </a:rPr>
              <a:t>定制化、云边</a:t>
            </a:r>
            <a:r>
              <a:rPr lang="en-US" altLang="zh-CN" sz="1600" dirty="0" smtClean="0">
                <a:solidFill>
                  <a:srgbClr val="FF0000"/>
                </a:solidFill>
                <a:latin typeface="微软雅黑" panose="020B0503020204020204" charset="-122"/>
                <a:ea typeface="微软雅黑" panose="020B0503020204020204" charset="-122"/>
                <a:sym typeface="+mn-ea"/>
              </a:rPr>
              <a:t>/</a:t>
            </a:r>
            <a:r>
              <a:rPr lang="zh-CN" altLang="en-US" sz="1600" dirty="0" smtClean="0">
                <a:solidFill>
                  <a:srgbClr val="FF0000"/>
                </a:solidFill>
                <a:latin typeface="微软雅黑" panose="020B0503020204020204" charset="-122"/>
                <a:ea typeface="微软雅黑" panose="020B0503020204020204" charset="-122"/>
                <a:sym typeface="+mn-ea"/>
              </a:rPr>
              <a:t>云智等）</a:t>
            </a:r>
            <a:endParaRPr lang="en-US" altLang="zh-CN" sz="1600" dirty="0" smtClean="0">
              <a:solidFill>
                <a:srgbClr val="FF0000"/>
              </a:solidFill>
              <a:latin typeface="微软雅黑" panose="020B0503020204020204" charset="-122"/>
              <a:ea typeface="微软雅黑" panose="020B0503020204020204" charset="-122"/>
              <a:sym typeface="+mn-ea"/>
            </a:endParaRPr>
          </a:p>
          <a:p>
            <a:pPr>
              <a:lnSpc>
                <a:spcPct val="150000"/>
              </a:lnSpc>
            </a:pPr>
            <a:r>
              <a:rPr lang="en-US" altLang="zh-CN" sz="1600" dirty="0">
                <a:solidFill>
                  <a:srgbClr val="FF0000"/>
                </a:solidFill>
                <a:latin typeface="微软雅黑" panose="020B0503020204020204" charset="-122"/>
                <a:ea typeface="微软雅黑" panose="020B0503020204020204" charset="-122"/>
                <a:sym typeface="+mn-ea"/>
              </a:rPr>
              <a:t> </a:t>
            </a:r>
            <a:r>
              <a:rPr lang="en-US" altLang="zh-CN" sz="1600" dirty="0" smtClean="0">
                <a:solidFill>
                  <a:srgbClr val="FF0000"/>
                </a:solidFill>
                <a:latin typeface="微软雅黑" panose="020B0503020204020204" charset="-122"/>
                <a:ea typeface="微软雅黑" panose="020B0503020204020204" charset="-122"/>
                <a:sym typeface="+mn-ea"/>
              </a:rPr>
              <a:t>  </a:t>
            </a:r>
            <a:r>
              <a:rPr lang="en-US" altLang="zh-CN" sz="1600" b="1" dirty="0" smtClean="0">
                <a:solidFill>
                  <a:srgbClr val="FF0000"/>
                </a:solidFill>
                <a:latin typeface="微软雅黑" panose="020B0503020204020204" charset="-122"/>
                <a:ea typeface="微软雅黑" panose="020B0503020204020204" charset="-122"/>
                <a:sym typeface="+mn-ea"/>
              </a:rPr>
              <a:t>  </a:t>
            </a:r>
            <a:r>
              <a:rPr lang="zh-CN" altLang="en-US" sz="1600" b="1" dirty="0" smtClean="0">
                <a:solidFill>
                  <a:srgbClr val="FF0000"/>
                </a:solidFill>
                <a:latin typeface="微软雅黑" panose="020B0503020204020204" charset="-122"/>
                <a:ea typeface="微软雅黑" panose="020B0503020204020204" charset="-122"/>
                <a:sym typeface="+mn-ea"/>
              </a:rPr>
              <a:t>预算金额：</a:t>
            </a:r>
            <a:endParaRPr lang="zh-CN" altLang="en-US" sz="1600" b="1" dirty="0">
              <a:solidFill>
                <a:srgbClr val="FF0000"/>
              </a:solidFill>
              <a:latin typeface="微软雅黑" panose="020B0503020204020204" charset="-122"/>
              <a:ea typeface="微软雅黑" panose="020B0503020204020204" charset="-122"/>
              <a:sym typeface="+mn-ea"/>
            </a:endParaRPr>
          </a:p>
        </p:txBody>
      </p:sp>
      <p:sp>
        <p:nvSpPr>
          <p:cNvPr id="9" name="文本框 8"/>
          <p:cNvSpPr txBox="1"/>
          <p:nvPr/>
        </p:nvSpPr>
        <p:spPr>
          <a:xfrm>
            <a:off x="824865" y="4275455"/>
            <a:ext cx="10331450" cy="1568450"/>
          </a:xfrm>
          <a:prstGeom prst="rect">
            <a:avLst/>
          </a:prstGeom>
          <a:noFill/>
        </p:spPr>
        <p:txBody>
          <a:bodyPr wrap="square" rtlCol="0">
            <a:spAutoFit/>
          </a:bodyPr>
          <a:lstStyle/>
          <a:p>
            <a:pPr marL="285750" indent="-285750">
              <a:lnSpc>
                <a:spcPct val="150000"/>
              </a:lnSpc>
              <a:buFont typeface="Wingdings" panose="05000000000000000000" pitchFamily="2" charset="2"/>
              <a:buChar char="n"/>
            </a:pPr>
            <a:r>
              <a:rPr lang="zh-CN" altLang="en-US" sz="1600" dirty="0">
                <a:latin typeface="微软雅黑" panose="020B0503020204020204" charset="-122"/>
                <a:ea typeface="微软雅黑" panose="020B0503020204020204" charset="-122"/>
              </a:rPr>
              <a:t>已配置预算，预算信息如下（</a:t>
            </a:r>
            <a:r>
              <a:rPr lang="zh-CN" altLang="en-US" sz="1600" dirty="0">
                <a:solidFill>
                  <a:srgbClr val="FF0000"/>
                </a:solidFill>
                <a:latin typeface="微软雅黑" panose="020B0503020204020204" charset="-122"/>
                <a:ea typeface="微软雅黑" panose="020B0503020204020204" charset="-122"/>
              </a:rPr>
              <a:t>指已有立项项目，在原立项预算范围之类增补需求的情况</a:t>
            </a:r>
            <a:r>
              <a:rPr lang="zh-CN" altLang="en-US" sz="1600" dirty="0">
                <a:latin typeface="微软雅黑" panose="020B0503020204020204" charset="-122"/>
                <a:ea typeface="微软雅黑" panose="020B0503020204020204" charset="-122"/>
              </a:rPr>
              <a:t>）：</a:t>
            </a:r>
            <a:endParaRPr lang="en-US" altLang="zh-CN" sz="1600" dirty="0">
              <a:latin typeface="微软雅黑" panose="020B0503020204020204" charset="-122"/>
              <a:ea typeface="微软雅黑" panose="020B0503020204020204" charset="-122"/>
            </a:endParaRPr>
          </a:p>
          <a:p>
            <a:pPr marL="285750" indent="-285750">
              <a:lnSpc>
                <a:spcPct val="150000"/>
              </a:lnSpc>
              <a:buFont typeface="Arial" panose="02080604020202020204" pitchFamily="34" charset="0"/>
              <a:buChar char="•"/>
            </a:pPr>
            <a:r>
              <a:rPr lang="zh-CN" altLang="en-US" sz="1600" dirty="0">
                <a:latin typeface="微软雅黑" panose="020B0503020204020204" charset="-122"/>
                <a:ea typeface="微软雅黑" panose="020B0503020204020204" charset="-122"/>
              </a:rPr>
              <a:t>项目名称： ******</a:t>
            </a:r>
            <a:endParaRPr lang="en-US" altLang="zh-CN" sz="1600" dirty="0">
              <a:latin typeface="微软雅黑" panose="020B0503020204020204" charset="-122"/>
              <a:ea typeface="微软雅黑" panose="020B0503020204020204" charset="-122"/>
            </a:endParaRPr>
          </a:p>
          <a:p>
            <a:pPr marL="285750" indent="-285750">
              <a:lnSpc>
                <a:spcPct val="150000"/>
              </a:lnSpc>
              <a:buFont typeface="Arial" panose="02080604020202020204" pitchFamily="34" charset="0"/>
              <a:buChar char="•"/>
            </a:pPr>
            <a:r>
              <a:rPr lang="zh-CN" altLang="en-US" sz="1600" dirty="0">
                <a:latin typeface="微软雅黑" panose="020B0503020204020204" charset="-122"/>
                <a:ea typeface="微软雅黑" panose="020B0503020204020204" charset="-122"/>
              </a:rPr>
              <a:t>预算金额： ******</a:t>
            </a:r>
            <a:endParaRPr lang="en-US" altLang="zh-CN" sz="1600" dirty="0">
              <a:latin typeface="微软雅黑" panose="020B0503020204020204" charset="-122"/>
              <a:ea typeface="微软雅黑" panose="020B0503020204020204" charset="-122"/>
            </a:endParaRPr>
          </a:p>
          <a:p>
            <a:pPr marL="285750" indent="-285750">
              <a:lnSpc>
                <a:spcPct val="150000"/>
              </a:lnSpc>
              <a:buFont typeface="Arial" panose="02080604020202020204" pitchFamily="34" charset="0"/>
              <a:buChar char="•"/>
            </a:pPr>
            <a:r>
              <a:rPr lang="zh-CN" altLang="en-US" sz="1600" dirty="0">
                <a:latin typeface="微软雅黑" panose="020B0503020204020204" charset="-122"/>
                <a:ea typeface="微软雅黑" panose="020B0503020204020204" charset="-122"/>
              </a:rPr>
              <a:t>预算剩余额度： ******</a:t>
            </a:r>
            <a:endParaRPr lang="zh-CN" altLang="en-US" sz="1600" dirty="0">
              <a:latin typeface="微软雅黑" panose="020B0503020204020204" charset="-122"/>
              <a:ea typeface="微软雅黑" panose="020B0503020204020204" charset="-122"/>
            </a:endParaRPr>
          </a:p>
        </p:txBody>
      </p:sp>
      <p:sp>
        <p:nvSpPr>
          <p:cNvPr id="2" name="灯片编号占位符 1"/>
          <p:cNvSpPr>
            <a:spLocks noGrp="1"/>
          </p:cNvSpPr>
          <p:nvPr>
            <p:ph type="sldNum" sz="quarter" idx="12"/>
          </p:nvPr>
        </p:nvSpPr>
        <p:spPr>
          <a:xfrm>
            <a:off x="9090660" y="6356350"/>
            <a:ext cx="2743200" cy="365125"/>
          </a:xfrm>
        </p:spPr>
        <p:txBody>
          <a:bodyPr/>
          <a:p>
            <a:r>
              <a:rPr lang="en-US" altLang="zh-CN" smtClean="0"/>
              <a:t>8</a:t>
            </a:r>
            <a:endParaRPr lang="en-US" altLang="zh-CN" smtClean="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0" y="-8890"/>
            <a:ext cx="12192635" cy="892175"/>
          </a:xfrm>
          <a:prstGeom prst="rect">
            <a:avLst/>
          </a:prstGeom>
        </p:spPr>
      </p:pic>
      <p:sp>
        <p:nvSpPr>
          <p:cNvPr id="2" name="文本框 1"/>
          <p:cNvSpPr txBox="1"/>
          <p:nvPr/>
        </p:nvSpPr>
        <p:spPr>
          <a:xfrm>
            <a:off x="270827" y="1375970"/>
            <a:ext cx="8602345" cy="923330"/>
          </a:xfrm>
          <a:prstGeom prst="rect">
            <a:avLst/>
          </a:prstGeom>
          <a:noFill/>
        </p:spPr>
        <p:txBody>
          <a:bodyPr wrap="square" rtlCol="0">
            <a:spAutoFit/>
          </a:bodyPr>
          <a:lstStyle/>
          <a:p>
            <a:pPr>
              <a:lnSpc>
                <a:spcPct val="300000"/>
              </a:lnSpc>
            </a:pPr>
            <a:r>
              <a:rPr lang="zh-CN" altLang="en-US" dirty="0">
                <a:latin typeface="微软雅黑" panose="020B0503020204020204" charset="-122"/>
                <a:ea typeface="微软雅黑" panose="020B0503020204020204" charset="-122"/>
              </a:rPr>
              <a:t>         </a:t>
            </a:r>
            <a:endParaRPr lang="zh-CN" altLang="en-US" dirty="0">
              <a:latin typeface="微软雅黑" panose="020B0503020204020204" charset="-122"/>
              <a:ea typeface="微软雅黑" panose="020B0503020204020204" charset="-122"/>
            </a:endParaRPr>
          </a:p>
        </p:txBody>
      </p:sp>
      <p:sp>
        <p:nvSpPr>
          <p:cNvPr id="9" name="灯片编号占位符 8"/>
          <p:cNvSpPr>
            <a:spLocks noGrp="1"/>
          </p:cNvSpPr>
          <p:nvPr>
            <p:ph type="sldNum" sz="quarter" idx="12"/>
          </p:nvPr>
        </p:nvSpPr>
        <p:spPr>
          <a:xfrm>
            <a:off x="9099550" y="6356350"/>
            <a:ext cx="2743200" cy="365125"/>
          </a:xfrm>
        </p:spPr>
        <p:txBody>
          <a:bodyPr/>
          <a:lstStyle/>
          <a:p>
            <a:r>
              <a:rPr lang="en-US" altLang="zh-CN" smtClean="0"/>
              <a:t>9</a:t>
            </a:r>
            <a:endParaRPr lang="en-US" altLang="zh-CN" smtClean="0"/>
          </a:p>
        </p:txBody>
      </p:sp>
      <p:sp>
        <p:nvSpPr>
          <p:cNvPr id="3" name="标题 1"/>
          <p:cNvSpPr txBox="1"/>
          <p:nvPr/>
        </p:nvSpPr>
        <p:spPr bwMode="auto">
          <a:xfrm>
            <a:off x="85090" y="196215"/>
            <a:ext cx="8347710" cy="702310"/>
          </a:xfrm>
          <a:prstGeom prst="rect">
            <a:avLst/>
          </a:prstGeom>
          <a:noFill/>
          <a:ln w="9525">
            <a:noFill/>
            <a:miter lim="800000"/>
          </a:ln>
        </p:spPr>
        <p:txBody>
          <a:bodyPr/>
          <a:lstStyle/>
          <a:p>
            <a:pPr algn="l" eaLnBrk="0" hangingPunct="0">
              <a:buClrTx/>
              <a:buSzTx/>
              <a:buFontTx/>
            </a:pPr>
            <a:r>
              <a:rPr lang="zh-CN" altLang="en-US" sz="2800" b="1" dirty="0">
                <a:solidFill>
                  <a:schemeClr val="bg1"/>
                </a:solidFill>
                <a:latin typeface="黑体" panose="02010609060101010101" charset="-122"/>
                <a:ea typeface="黑体" panose="02010609060101010101" charset="-122"/>
              </a:rPr>
              <a:t>八、5G专网BAF商业模式（涉及5G专网建设需填写）</a:t>
            </a:r>
            <a:endParaRPr lang="zh-CN" altLang="en-US" sz="2800" b="1" dirty="0">
              <a:solidFill>
                <a:schemeClr val="bg1"/>
              </a:solidFill>
              <a:latin typeface="黑体" panose="02010609060101010101" charset="-122"/>
              <a:ea typeface="黑体" panose="02010609060101010101" charset="-122"/>
            </a:endParaRPr>
          </a:p>
        </p:txBody>
      </p:sp>
      <p:graphicFrame>
        <p:nvGraphicFramePr>
          <p:cNvPr id="6" name="表格 5"/>
          <p:cNvGraphicFramePr>
            <a:graphicFrameLocks noGrp="1"/>
          </p:cNvGraphicFramePr>
          <p:nvPr>
            <p:custDataLst>
              <p:tags r:id="rId2"/>
            </p:custDataLst>
          </p:nvPr>
        </p:nvGraphicFramePr>
        <p:xfrm>
          <a:off x="1257300" y="1661160"/>
          <a:ext cx="9365615" cy="4021455"/>
        </p:xfrm>
        <a:graphic>
          <a:graphicData uri="http://schemas.openxmlformats.org/drawingml/2006/table">
            <a:tbl>
              <a:tblPr firstRow="1" bandRow="1">
                <a:tableStyleId>{5C22544A-7EE6-4342-B048-85BDC9FD1C3A}</a:tableStyleId>
              </a:tblPr>
              <a:tblGrid>
                <a:gridCol w="1967230"/>
                <a:gridCol w="1913890"/>
                <a:gridCol w="1478915"/>
                <a:gridCol w="1826260"/>
                <a:gridCol w="2179320"/>
              </a:tblGrid>
              <a:tr h="579120">
                <a:tc>
                  <a:txBody>
                    <a:bodyPr/>
                    <a:lstStyle/>
                    <a:p>
                      <a:pPr algn="ctr"/>
                      <a:r>
                        <a:rPr lang="zh-CN" altLang="en-US" sz="1600" dirty="0">
                          <a:latin typeface="微软雅黑" panose="020B0503020204020204" charset="-122"/>
                          <a:ea typeface="微软雅黑" panose="020B0503020204020204" charset="-122"/>
                        </a:rPr>
                        <a:t>专业</a:t>
                      </a:r>
                      <a:endParaRPr lang="zh-CN" altLang="en-US" sz="1600" dirty="0">
                        <a:latin typeface="微软雅黑" panose="020B0503020204020204" charset="-122"/>
                        <a:ea typeface="微软雅黑" panose="020B0503020204020204" charset="-122"/>
                      </a:endParaRPr>
                    </a:p>
                  </a:txBody>
                  <a:tcPr anchor="ctr"/>
                </a:tc>
                <a:tc>
                  <a:txBody>
                    <a:bodyPr/>
                    <a:lstStyle/>
                    <a:p>
                      <a:pPr algn="ctr"/>
                      <a:r>
                        <a:rPr lang="en-US" altLang="zh-CN" sz="1600" dirty="0">
                          <a:latin typeface="微软雅黑" panose="020B0503020204020204" charset="-122"/>
                          <a:ea typeface="微软雅黑" panose="020B0503020204020204" charset="-122"/>
                        </a:rPr>
                        <a:t>5G</a:t>
                      </a:r>
                      <a:r>
                        <a:rPr lang="zh-CN" altLang="en-US" sz="1600" dirty="0">
                          <a:latin typeface="微软雅黑" panose="020B0503020204020204" charset="-122"/>
                          <a:ea typeface="微软雅黑" panose="020B0503020204020204" charset="-122"/>
                        </a:rPr>
                        <a:t>专网投资</a:t>
                      </a:r>
                      <a:endParaRPr lang="en-US" altLang="zh-CN" sz="1600" dirty="0">
                        <a:latin typeface="微软雅黑" panose="020B0503020204020204" charset="-122"/>
                        <a:ea typeface="微软雅黑" panose="020B0503020204020204" charset="-122"/>
                      </a:endParaRPr>
                    </a:p>
                    <a:p>
                      <a:pPr algn="ctr"/>
                      <a:r>
                        <a:rPr lang="en-US" altLang="zh-CN" sz="1600" dirty="0">
                          <a:latin typeface="微软雅黑" panose="020B0503020204020204" charset="-122"/>
                          <a:ea typeface="微软雅黑" panose="020B0503020204020204" charset="-122"/>
                        </a:rPr>
                        <a:t>(</a:t>
                      </a:r>
                      <a:r>
                        <a:rPr lang="zh-CN" altLang="en-US" sz="1600" dirty="0">
                          <a:latin typeface="微软雅黑" panose="020B0503020204020204" charset="-122"/>
                          <a:ea typeface="微软雅黑" panose="020B0503020204020204" charset="-122"/>
                        </a:rPr>
                        <a:t>不含税</a:t>
                      </a:r>
                      <a:r>
                        <a:rPr lang="en-US" altLang="zh-CN" sz="1600" dirty="0">
                          <a:latin typeface="微软雅黑" panose="020B0503020204020204" charset="-122"/>
                          <a:ea typeface="微软雅黑" panose="020B0503020204020204" charset="-122"/>
                        </a:rPr>
                        <a:t>/</a:t>
                      </a:r>
                      <a:r>
                        <a:rPr lang="zh-CN" altLang="en-US" sz="1600" dirty="0">
                          <a:latin typeface="微软雅黑" panose="020B0503020204020204" charset="-122"/>
                          <a:ea typeface="微软雅黑" panose="020B0503020204020204" charset="-122"/>
                        </a:rPr>
                        <a:t>万元</a:t>
                      </a:r>
                      <a:r>
                        <a:rPr lang="en-US" altLang="zh-CN" sz="1600" dirty="0">
                          <a:latin typeface="微软雅黑" panose="020B0503020204020204" charset="-122"/>
                          <a:ea typeface="微软雅黑" panose="020B0503020204020204" charset="-122"/>
                        </a:rPr>
                        <a:t>)</a:t>
                      </a:r>
                      <a:endParaRPr lang="zh-CN" altLang="en-US" sz="1600" dirty="0">
                        <a:latin typeface="微软雅黑" panose="020B0503020204020204" charset="-122"/>
                        <a:ea typeface="微软雅黑" panose="020B0503020204020204" charset="-122"/>
                      </a:endParaRPr>
                    </a:p>
                  </a:txBody>
                  <a:tcPr anchor="ctr"/>
                </a:tc>
                <a:tc>
                  <a:txBody>
                    <a:bodyPr/>
                    <a:lstStyle/>
                    <a:p>
                      <a:pPr algn="ctr"/>
                      <a:r>
                        <a:rPr lang="zh-CN" altLang="en-US" sz="1600" dirty="0">
                          <a:latin typeface="微软雅黑" panose="020B0503020204020204" charset="-122"/>
                          <a:ea typeface="微软雅黑" panose="020B0503020204020204" charset="-122"/>
                        </a:rPr>
                        <a:t>合同年限</a:t>
                      </a:r>
                      <a:endParaRPr lang="zh-CN" altLang="en-US" sz="1600" dirty="0">
                        <a:latin typeface="微软雅黑" panose="020B0503020204020204" charset="-122"/>
                        <a:ea typeface="微软雅黑" panose="020B0503020204020204" charset="-122"/>
                      </a:endParaRPr>
                    </a:p>
                  </a:txBody>
                  <a:tcPr anchor="ctr"/>
                </a:tc>
                <a:tc>
                  <a:txBody>
                    <a:bodyPr/>
                    <a:lstStyle/>
                    <a:p>
                      <a:pPr algn="ctr"/>
                      <a:r>
                        <a:rPr lang="en-US" altLang="zh-CN" sz="1600" dirty="0">
                          <a:latin typeface="微软雅黑" panose="020B0503020204020204" charset="-122"/>
                          <a:ea typeface="微软雅黑" panose="020B0503020204020204" charset="-122"/>
                        </a:rPr>
                        <a:t>5G</a:t>
                      </a:r>
                      <a:r>
                        <a:rPr lang="zh-CN" altLang="en-US" sz="1600" dirty="0">
                          <a:latin typeface="微软雅黑" panose="020B0503020204020204" charset="-122"/>
                          <a:ea typeface="微软雅黑" panose="020B0503020204020204" charset="-122"/>
                        </a:rPr>
                        <a:t>专网收入</a:t>
                      </a:r>
                      <a:endParaRPr lang="en-US" altLang="zh-CN" sz="1600" dirty="0">
                        <a:latin typeface="微软雅黑" panose="020B0503020204020204" charset="-122"/>
                        <a:ea typeface="微软雅黑" panose="020B0503020204020204" charset="-122"/>
                      </a:endParaRPr>
                    </a:p>
                    <a:p>
                      <a:pPr algn="ctr"/>
                      <a:r>
                        <a:rPr lang="zh-CN" altLang="en-US" sz="1600" dirty="0">
                          <a:latin typeface="微软雅黑" panose="020B0503020204020204" charset="-122"/>
                          <a:ea typeface="微软雅黑" panose="020B0503020204020204" charset="-122"/>
                        </a:rPr>
                        <a:t>（不含税</a:t>
                      </a:r>
                      <a:r>
                        <a:rPr lang="en-US" altLang="zh-CN" sz="1600" dirty="0">
                          <a:latin typeface="微软雅黑" panose="020B0503020204020204" charset="-122"/>
                          <a:ea typeface="微软雅黑" panose="020B0503020204020204" charset="-122"/>
                        </a:rPr>
                        <a:t>/</a:t>
                      </a:r>
                      <a:r>
                        <a:rPr lang="zh-CN" altLang="en-US" sz="1600" dirty="0">
                          <a:latin typeface="微软雅黑" panose="020B0503020204020204" charset="-122"/>
                          <a:ea typeface="微软雅黑" panose="020B0503020204020204" charset="-122"/>
                        </a:rPr>
                        <a:t>万元）</a:t>
                      </a:r>
                      <a:endParaRPr lang="zh-CN" altLang="en-US" sz="1600" dirty="0">
                        <a:latin typeface="微软雅黑" panose="020B0503020204020204" charset="-122"/>
                        <a:ea typeface="微软雅黑" panose="020B0503020204020204" charset="-122"/>
                      </a:endParaRPr>
                    </a:p>
                  </a:txBody>
                  <a:tcPr anchor="ctr"/>
                </a:tc>
                <a:tc>
                  <a:txBody>
                    <a:bodyPr/>
                    <a:lstStyle/>
                    <a:p>
                      <a:pPr algn="ctr"/>
                      <a:r>
                        <a:rPr lang="en-US" altLang="zh-CN" sz="1600" dirty="0">
                          <a:latin typeface="微软雅黑" panose="020B0503020204020204" charset="-122"/>
                          <a:ea typeface="微软雅黑" panose="020B0503020204020204" charset="-122"/>
                        </a:rPr>
                        <a:t>BAF</a:t>
                      </a:r>
                      <a:r>
                        <a:rPr lang="zh-CN" altLang="en-US" sz="1600" dirty="0">
                          <a:latin typeface="微软雅黑" panose="020B0503020204020204" charset="-122"/>
                          <a:ea typeface="微软雅黑" panose="020B0503020204020204" charset="-122"/>
                        </a:rPr>
                        <a:t>商业模式</a:t>
                      </a:r>
                      <a:endParaRPr lang="zh-CN" altLang="en-US" sz="1600" dirty="0">
                        <a:latin typeface="微软雅黑" panose="020B0503020204020204" charset="-122"/>
                        <a:ea typeface="微软雅黑" panose="020B0503020204020204" charset="-122"/>
                      </a:endParaRPr>
                    </a:p>
                  </a:txBody>
                  <a:tcPr anchor="ctr"/>
                </a:tc>
              </a:tr>
              <a:tr h="495935">
                <a:tc>
                  <a:txBody>
                    <a:bodyPr/>
                    <a:lstStyle/>
                    <a:p>
                      <a:pPr algn="ctr"/>
                      <a:r>
                        <a:rPr lang="zh-CN" altLang="en-US" sz="1400" dirty="0">
                          <a:latin typeface="微软雅黑" panose="020B0503020204020204" charset="-122"/>
                          <a:ea typeface="微软雅黑" panose="020B0503020204020204" charset="-122"/>
                        </a:rPr>
                        <a:t>核心网及相关配套</a:t>
                      </a:r>
                      <a:endParaRPr lang="zh-CN" altLang="en-US" sz="1400" dirty="0">
                        <a:latin typeface="微软雅黑" panose="020B0503020204020204" charset="-122"/>
                        <a:ea typeface="微软雅黑" panose="020B0503020204020204" charset="-122"/>
                      </a:endParaRPr>
                    </a:p>
                  </a:txBody>
                  <a:tcPr anchor="ctr"/>
                </a:tc>
                <a:tc>
                  <a:txBody>
                    <a:bodyPr/>
                    <a:lstStyle/>
                    <a:p>
                      <a:pPr algn="ctr"/>
                      <a:endParaRPr lang="zh-CN" altLang="en-US" sz="1400" dirty="0">
                        <a:latin typeface="微软雅黑" panose="020B0503020204020204" charset="-122"/>
                        <a:ea typeface="微软雅黑" panose="020B0503020204020204" charset="-122"/>
                      </a:endParaRPr>
                    </a:p>
                  </a:txBody>
                  <a:tcPr anchor="ctr"/>
                </a:tc>
                <a:tc rowSpan="3">
                  <a:txBody>
                    <a:bodyPr/>
                    <a:lstStyle/>
                    <a:p>
                      <a:pPr algn="ctr"/>
                      <a:endParaRPr lang="zh-CN" altLang="en-US" sz="1400" dirty="0">
                        <a:latin typeface="微软雅黑" panose="020B0503020204020204" charset="-122"/>
                        <a:ea typeface="微软雅黑" panose="020B0503020204020204" charset="-122"/>
                      </a:endParaRPr>
                    </a:p>
                  </a:txBody>
                  <a:tcPr anchor="ctr"/>
                </a:tc>
                <a:tc rowSpan="4">
                  <a:txBody>
                    <a:bodyPr/>
                    <a:lstStyle/>
                    <a:p>
                      <a:pPr algn="ctr"/>
                      <a:endParaRPr lang="zh-CN" altLang="en-US" sz="1400" dirty="0">
                        <a:latin typeface="微软雅黑" panose="020B0503020204020204" charset="-122"/>
                        <a:ea typeface="微软雅黑" panose="020B0503020204020204" charset="-122"/>
                      </a:endParaRPr>
                    </a:p>
                  </a:txBody>
                  <a:tcPr anchor="ctr"/>
                </a:tc>
                <a:tc rowSpan="4">
                  <a:txBody>
                    <a:bodyPr/>
                    <a:lstStyle/>
                    <a:p>
                      <a:pPr algn="ctr">
                        <a:lnSpc>
                          <a:spcPct val="150000"/>
                        </a:lnSpc>
                      </a:pPr>
                      <a:r>
                        <a:rPr lang="zh-CN" altLang="en-US" sz="1400" dirty="0">
                          <a:solidFill>
                            <a:srgbClr val="FF0000"/>
                          </a:solidFill>
                          <a:latin typeface="微软雅黑" panose="020B0503020204020204" charset="-122"/>
                          <a:ea typeface="微软雅黑" panose="020B0503020204020204" charset="-122"/>
                        </a:rPr>
                        <a:t>例</a:t>
                      </a:r>
                      <a:r>
                        <a:rPr lang="zh-CN" altLang="en-US" sz="1400" dirty="0">
                          <a:latin typeface="微软雅黑" panose="020B0503020204020204" charset="-122"/>
                          <a:ea typeface="微软雅黑" panose="020B0503020204020204" charset="-122"/>
                        </a:rPr>
                        <a:t>：</a:t>
                      </a:r>
                      <a:r>
                        <a:rPr lang="en-US" altLang="zh-CN" sz="1400" dirty="0">
                          <a:latin typeface="微软雅黑" panose="020B0503020204020204" charset="-122"/>
                          <a:ea typeface="微软雅黑" panose="020B0503020204020204" charset="-122"/>
                        </a:rPr>
                        <a:t>5G</a:t>
                      </a:r>
                      <a:r>
                        <a:rPr lang="zh-CN" altLang="en-US" sz="1400" dirty="0">
                          <a:latin typeface="微软雅黑" panose="020B0503020204020204" charset="-122"/>
                          <a:ea typeface="微软雅黑" panose="020B0503020204020204" charset="-122"/>
                        </a:rPr>
                        <a:t>专网服务费 </a:t>
                      </a:r>
                      <a:endParaRPr lang="en-US" altLang="zh-CN" sz="1400" dirty="0">
                        <a:latin typeface="微软雅黑" panose="020B0503020204020204" charset="-122"/>
                        <a:ea typeface="微软雅黑" panose="020B0503020204020204" charset="-122"/>
                      </a:endParaRPr>
                    </a:p>
                    <a:p>
                      <a:pPr algn="ctr">
                        <a:lnSpc>
                          <a:spcPct val="150000"/>
                        </a:lnSpc>
                      </a:pPr>
                      <a:r>
                        <a:rPr lang="en-US" altLang="zh-CN" sz="1400" dirty="0">
                          <a:latin typeface="微软雅黑" panose="020B0503020204020204" charset="-122"/>
                          <a:ea typeface="微软雅黑" panose="020B0503020204020204" charset="-122"/>
                        </a:rPr>
                        <a:t>B2</a:t>
                      </a:r>
                      <a:r>
                        <a:rPr lang="zh-CN" altLang="en-US" sz="1400" dirty="0">
                          <a:latin typeface="微软雅黑" panose="020B0503020204020204" charset="-122"/>
                          <a:ea typeface="微软雅黑" panose="020B0503020204020204" charset="-122"/>
                        </a:rPr>
                        <a:t>公网专用租用费</a:t>
                      </a:r>
                      <a:r>
                        <a:rPr lang="en-US" altLang="zh-CN" sz="1400" dirty="0">
                          <a:latin typeface="微软雅黑" panose="020B0503020204020204" charset="-122"/>
                          <a:ea typeface="微软雅黑" panose="020B0503020204020204" charset="-122"/>
                        </a:rPr>
                        <a:t>XXXXX+A5</a:t>
                      </a:r>
                      <a:r>
                        <a:rPr lang="zh-CN" altLang="en-US" sz="1400" dirty="0">
                          <a:latin typeface="微软雅黑" panose="020B0503020204020204" charset="-122"/>
                          <a:ea typeface="微软雅黑" panose="020B0503020204020204" charset="-122"/>
                        </a:rPr>
                        <a:t>边缘节点功能费</a:t>
                      </a:r>
                      <a:r>
                        <a:rPr lang="en-US" altLang="zh-CN" sz="1400" dirty="0">
                          <a:latin typeface="微软雅黑" panose="020B0503020204020204" charset="-122"/>
                          <a:ea typeface="微软雅黑" panose="020B0503020204020204" charset="-122"/>
                        </a:rPr>
                        <a:t>XXXX</a:t>
                      </a:r>
                      <a:r>
                        <a:rPr lang="zh-CN" altLang="en-US" sz="1400" dirty="0">
                          <a:latin typeface="微软雅黑" panose="020B0503020204020204" charset="-122"/>
                          <a:ea typeface="微软雅黑" panose="020B0503020204020204" charset="-122"/>
                        </a:rPr>
                        <a:t>；</a:t>
                      </a:r>
                      <a:r>
                        <a:rPr lang="zh-CN" altLang="en-US" sz="1400" dirty="0" smtClean="0">
                          <a:solidFill>
                            <a:srgbClr val="FF0000"/>
                          </a:solidFill>
                          <a:latin typeface="微软雅黑" panose="020B0503020204020204" charset="-122"/>
                          <a:ea typeface="微软雅黑" panose="020B0503020204020204" charset="-122"/>
                          <a:sym typeface="+mn-ea"/>
                        </a:rPr>
                        <a:t>（折扣：</a:t>
                      </a:r>
                      <a:r>
                        <a:rPr lang="en-US" altLang="zh-CN" sz="1400" dirty="0" smtClean="0">
                          <a:solidFill>
                            <a:srgbClr val="FF0000"/>
                          </a:solidFill>
                          <a:latin typeface="微软雅黑" panose="020B0503020204020204" charset="-122"/>
                          <a:ea typeface="微软雅黑" panose="020B0503020204020204" charset="-122"/>
                          <a:sym typeface="+mn-ea"/>
                        </a:rPr>
                        <a:t>XX</a:t>
                      </a:r>
                      <a:r>
                        <a:rPr lang="zh-CN" altLang="en-US" sz="1400" dirty="0" smtClean="0">
                          <a:solidFill>
                            <a:srgbClr val="FF0000"/>
                          </a:solidFill>
                          <a:latin typeface="微软雅黑" panose="020B0503020204020204" charset="-122"/>
                          <a:ea typeface="微软雅黑" panose="020B0503020204020204" charset="-122"/>
                          <a:sym typeface="+mn-ea"/>
                        </a:rPr>
                        <a:t>折）</a:t>
                      </a:r>
                      <a:endParaRPr lang="zh-CN" altLang="en-US" sz="1400" dirty="0">
                        <a:latin typeface="微软雅黑" panose="020B0503020204020204" charset="-122"/>
                        <a:ea typeface="微软雅黑" panose="020B0503020204020204" charset="-122"/>
                      </a:endParaRPr>
                    </a:p>
                    <a:p>
                      <a:pPr algn="ctr"/>
                      <a:endParaRPr lang="zh-CN" altLang="en-US" sz="1400" dirty="0">
                        <a:latin typeface="微软雅黑" panose="020B0503020204020204" charset="-122"/>
                        <a:ea typeface="微软雅黑" panose="020B0503020204020204" charset="-122"/>
                      </a:endParaRPr>
                    </a:p>
                  </a:txBody>
                  <a:tcPr anchor="ctr"/>
                </a:tc>
              </a:tr>
              <a:tr h="496570">
                <a:tc>
                  <a:txBody>
                    <a:bodyPr/>
                    <a:lstStyle/>
                    <a:p>
                      <a:pPr algn="ctr"/>
                      <a:r>
                        <a:rPr lang="zh-CN" altLang="en-US" sz="1400" dirty="0">
                          <a:latin typeface="微软雅黑" panose="020B0503020204020204" charset="-122"/>
                          <a:ea typeface="微软雅黑" panose="020B0503020204020204" charset="-122"/>
                        </a:rPr>
                        <a:t>传输</a:t>
                      </a:r>
                      <a:endParaRPr lang="zh-CN" altLang="en-US" sz="1400" dirty="0">
                        <a:latin typeface="微软雅黑" panose="020B0503020204020204" charset="-122"/>
                        <a:ea typeface="微软雅黑" panose="020B0503020204020204" charset="-122"/>
                      </a:endParaRPr>
                    </a:p>
                  </a:txBody>
                  <a:tcPr anchor="ctr"/>
                </a:tc>
                <a:tc>
                  <a:txBody>
                    <a:bodyPr/>
                    <a:lstStyle/>
                    <a:p>
                      <a:pPr algn="ctr"/>
                      <a:endParaRPr lang="zh-CN" altLang="en-US" sz="1400">
                        <a:latin typeface="微软雅黑" panose="020B0503020204020204" charset="-122"/>
                        <a:ea typeface="微软雅黑" panose="020B0503020204020204" charset="-122"/>
                      </a:endParaRPr>
                    </a:p>
                  </a:txBody>
                  <a:tcPr anchor="ctr"/>
                </a:tc>
                <a:tc vMerge="1">
                  <a:tcPr anchor="ctr"/>
                </a:tc>
                <a:tc vMerge="1">
                  <a:tcPr anchor="ctr"/>
                </a:tc>
                <a:tc vMerge="1">
                  <a:tcPr anchor="ctr"/>
                </a:tc>
              </a:tr>
              <a:tr h="496570">
                <a:tc>
                  <a:txBody>
                    <a:bodyPr/>
                    <a:lstStyle/>
                    <a:p>
                      <a:pPr algn="ctr"/>
                      <a:r>
                        <a:rPr lang="zh-CN" altLang="en-US" sz="1400" dirty="0">
                          <a:latin typeface="微软雅黑" panose="020B0503020204020204" charset="-122"/>
                          <a:ea typeface="微软雅黑" panose="020B0503020204020204" charset="-122"/>
                        </a:rPr>
                        <a:t>无线</a:t>
                      </a:r>
                      <a:endParaRPr lang="zh-CN" altLang="en-US" sz="1400" dirty="0">
                        <a:latin typeface="微软雅黑" panose="020B0503020204020204" charset="-122"/>
                        <a:ea typeface="微软雅黑" panose="020B0503020204020204" charset="-122"/>
                      </a:endParaRPr>
                    </a:p>
                  </a:txBody>
                  <a:tcPr anchor="ctr"/>
                </a:tc>
                <a:tc>
                  <a:txBody>
                    <a:bodyPr/>
                    <a:lstStyle/>
                    <a:p>
                      <a:pPr algn="ctr"/>
                      <a:endParaRPr lang="zh-CN" altLang="en-US" sz="1400" dirty="0">
                        <a:latin typeface="微软雅黑" panose="020B0503020204020204" charset="-122"/>
                        <a:ea typeface="微软雅黑" panose="020B0503020204020204" charset="-122"/>
                      </a:endParaRPr>
                    </a:p>
                  </a:txBody>
                  <a:tcPr anchor="ctr"/>
                </a:tc>
                <a:tc vMerge="1">
                  <a:tcPr anchor="ctr"/>
                </a:tc>
                <a:tc vMerge="1">
                  <a:tcPr anchor="ctr"/>
                </a:tc>
                <a:tc vMerge="1">
                  <a:tcPr anchor="ctr"/>
                </a:tc>
              </a:tr>
              <a:tr h="1953260">
                <a:tc>
                  <a:txBody>
                    <a:bodyPr/>
                    <a:lstStyle/>
                    <a:p>
                      <a:pPr algn="ctr"/>
                      <a:r>
                        <a:rPr lang="zh-CN" altLang="en-US" sz="1400" dirty="0">
                          <a:latin typeface="微软雅黑" panose="020B0503020204020204" charset="-122"/>
                          <a:ea typeface="微软雅黑" panose="020B0503020204020204" charset="-122"/>
                        </a:rPr>
                        <a:t>维保</a:t>
                      </a:r>
                      <a:endParaRPr lang="zh-CN" altLang="en-US" sz="1400" dirty="0">
                        <a:latin typeface="微软雅黑" panose="020B0503020204020204" charset="-122"/>
                        <a:ea typeface="微软雅黑" panose="020B0503020204020204" charset="-122"/>
                      </a:endParaRPr>
                    </a:p>
                  </a:txBody>
                  <a:tcPr anchor="ctr"/>
                </a:tc>
                <a:tc>
                  <a:txBody>
                    <a:bodyPr/>
                    <a:lstStyle/>
                    <a:p>
                      <a:pPr algn="ctr"/>
                      <a:endParaRPr lang="zh-CN" altLang="en-US" sz="1400" dirty="0">
                        <a:latin typeface="微软雅黑" panose="020B0503020204020204" charset="-122"/>
                        <a:ea typeface="微软雅黑" panose="020B0503020204020204" charset="-122"/>
                      </a:endParaRPr>
                    </a:p>
                  </a:txBody>
                  <a:tcPr anchor="ctr"/>
                </a:tc>
                <a:tc>
                  <a:txBody>
                    <a:bodyPr/>
                    <a:lstStyle/>
                    <a:p>
                      <a:pPr algn="ctr"/>
                      <a:endParaRPr lang="zh-CN" altLang="en-US" sz="1400" dirty="0">
                        <a:latin typeface="微软雅黑" panose="020B0503020204020204" charset="-122"/>
                        <a:ea typeface="微软雅黑" panose="020B0503020204020204" charset="-122"/>
                      </a:endParaRPr>
                    </a:p>
                  </a:txBody>
                  <a:tcPr anchor="ctr"/>
                </a:tc>
                <a:tc vMerge="1">
                  <a:tcPr anchor="ctr"/>
                </a:tc>
                <a:tc vMerge="1">
                  <a:tcPr anchor="ctr"/>
                </a:tc>
              </a:tr>
            </a:tbl>
          </a:graphicData>
        </a:graphic>
      </p:graphicFrame>
      <p:sp>
        <p:nvSpPr>
          <p:cNvPr id="8" name="上箭头标注 7"/>
          <p:cNvSpPr/>
          <p:nvPr/>
        </p:nvSpPr>
        <p:spPr>
          <a:xfrm rot="10800000" flipV="1">
            <a:off x="5073650" y="702945"/>
            <a:ext cx="2448560" cy="708025"/>
          </a:xfrm>
          <a:prstGeom prst="upArrowCallout">
            <a:avLst>
              <a:gd name="adj1" fmla="val 25000"/>
              <a:gd name="adj2" fmla="val 25000"/>
              <a:gd name="adj3" fmla="val 25000"/>
              <a:gd name="adj4" fmla="val 63324"/>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FF0000"/>
                </a:solidFill>
                <a:latin typeface="微软雅黑" panose="020B0503020204020204" charset="-122"/>
                <a:ea typeface="微软雅黑" panose="020B0503020204020204" charset="-122"/>
              </a:rPr>
              <a:t>大决策本页放入附件</a:t>
            </a:r>
            <a:endParaRPr lang="zh-CN" altLang="en-US" dirty="0">
              <a:solidFill>
                <a:srgbClr val="FF0000"/>
              </a:solidFill>
              <a:latin typeface="微软雅黑" panose="020B0503020204020204" charset="-122"/>
              <a:ea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635" y="-8890"/>
            <a:ext cx="12192635" cy="892175"/>
          </a:xfrm>
          <a:prstGeom prst="rect">
            <a:avLst/>
          </a:prstGeom>
        </p:spPr>
      </p:pic>
      <p:sp>
        <p:nvSpPr>
          <p:cNvPr id="3" name="Rectangle 2"/>
          <p:cNvSpPr>
            <a:spLocks noChangeArrowheads="1"/>
          </p:cNvSpPr>
          <p:nvPr/>
        </p:nvSpPr>
        <p:spPr bwMode="auto">
          <a:xfrm>
            <a:off x="158750" y="144780"/>
            <a:ext cx="7043738" cy="584697"/>
          </a:xfrm>
          <a:prstGeom prst="rect">
            <a:avLst/>
          </a:prstGeom>
          <a:noFill/>
          <a:ln w="9525">
            <a:noFill/>
            <a:miter lim="800000"/>
          </a:ln>
        </p:spPr>
        <p:txBody>
          <a:bodyPr anchor="b"/>
          <a:p>
            <a:pPr eaLnBrk="0" hangingPunct="0"/>
            <a:r>
              <a:rPr lang="zh-CN" altLang="en-US" sz="2800" dirty="0">
                <a:solidFill>
                  <a:schemeClr val="bg1"/>
                </a:solidFill>
                <a:latin typeface="微软雅黑" panose="020B0503020204020204" charset="-122"/>
                <a:ea typeface="微软雅黑" panose="020B0503020204020204" charset="-122"/>
              </a:rPr>
              <a:t>九、</a:t>
            </a:r>
            <a:r>
              <a:rPr lang="zh-CN" altLang="en-US" sz="2800" dirty="0">
                <a:solidFill>
                  <a:schemeClr val="bg1"/>
                </a:solidFill>
                <a:latin typeface="微软雅黑" panose="020B0503020204020204" charset="-122"/>
                <a:ea typeface="微软雅黑" panose="020B0503020204020204" charset="-122"/>
                <a:sym typeface="+mn-ea"/>
              </a:rPr>
              <a:t>自有能力融合情况</a:t>
            </a:r>
            <a:endParaRPr lang="zh-CN" altLang="en-US" sz="2800" dirty="0">
              <a:solidFill>
                <a:srgbClr val="FF0000"/>
              </a:solidFill>
              <a:highlight>
                <a:srgbClr val="FFFF00"/>
              </a:highlight>
              <a:latin typeface="微软雅黑" panose="020B0503020204020204" charset="-122"/>
              <a:ea typeface="微软雅黑" panose="020B0503020204020204" charset="-122"/>
              <a:sym typeface="+mn-ea"/>
            </a:endParaRPr>
          </a:p>
        </p:txBody>
      </p:sp>
      <p:sp>
        <p:nvSpPr>
          <p:cNvPr id="24" name="灯片编号占位符 23"/>
          <p:cNvSpPr>
            <a:spLocks noGrp="1"/>
          </p:cNvSpPr>
          <p:nvPr>
            <p:ph type="sldNum" sz="quarter" idx="12"/>
          </p:nvPr>
        </p:nvSpPr>
        <p:spPr/>
        <p:txBody>
          <a:bodyPr/>
          <a:p>
            <a:fld id="{49AE70B2-8BF9-45C0-BB95-33D1B9D3A854}" type="slidenum">
              <a:rPr lang="zh-CN" altLang="en-US" smtClean="0"/>
            </a:fld>
            <a:endParaRPr lang="zh-CN" altLang="en-US"/>
          </a:p>
        </p:txBody>
      </p:sp>
      <p:graphicFrame>
        <p:nvGraphicFramePr>
          <p:cNvPr id="42" name="表格 41"/>
          <p:cNvGraphicFramePr/>
          <p:nvPr>
            <p:custDataLst>
              <p:tags r:id="rId2"/>
            </p:custDataLst>
          </p:nvPr>
        </p:nvGraphicFramePr>
        <p:xfrm>
          <a:off x="158750" y="977900"/>
          <a:ext cx="6095365" cy="5786120"/>
        </p:xfrm>
        <a:graphic>
          <a:graphicData uri="http://schemas.openxmlformats.org/drawingml/2006/table">
            <a:tbl>
              <a:tblPr firstRow="1" bandRow="1">
                <a:tableStyleId>{5C22544A-7EE6-4342-B048-85BDC9FD1C3A}</a:tableStyleId>
              </a:tblPr>
              <a:tblGrid>
                <a:gridCol w="467995"/>
                <a:gridCol w="1430655"/>
                <a:gridCol w="2268855"/>
                <a:gridCol w="1927860"/>
              </a:tblGrid>
              <a:tr h="241935">
                <a:tc rowSpan="9">
                  <a:txBody>
                    <a:bodyPr/>
                    <a:lstStyle/>
                    <a:p>
                      <a:pPr indent="0" algn="ctr">
                        <a:buNone/>
                      </a:pPr>
                      <a:r>
                        <a:rPr lang="zh-CN" sz="1600" b="1">
                          <a:solidFill>
                            <a:srgbClr val="000000"/>
                          </a:solidFill>
                          <a:latin typeface="Arial" panose="02080604020202020204" pitchFamily="34" charset="0"/>
                          <a:ea typeface="微软雅黑" panose="020B0503020204020204" charset="-122"/>
                        </a:rPr>
                        <a:t>中</a:t>
                      </a:r>
                      <a:endParaRPr lang="zh-CN" sz="1600" b="1">
                        <a:solidFill>
                          <a:srgbClr val="000000"/>
                        </a:solidFill>
                        <a:latin typeface="Arial" panose="02080604020202020204" pitchFamily="34" charset="0"/>
                        <a:ea typeface="微软雅黑" panose="020B0503020204020204" charset="-122"/>
                      </a:endParaRPr>
                    </a:p>
                    <a:p>
                      <a:pPr indent="0" algn="ctr">
                        <a:buNone/>
                      </a:pPr>
                      <a:r>
                        <a:rPr lang="zh-CN" sz="1600" b="1">
                          <a:solidFill>
                            <a:srgbClr val="000000"/>
                          </a:solidFill>
                          <a:latin typeface="Arial" panose="02080604020202020204" pitchFamily="34" charset="0"/>
                          <a:ea typeface="微软雅黑" panose="020B0503020204020204" charset="-122"/>
                        </a:rPr>
                        <a:t>台</a:t>
                      </a:r>
                      <a:endParaRPr lang="zh-CN" sz="1600" b="1">
                        <a:solidFill>
                          <a:srgbClr val="000000"/>
                        </a:solidFill>
                        <a:latin typeface="Arial" panose="02080604020202020204" pitchFamily="34" charset="0"/>
                        <a:ea typeface="微软雅黑" panose="020B0503020204020204" charset="-122"/>
                      </a:endParaRPr>
                    </a:p>
                    <a:p>
                      <a:pPr indent="0" algn="ctr">
                        <a:buNone/>
                      </a:pPr>
                      <a:r>
                        <a:rPr lang="zh-CN" sz="1600" b="1">
                          <a:solidFill>
                            <a:srgbClr val="000000"/>
                          </a:solidFill>
                          <a:latin typeface="Arial" panose="02080604020202020204" pitchFamily="34" charset="0"/>
                          <a:ea typeface="微软雅黑" panose="020B0503020204020204" charset="-122"/>
                        </a:rPr>
                        <a:t>三</a:t>
                      </a:r>
                      <a:endParaRPr lang="zh-CN" sz="1600" b="1">
                        <a:solidFill>
                          <a:srgbClr val="000000"/>
                        </a:solidFill>
                        <a:latin typeface="Arial" panose="02080604020202020204" pitchFamily="34" charset="0"/>
                        <a:ea typeface="微软雅黑" panose="020B0503020204020204" charset="-122"/>
                      </a:endParaRPr>
                    </a:p>
                    <a:p>
                      <a:pPr indent="0" algn="ctr">
                        <a:buNone/>
                      </a:pPr>
                      <a:r>
                        <a:rPr lang="zh-CN" sz="1600" b="1">
                          <a:solidFill>
                            <a:srgbClr val="000000"/>
                          </a:solidFill>
                          <a:latin typeface="Arial" panose="02080604020202020204" pitchFamily="34" charset="0"/>
                          <a:ea typeface="微软雅黑" panose="020B0503020204020204" charset="-122"/>
                        </a:rPr>
                        <a:t>问</a:t>
                      </a:r>
                      <a:endParaRPr lang="zh-CN" altLang="en-US" sz="1600" b="1">
                        <a:solidFill>
                          <a:srgbClr val="000000"/>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CD5B4"/>
                    </a:solidFill>
                  </a:tcPr>
                </a:tc>
                <a:tc>
                  <a:txBody>
                    <a:bodyPr/>
                    <a:lstStyle/>
                    <a:p>
                      <a:pPr indent="0" algn="ctr">
                        <a:buNone/>
                      </a:pPr>
                      <a:r>
                        <a:rPr lang="zh-CN" sz="1000" b="1">
                          <a:solidFill>
                            <a:srgbClr val="FFFFFF"/>
                          </a:solidFill>
                          <a:latin typeface="Arial" panose="02080604020202020204" pitchFamily="34" charset="0"/>
                          <a:ea typeface="微软雅黑" panose="020B0503020204020204" charset="-122"/>
                        </a:rPr>
                        <a:t>“中台三问”要求</a:t>
                      </a:r>
                      <a:endParaRPr lang="zh-CN" altLang="en-US" sz="1000" b="1">
                        <a:solidFill>
                          <a:srgbClr val="FFFFFF"/>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5B9BD5"/>
                    </a:solidFill>
                  </a:tcPr>
                </a:tc>
                <a:tc>
                  <a:txBody>
                    <a:bodyPr/>
                    <a:lstStyle/>
                    <a:p>
                      <a:pPr indent="0" algn="ctr">
                        <a:buNone/>
                      </a:pPr>
                      <a:r>
                        <a:rPr lang="zh-CN" sz="1000" b="1">
                          <a:solidFill>
                            <a:srgbClr val="FFFFFF"/>
                          </a:solidFill>
                          <a:latin typeface="Arial" panose="02080604020202020204" pitchFamily="34" charset="0"/>
                          <a:ea typeface="微软雅黑" panose="020B0503020204020204" charset="-122"/>
                        </a:rPr>
                        <a:t>应答问题</a:t>
                      </a:r>
                      <a:endParaRPr lang="zh-CN" altLang="en-US" sz="1000" b="1">
                        <a:solidFill>
                          <a:srgbClr val="FFFFFF"/>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5B9BD5"/>
                    </a:solidFill>
                  </a:tcPr>
                </a:tc>
                <a:tc>
                  <a:txBody>
                    <a:bodyPr/>
                    <a:lstStyle/>
                    <a:p>
                      <a:pPr indent="0" algn="ctr">
                        <a:buNone/>
                      </a:pPr>
                      <a:r>
                        <a:rPr lang="zh-CN" sz="1000" b="1">
                          <a:solidFill>
                            <a:srgbClr val="FFFFFF"/>
                          </a:solidFill>
                          <a:latin typeface="Arial" panose="02080604020202020204" pitchFamily="34" charset="0"/>
                          <a:ea typeface="微软雅黑" panose="020B0503020204020204" charset="-122"/>
                        </a:rPr>
                        <a:t>应答要点</a:t>
                      </a:r>
                      <a:endParaRPr lang="zh-CN" altLang="en-US" sz="1000" b="1">
                        <a:solidFill>
                          <a:srgbClr val="FFFFFF"/>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5B9BD5"/>
                    </a:solidFill>
                  </a:tcPr>
                </a:tc>
              </a:tr>
              <a:tr h="53911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buNone/>
                      </a:pPr>
                      <a:r>
                        <a:rPr lang="zh-CN" sz="900" b="0">
                          <a:solidFill>
                            <a:srgbClr val="000000"/>
                          </a:solidFill>
                          <a:latin typeface="Arial" panose="02080604020202020204" pitchFamily="34" charset="0"/>
                          <a:ea typeface="微软雅黑" panose="020B0503020204020204" charset="-122"/>
                        </a:rPr>
                        <a:t>本项目与智慧中台什么关系？</a:t>
                      </a:r>
                      <a:endParaRPr lang="zh-CN" altLang="en-US" sz="900" b="0">
                        <a:solidFill>
                          <a:srgbClr val="000000"/>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c>
                  <a:txBody>
                    <a:bodyPr/>
                    <a:lstStyle/>
                    <a:p>
                      <a:pPr indent="0">
                        <a:buNone/>
                      </a:pPr>
                      <a:r>
                        <a:rPr lang="zh-CN" sz="900" b="0">
                          <a:solidFill>
                            <a:srgbClr val="000000"/>
                          </a:solidFill>
                          <a:latin typeface="Arial" panose="02080604020202020204" pitchFamily="34" charset="0"/>
                          <a:ea typeface="微软雅黑" panose="020B0503020204020204" charset="-122"/>
                        </a:rPr>
                        <a:t>对于往期建设的系统及功能，说明与中台的关系（是否复用中台能力或将能力沉淀到中台）</a:t>
                      </a:r>
                      <a:endParaRPr lang="zh-CN" altLang="en-US" sz="900" b="0">
                        <a:solidFill>
                          <a:srgbClr val="000000"/>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en-US" sz="900" b="0" i="0" u="none" strike="noStrike" kern="1200" cap="none" spc="0" normalizeH="0" baseline="0" dirty="0">
                        <a:ln>
                          <a:noFill/>
                        </a:ln>
                        <a:solidFill>
                          <a:srgbClr val="000000"/>
                        </a:solidFill>
                        <a:effectLst/>
                        <a:uLnTx/>
                        <a:uFillTx/>
                        <a:latin typeface="微软雅黑" panose="020B0503020204020204" charset="-122"/>
                        <a:ea typeface="仿宋_GB2312" panose="02010609030101010101"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r>
              <a:tr h="22415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rowSpan="2">
                  <a:txBody>
                    <a:bodyPr/>
                    <a:lstStyle/>
                    <a:p>
                      <a:pPr indent="0">
                        <a:buNone/>
                      </a:pPr>
                      <a:r>
                        <a:rPr lang="zh-CN" sz="900" b="0">
                          <a:solidFill>
                            <a:srgbClr val="000000"/>
                          </a:solidFill>
                          <a:latin typeface="Arial" panose="02080604020202020204" pitchFamily="34" charset="0"/>
                          <a:ea typeface="微软雅黑" panose="020B0503020204020204" charset="-122"/>
                        </a:rPr>
                        <a:t>本项目拟复用哪些中台能力？</a:t>
                      </a:r>
                      <a:endParaRPr lang="zh-CN" altLang="en-US" sz="900" b="0">
                        <a:solidFill>
                          <a:srgbClr val="000000"/>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AEFF7"/>
                    </a:solidFill>
                  </a:tcPr>
                </a:tc>
                <a:tc>
                  <a:txBody>
                    <a:bodyPr/>
                    <a:lstStyle/>
                    <a:p>
                      <a:pPr indent="0">
                        <a:buNone/>
                      </a:pPr>
                      <a:r>
                        <a:rPr lang="zh-CN" sz="900" b="0" dirty="0">
                          <a:solidFill>
                            <a:srgbClr val="000000"/>
                          </a:solidFill>
                          <a:latin typeface="Arial" panose="02080604020202020204" pitchFamily="34" charset="0"/>
                          <a:ea typeface="微软雅黑" panose="020B0503020204020204" charset="-122"/>
                        </a:rPr>
                        <a:t>（1）拟复用的重庆能运中心能力</a:t>
                      </a:r>
                      <a:endParaRPr lang="zh-CN" altLang="en-US" sz="900" b="0" dirty="0">
                        <a:solidFill>
                          <a:srgbClr val="000000"/>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AEFF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900" b="0" i="0" u="none" strike="noStrike" kern="1200" cap="none" spc="0" normalizeH="0" baseline="0" noProof="0" dirty="0">
                        <a:ln>
                          <a:noFill/>
                        </a:ln>
                        <a:solidFill>
                          <a:srgbClr val="000000"/>
                        </a:solidFill>
                        <a:effectLst/>
                        <a:uLnTx/>
                        <a:uFillTx/>
                        <a:latin typeface="仿宋_GB2312" panose="02010609030101010101" charset="-122"/>
                        <a:ea typeface="仿宋_GB2312" panose="02010609030101010101" charset="-122"/>
                        <a:cs typeface="仿宋_GB2312" panose="02010609030101010101"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AEFF7"/>
                    </a:solidFill>
                  </a:tcPr>
                </a:tc>
              </a:tr>
              <a:tr h="22542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indent="0">
                        <a:buNone/>
                      </a:pPr>
                      <a:r>
                        <a:rPr lang="zh-CN" sz="900" b="0" dirty="0">
                          <a:solidFill>
                            <a:srgbClr val="000000"/>
                          </a:solidFill>
                          <a:latin typeface="Arial" panose="02080604020202020204" pitchFamily="34" charset="0"/>
                          <a:ea typeface="微软雅黑" panose="020B0503020204020204" charset="-122"/>
                        </a:rPr>
                        <a:t>（2）拟复用的智慧中台能力</a:t>
                      </a:r>
                      <a:endParaRPr lang="zh-CN" altLang="en-US" sz="900" b="0" dirty="0">
                        <a:solidFill>
                          <a:srgbClr val="000000"/>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900" b="0" i="0" u="none" strike="noStrike" kern="1200" cap="none" spc="0" normalizeH="0" baseline="0" noProof="0" dirty="0">
                        <a:ln>
                          <a:noFill/>
                        </a:ln>
                        <a:solidFill>
                          <a:srgbClr val="000000"/>
                        </a:solidFill>
                        <a:effectLst/>
                        <a:uLnTx/>
                        <a:uFillTx/>
                        <a:latin typeface="仿宋_GB2312" panose="02010609030101010101" charset="-122"/>
                        <a:ea typeface="仿宋_GB2312" panose="02010609030101010101" charset="-122"/>
                        <a:cs typeface="仿宋_GB2312" panose="02010609030101010101"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r>
              <a:tr h="22479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rowSpan="2">
                  <a:txBody>
                    <a:bodyPr/>
                    <a:lstStyle/>
                    <a:p>
                      <a:pPr indent="0">
                        <a:buNone/>
                      </a:pPr>
                      <a:r>
                        <a:rPr lang="zh-CN" sz="900" b="0">
                          <a:solidFill>
                            <a:srgbClr val="000000"/>
                          </a:solidFill>
                          <a:latin typeface="Arial" panose="02080604020202020204" pitchFamily="34" charset="0"/>
                          <a:ea typeface="微软雅黑" panose="020B0503020204020204" charset="-122"/>
                        </a:rPr>
                        <a:t>本项目拟沉淀哪些中台能力？</a:t>
                      </a:r>
                      <a:endParaRPr lang="zh-CN" altLang="en-US" sz="900" b="0">
                        <a:solidFill>
                          <a:srgbClr val="000000"/>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AEFF7"/>
                    </a:solidFill>
                  </a:tcPr>
                </a:tc>
                <a:tc>
                  <a:txBody>
                    <a:bodyPr/>
                    <a:lstStyle/>
                    <a:p>
                      <a:pPr indent="0">
                        <a:buNone/>
                      </a:pPr>
                      <a:r>
                        <a:rPr lang="zh-CN" sz="900" b="0" dirty="0">
                          <a:solidFill>
                            <a:srgbClr val="000000"/>
                          </a:solidFill>
                          <a:latin typeface="Arial" panose="02080604020202020204" pitchFamily="34" charset="0"/>
                          <a:ea typeface="微软雅黑" panose="020B0503020204020204" charset="-122"/>
                        </a:rPr>
                        <a:t>（1）拟沉淀的重庆能运中心能力</a:t>
                      </a:r>
                      <a:endParaRPr lang="zh-CN" altLang="en-US" sz="900" b="0" dirty="0">
                        <a:solidFill>
                          <a:srgbClr val="000000"/>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AEFF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900" b="0" i="0" u="none" strike="noStrike" kern="1200" cap="none" spc="0" normalizeH="0" baseline="0" noProof="0" dirty="0">
                        <a:ln>
                          <a:noFill/>
                        </a:ln>
                        <a:solidFill>
                          <a:srgbClr val="000000"/>
                        </a:solidFill>
                        <a:effectLst/>
                        <a:uLnTx/>
                        <a:uFillTx/>
                        <a:latin typeface="仿宋_GB2312" panose="02010609030101010101" charset="-122"/>
                        <a:ea typeface="仿宋_GB2312" panose="02010609030101010101" charset="-122"/>
                        <a:cs typeface="仿宋_GB2312" panose="02010609030101010101"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AEFF7"/>
                    </a:solidFill>
                  </a:tcPr>
                </a:tc>
              </a:tr>
              <a:tr h="22415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indent="0">
                        <a:buNone/>
                      </a:pPr>
                      <a:r>
                        <a:rPr lang="zh-CN" sz="900" b="0" dirty="0">
                          <a:solidFill>
                            <a:srgbClr val="000000"/>
                          </a:solidFill>
                          <a:latin typeface="Arial" panose="02080604020202020204" pitchFamily="34" charset="0"/>
                          <a:ea typeface="微软雅黑" panose="020B0503020204020204" charset="-122"/>
                        </a:rPr>
                        <a:t>（2）拟沉淀的智慧中台能力</a:t>
                      </a:r>
                      <a:endParaRPr lang="zh-CN" altLang="en-US" sz="900" b="0" dirty="0">
                        <a:solidFill>
                          <a:srgbClr val="000000"/>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900" b="0" i="0" u="none" strike="noStrike" kern="1200" cap="none" spc="0" normalizeH="0" baseline="0" noProof="0" dirty="0">
                        <a:ln>
                          <a:noFill/>
                        </a:ln>
                        <a:solidFill>
                          <a:srgbClr val="000000"/>
                        </a:solidFill>
                        <a:effectLst/>
                        <a:uLnTx/>
                        <a:uFillTx/>
                        <a:latin typeface="仿宋_GB2312" panose="02010609030101010101" charset="-122"/>
                        <a:ea typeface="仿宋_GB2312" panose="02010609030101010101" charset="-122"/>
                        <a:cs typeface="仿宋_GB2312" panose="02010609030101010101"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r>
              <a:tr h="22415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rowSpan="2">
                  <a:txBody>
                    <a:bodyPr/>
                    <a:lstStyle/>
                    <a:p>
                      <a:pPr indent="0">
                        <a:buNone/>
                      </a:pPr>
                      <a:r>
                        <a:rPr lang="zh-CN" sz="900" b="0" dirty="0">
                          <a:solidFill>
                            <a:srgbClr val="000000"/>
                          </a:solidFill>
                          <a:latin typeface="Arial" panose="02080604020202020204" pitchFamily="34" charset="0"/>
                          <a:ea typeface="微软雅黑" panose="020B0503020204020204" charset="-122"/>
                        </a:rPr>
                        <a:t>本项目拟升级哪些中台能力？</a:t>
                      </a:r>
                      <a:endParaRPr lang="zh-CN" altLang="en-US" sz="900" b="0" dirty="0">
                        <a:solidFill>
                          <a:srgbClr val="000000"/>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AEFF7"/>
                    </a:solidFill>
                  </a:tcPr>
                </a:tc>
                <a:tc>
                  <a:txBody>
                    <a:bodyPr/>
                    <a:lstStyle/>
                    <a:p>
                      <a:pPr indent="0">
                        <a:buNone/>
                      </a:pPr>
                      <a:r>
                        <a:rPr lang="zh-CN" sz="900" b="0" dirty="0">
                          <a:solidFill>
                            <a:srgbClr val="000000"/>
                          </a:solidFill>
                          <a:latin typeface="Arial" panose="02080604020202020204" pitchFamily="34" charset="0"/>
                          <a:ea typeface="微软雅黑" panose="020B0503020204020204" charset="-122"/>
                        </a:rPr>
                        <a:t>（1）拟升级的重庆能运中心能力</a:t>
                      </a:r>
                      <a:endParaRPr lang="zh-CN" altLang="en-US" sz="900" b="0" dirty="0">
                        <a:solidFill>
                          <a:srgbClr val="000000"/>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AEFF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900" b="0" i="0" u="none" strike="noStrike" kern="1200" cap="none" spc="0" normalizeH="0" baseline="0" noProof="0" dirty="0">
                        <a:ln>
                          <a:noFill/>
                        </a:ln>
                        <a:solidFill>
                          <a:srgbClr val="000000"/>
                        </a:solidFill>
                        <a:effectLst/>
                        <a:uLnTx/>
                        <a:uFillTx/>
                        <a:latin typeface="仿宋_GB2312" panose="02010609030101010101" charset="-122"/>
                        <a:ea typeface="仿宋_GB2312" panose="02010609030101010101" charset="-122"/>
                        <a:cs typeface="仿宋_GB2312" panose="02010609030101010101"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AEFF7"/>
                    </a:solidFill>
                  </a:tcPr>
                </a:tc>
              </a:tr>
              <a:tr h="22479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indent="0">
                        <a:buNone/>
                      </a:pPr>
                      <a:r>
                        <a:rPr lang="zh-CN" sz="900" b="0" dirty="0">
                          <a:solidFill>
                            <a:srgbClr val="000000"/>
                          </a:solidFill>
                          <a:latin typeface="Arial" panose="02080604020202020204" pitchFamily="34" charset="0"/>
                          <a:ea typeface="微软雅黑" panose="020B0503020204020204" charset="-122"/>
                        </a:rPr>
                        <a:t>（2）拟复用的智慧中台能力</a:t>
                      </a:r>
                      <a:endParaRPr lang="zh-CN" altLang="en-US" sz="900" b="0" dirty="0">
                        <a:solidFill>
                          <a:srgbClr val="000000"/>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900" b="0" i="0" u="none" strike="noStrike" kern="1200" cap="none" spc="0" normalizeH="0" baseline="0" noProof="0" dirty="0">
                        <a:ln>
                          <a:noFill/>
                        </a:ln>
                        <a:solidFill>
                          <a:srgbClr val="000000"/>
                        </a:solidFill>
                        <a:effectLst/>
                        <a:uLnTx/>
                        <a:uFillTx/>
                        <a:latin typeface="仿宋_GB2312" panose="02010609030101010101" charset="-122"/>
                        <a:ea typeface="仿宋_GB2312" panose="02010609030101010101" charset="-122"/>
                        <a:cs typeface="仿宋_GB2312" panose="02010609030101010101"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r>
              <a:tr h="53911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indent="0">
                        <a:buNone/>
                      </a:pPr>
                      <a:r>
                        <a:rPr lang="zh-CN" sz="900" b="0" dirty="0">
                          <a:solidFill>
                            <a:srgbClr val="000000"/>
                          </a:solidFill>
                          <a:latin typeface="Arial" panose="02080604020202020204" pitchFamily="34" charset="0"/>
                          <a:ea typeface="微软雅黑" panose="020B0503020204020204" charset="-122"/>
                        </a:rPr>
                        <a:t>如与中台没有关系，详细解释原因与建设必要性</a:t>
                      </a:r>
                      <a:endParaRPr lang="zh-CN" altLang="en-US" sz="900" b="0" dirty="0">
                        <a:solidFill>
                          <a:srgbClr val="000000"/>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AEFF7"/>
                    </a:solidFill>
                  </a:tcPr>
                </a:tc>
                <a:tc gridSpan="2">
                  <a:txBody>
                    <a:bodyPr/>
                    <a:lstStyle/>
                    <a:p>
                      <a:pPr indent="0">
                        <a:buNone/>
                      </a:pPr>
                      <a:endParaRPr lang="en-US" altLang="en-US" sz="900" b="0" kern="1200" dirty="0">
                        <a:solidFill>
                          <a:srgbClr val="000000"/>
                        </a:solidFill>
                        <a:latin typeface="Arial" panose="02080604020202020204" pitchFamily="34" charset="0"/>
                        <a:ea typeface="微软雅黑" panose="020B0503020204020204" charset="-122"/>
                        <a:cs typeface="+mn-cs"/>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AEFF7"/>
                    </a:solidFill>
                  </a:tcPr>
                </a:tc>
                <a:tc hMerge="1">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AEFF7"/>
                    </a:solidFill>
                  </a:tcPr>
                </a:tc>
              </a:tr>
              <a:tr h="241935">
                <a:tc rowSpan="4">
                  <a:txBody>
                    <a:bodyPr/>
                    <a:lstStyle/>
                    <a:p>
                      <a:pPr indent="0" algn="ctr">
                        <a:buNone/>
                      </a:pPr>
                      <a:r>
                        <a:rPr lang="zh-CN" sz="1600" b="1">
                          <a:solidFill>
                            <a:srgbClr val="000000"/>
                          </a:solidFill>
                          <a:latin typeface="Arial" panose="02080604020202020204" pitchFamily="34" charset="0"/>
                          <a:ea typeface="微软雅黑" panose="020B0503020204020204" charset="-122"/>
                        </a:rPr>
                        <a:t>自</a:t>
                      </a:r>
                      <a:endParaRPr lang="zh-CN" sz="1600" b="1">
                        <a:solidFill>
                          <a:srgbClr val="000000"/>
                        </a:solidFill>
                        <a:latin typeface="Arial" panose="02080604020202020204" pitchFamily="34" charset="0"/>
                        <a:ea typeface="微软雅黑" panose="020B0503020204020204" charset="-122"/>
                      </a:endParaRPr>
                    </a:p>
                    <a:p>
                      <a:pPr indent="0" algn="ctr">
                        <a:buNone/>
                      </a:pPr>
                      <a:r>
                        <a:rPr lang="zh-CN" sz="1600" b="1">
                          <a:solidFill>
                            <a:srgbClr val="000000"/>
                          </a:solidFill>
                          <a:latin typeface="Arial" panose="02080604020202020204" pitchFamily="34" charset="0"/>
                          <a:ea typeface="微软雅黑" panose="020B0503020204020204" charset="-122"/>
                        </a:rPr>
                        <a:t>主</a:t>
                      </a:r>
                      <a:endParaRPr lang="zh-CN" sz="1600" b="1">
                        <a:solidFill>
                          <a:srgbClr val="000000"/>
                        </a:solidFill>
                        <a:latin typeface="Arial" panose="02080604020202020204" pitchFamily="34" charset="0"/>
                        <a:ea typeface="微软雅黑" panose="020B0503020204020204" charset="-122"/>
                      </a:endParaRPr>
                    </a:p>
                    <a:p>
                      <a:pPr indent="0" algn="ctr">
                        <a:buNone/>
                      </a:pPr>
                      <a:r>
                        <a:rPr lang="zh-CN" sz="1600" b="1">
                          <a:solidFill>
                            <a:srgbClr val="000000"/>
                          </a:solidFill>
                          <a:latin typeface="Arial" panose="02080604020202020204" pitchFamily="34" charset="0"/>
                          <a:ea typeface="微软雅黑" panose="020B0503020204020204" charset="-122"/>
                        </a:rPr>
                        <a:t>三</a:t>
                      </a:r>
                      <a:endParaRPr lang="zh-CN" sz="1600" b="1">
                        <a:solidFill>
                          <a:srgbClr val="000000"/>
                        </a:solidFill>
                        <a:latin typeface="Arial" panose="02080604020202020204" pitchFamily="34" charset="0"/>
                        <a:ea typeface="微软雅黑" panose="020B0503020204020204" charset="-122"/>
                      </a:endParaRPr>
                    </a:p>
                    <a:p>
                      <a:pPr indent="0" algn="ctr">
                        <a:buNone/>
                      </a:pPr>
                      <a:r>
                        <a:rPr lang="zh-CN" sz="1600" b="1">
                          <a:solidFill>
                            <a:srgbClr val="000000"/>
                          </a:solidFill>
                          <a:latin typeface="Arial" panose="02080604020202020204" pitchFamily="34" charset="0"/>
                          <a:ea typeface="微软雅黑" panose="020B0503020204020204" charset="-122"/>
                        </a:rPr>
                        <a:t>问</a:t>
                      </a:r>
                      <a:endParaRPr lang="zh-CN" altLang="en-US" sz="1600" b="1">
                        <a:solidFill>
                          <a:srgbClr val="000000"/>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CD5B4"/>
                    </a:solidFill>
                  </a:tcPr>
                </a:tc>
                <a:tc>
                  <a:txBody>
                    <a:bodyPr/>
                    <a:lstStyle/>
                    <a:p>
                      <a:pPr indent="0" algn="ctr">
                        <a:buNone/>
                      </a:pPr>
                      <a:r>
                        <a:rPr lang="zh-CN" sz="1000" b="1">
                          <a:solidFill>
                            <a:srgbClr val="FFFFFF"/>
                          </a:solidFill>
                          <a:latin typeface="Arial" panose="02080604020202020204" pitchFamily="34" charset="0"/>
                          <a:ea typeface="微软雅黑" panose="020B0503020204020204" charset="-122"/>
                        </a:rPr>
                        <a:t>“自主三问”要求</a:t>
                      </a:r>
                      <a:endParaRPr lang="zh-CN" altLang="en-US" sz="1000" b="1">
                        <a:solidFill>
                          <a:srgbClr val="FFFFFF"/>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5B9BD5"/>
                    </a:solidFill>
                  </a:tcPr>
                </a:tc>
                <a:tc>
                  <a:txBody>
                    <a:bodyPr/>
                    <a:lstStyle/>
                    <a:p>
                      <a:pPr indent="0" algn="ctr">
                        <a:buNone/>
                      </a:pPr>
                      <a:r>
                        <a:rPr lang="zh-CN" sz="1000" b="1">
                          <a:solidFill>
                            <a:srgbClr val="FFFFFF"/>
                          </a:solidFill>
                          <a:latin typeface="Arial" panose="02080604020202020204" pitchFamily="34" charset="0"/>
                          <a:ea typeface="微软雅黑" panose="020B0503020204020204" charset="-122"/>
                        </a:rPr>
                        <a:t>应答问题</a:t>
                      </a:r>
                      <a:endParaRPr lang="zh-CN" altLang="en-US" sz="1000" b="1">
                        <a:solidFill>
                          <a:srgbClr val="FFFFFF"/>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5B9BD5"/>
                    </a:solidFill>
                  </a:tcPr>
                </a:tc>
                <a:tc>
                  <a:txBody>
                    <a:bodyPr/>
                    <a:lstStyle/>
                    <a:p>
                      <a:pPr indent="0" algn="ctr">
                        <a:buNone/>
                      </a:pPr>
                      <a:r>
                        <a:rPr lang="zh-CN" sz="1000" b="1" dirty="0">
                          <a:solidFill>
                            <a:srgbClr val="FFFFFF"/>
                          </a:solidFill>
                          <a:latin typeface="Arial" panose="02080604020202020204" pitchFamily="34" charset="0"/>
                          <a:ea typeface="微软雅黑" panose="020B0503020204020204" charset="-122"/>
                        </a:rPr>
                        <a:t>应答结果</a:t>
                      </a:r>
                      <a:endParaRPr lang="zh-CN" altLang="en-US" sz="1000" b="1" dirty="0">
                        <a:solidFill>
                          <a:srgbClr val="FFFFFF"/>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5B9BD5"/>
                    </a:solidFill>
                  </a:tcPr>
                </a:tc>
              </a:tr>
              <a:tr h="179959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900" b="0">
                          <a:solidFill>
                            <a:srgbClr val="000000"/>
                          </a:solidFill>
                          <a:latin typeface="Arial" panose="02080604020202020204" pitchFamily="34" charset="0"/>
                          <a:ea typeface="微软雅黑" panose="020B0503020204020204" charset="-122"/>
                        </a:rPr>
                        <a:t>是否自主实施</a:t>
                      </a:r>
                      <a:r>
                        <a:rPr lang="en-US" altLang="zh-CN" sz="900" b="0">
                          <a:solidFill>
                            <a:srgbClr val="000000"/>
                          </a:solidFill>
                          <a:latin typeface="Arial" panose="02080604020202020204" pitchFamily="34" charset="0"/>
                          <a:ea typeface="微软雅黑" panose="020B0503020204020204" charset="-122"/>
                        </a:rPr>
                        <a:t>/</a:t>
                      </a:r>
                      <a:r>
                        <a:rPr lang="zh-CN" altLang="en-US" sz="900" b="0">
                          <a:solidFill>
                            <a:srgbClr val="000000"/>
                          </a:solidFill>
                          <a:latin typeface="Arial" panose="02080604020202020204" pitchFamily="34" charset="0"/>
                          <a:ea typeface="微软雅黑" panose="020B0503020204020204" charset="-122"/>
                        </a:rPr>
                        <a:t>交付</a:t>
                      </a:r>
                      <a:endParaRPr lang="zh-CN" altLang="en-US" sz="900" b="0">
                        <a:solidFill>
                          <a:srgbClr val="000000"/>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c>
                  <a:txBody>
                    <a:bodyPr/>
                    <a:lstStyle/>
                    <a:p>
                      <a:pPr indent="0">
                        <a:buNone/>
                      </a:pPr>
                      <a:r>
                        <a:rPr lang="zh-CN" altLang="en-US" sz="900" b="1" dirty="0">
                          <a:solidFill>
                            <a:srgbClr val="FF0000"/>
                          </a:solidFill>
                          <a:latin typeface="Arial" panose="02080604020202020204" pitchFamily="34" charset="0"/>
                          <a:ea typeface="微软雅黑" panose="020B0503020204020204" charset="-122"/>
                        </a:rPr>
                        <a:t>自有集成团队</a:t>
                      </a:r>
                      <a:r>
                        <a:rPr lang="zh-CN" altLang="en-US" sz="900" b="0" dirty="0">
                          <a:solidFill>
                            <a:srgbClr val="000000"/>
                          </a:solidFill>
                          <a:latin typeface="Arial" panose="02080604020202020204" pitchFamily="34" charset="0"/>
                          <a:ea typeface="微软雅黑" panose="020B0503020204020204" charset="-122"/>
                        </a:rPr>
                        <a:t>（含专业公司、支撑外协）参与项目的实际生产实施活动</a:t>
                      </a:r>
                      <a:endParaRPr lang="zh-CN" altLang="en-US" sz="900" b="0" dirty="0">
                        <a:solidFill>
                          <a:srgbClr val="000000"/>
                        </a:solidFill>
                        <a:latin typeface="Arial" panose="02080604020202020204" pitchFamily="34" charset="0"/>
                        <a:ea typeface="微软雅黑" panose="020B0503020204020204" charset="-122"/>
                      </a:endParaRPr>
                    </a:p>
                    <a:p>
                      <a:pPr indent="0">
                        <a:buNone/>
                      </a:pPr>
                      <a:endParaRPr lang="zh-CN" altLang="en-US" sz="900" b="0" dirty="0">
                        <a:solidFill>
                          <a:srgbClr val="000000"/>
                        </a:solidFill>
                        <a:latin typeface="Arial" panose="02080604020202020204" pitchFamily="34" charset="0"/>
                        <a:ea typeface="微软雅黑" panose="020B0503020204020204" charset="-122"/>
                      </a:endParaRPr>
                    </a:p>
                    <a:p>
                      <a:pPr marL="171450" indent="-171450">
                        <a:buFont typeface="Wingdings" panose="05000000000000000000" charset="0"/>
                        <a:buChar char="n"/>
                      </a:pPr>
                      <a:r>
                        <a:rPr lang="zh-CN" altLang="en-US" sz="900" b="0" dirty="0">
                          <a:solidFill>
                            <a:srgbClr val="000000"/>
                          </a:solidFill>
                          <a:latin typeface="Arial" panose="02080604020202020204" pitchFamily="34" charset="0"/>
                          <a:ea typeface="微软雅黑" panose="020B0503020204020204" charset="-122"/>
                        </a:rPr>
                        <a:t>自主应用：</a:t>
                      </a:r>
                      <a:r>
                        <a:rPr lang="en-US" altLang="zh-CN" sz="900" b="0" dirty="0">
                          <a:solidFill>
                            <a:srgbClr val="000000"/>
                          </a:solidFill>
                          <a:latin typeface="Arial" panose="02080604020202020204" pitchFamily="34" charset="0"/>
                          <a:ea typeface="微软雅黑" panose="020B0503020204020204" charset="-122"/>
                        </a:rPr>
                        <a:t>DICT</a:t>
                      </a:r>
                      <a:r>
                        <a:rPr lang="zh-CN" altLang="en-US" sz="900" b="0" dirty="0">
                          <a:solidFill>
                            <a:srgbClr val="000000"/>
                          </a:solidFill>
                          <a:latin typeface="Arial" panose="02080604020202020204" pitchFamily="34" charset="0"/>
                          <a:ea typeface="微软雅黑" panose="020B0503020204020204" charset="-122"/>
                        </a:rPr>
                        <a:t>项目中融自有标准化</a:t>
                      </a:r>
                      <a:r>
                        <a:rPr lang="en-US" altLang="zh-CN" sz="900" b="0" dirty="0">
                          <a:solidFill>
                            <a:srgbClr val="000000"/>
                          </a:solidFill>
                          <a:latin typeface="Arial" panose="02080604020202020204" pitchFamily="34" charset="0"/>
                          <a:ea typeface="微软雅黑" panose="020B0503020204020204" charset="-122"/>
                        </a:rPr>
                        <a:t>IT</a:t>
                      </a:r>
                      <a:r>
                        <a:rPr lang="zh-CN" altLang="en-US" sz="900" b="0" dirty="0">
                          <a:solidFill>
                            <a:srgbClr val="000000"/>
                          </a:solidFill>
                          <a:latin typeface="Arial" panose="02080604020202020204" pitchFamily="34" charset="0"/>
                          <a:ea typeface="微软雅黑" panose="020B0503020204020204" charset="-122"/>
                        </a:rPr>
                        <a:t>能力，包括</a:t>
                      </a:r>
                      <a:r>
                        <a:rPr lang="en-US" altLang="zh-CN" sz="900" b="0" dirty="0">
                          <a:solidFill>
                            <a:srgbClr val="000000"/>
                          </a:solidFill>
                          <a:latin typeface="Arial" panose="02080604020202020204" pitchFamily="34" charset="0"/>
                          <a:ea typeface="微软雅黑" panose="020B0503020204020204" charset="-122"/>
                        </a:rPr>
                        <a:t>“</a:t>
                      </a:r>
                      <a:r>
                        <a:rPr lang="zh-CN" altLang="en-US" sz="900" b="0" dirty="0">
                          <a:solidFill>
                            <a:srgbClr val="000000"/>
                          </a:solidFill>
                          <a:latin typeface="Arial" panose="02080604020202020204" pitchFamily="34" charset="0"/>
                          <a:ea typeface="微软雅黑" panose="020B0503020204020204" charset="-122"/>
                        </a:rPr>
                        <a:t>三化</a:t>
                      </a:r>
                      <a:r>
                        <a:rPr lang="en-US" altLang="zh-CN" sz="900" b="0" dirty="0">
                          <a:solidFill>
                            <a:srgbClr val="000000"/>
                          </a:solidFill>
                          <a:latin typeface="Arial" panose="02080604020202020204" pitchFamily="34" charset="0"/>
                          <a:ea typeface="微软雅黑" panose="020B0503020204020204" charset="-122"/>
                        </a:rPr>
                        <a:t>”</a:t>
                      </a:r>
                      <a:r>
                        <a:rPr lang="zh-CN" altLang="en-US" sz="900" b="0" dirty="0">
                          <a:solidFill>
                            <a:srgbClr val="000000"/>
                          </a:solidFill>
                          <a:latin typeface="Arial" panose="02080604020202020204" pitchFamily="34" charset="0"/>
                          <a:ea typeface="微软雅黑" panose="020B0503020204020204" charset="-122"/>
                        </a:rPr>
                        <a:t>方案、高价值应用、</a:t>
                      </a:r>
                      <a:r>
                        <a:rPr lang="en-US" altLang="zh-CN" sz="900" b="0" dirty="0">
                          <a:solidFill>
                            <a:srgbClr val="000000"/>
                          </a:solidFill>
                          <a:latin typeface="Arial" panose="02080604020202020204" pitchFamily="34" charset="0"/>
                          <a:ea typeface="微软雅黑" panose="020B0503020204020204" charset="-122"/>
                        </a:rPr>
                        <a:t>9one</a:t>
                      </a:r>
                      <a:r>
                        <a:rPr lang="zh-CN" altLang="en-US" sz="900" b="0" dirty="0">
                          <a:solidFill>
                            <a:srgbClr val="000000"/>
                          </a:solidFill>
                          <a:latin typeface="Arial" panose="02080604020202020204" pitchFamily="34" charset="0"/>
                          <a:ea typeface="微软雅黑" panose="020B0503020204020204" charset="-122"/>
                        </a:rPr>
                        <a:t>平台、原子能力、安全能力等。</a:t>
                      </a:r>
                      <a:r>
                        <a:rPr lang="en-US" altLang="zh-CN" sz="900" b="0" dirty="0">
                          <a:solidFill>
                            <a:srgbClr val="000000"/>
                          </a:solidFill>
                          <a:latin typeface="Arial" panose="02080604020202020204" pitchFamily="34" charset="0"/>
                          <a:ea typeface="微软雅黑" panose="020B0503020204020204" charset="-122"/>
                        </a:rPr>
                        <a:t> </a:t>
                      </a:r>
                      <a:endParaRPr lang="en-US" altLang="zh-CN" sz="900" b="0" dirty="0">
                        <a:solidFill>
                          <a:srgbClr val="000000"/>
                        </a:solidFill>
                        <a:latin typeface="Arial" panose="02080604020202020204" pitchFamily="34" charset="0"/>
                        <a:ea typeface="微软雅黑" panose="020B0503020204020204" charset="-122"/>
                      </a:endParaRPr>
                    </a:p>
                    <a:p>
                      <a:pPr marL="171450" indent="-171450">
                        <a:buFont typeface="Wingdings" panose="05000000000000000000" charset="0"/>
                        <a:buChar char="n"/>
                      </a:pPr>
                      <a:r>
                        <a:rPr lang="zh-CN" altLang="en-US" sz="900" b="0" dirty="0">
                          <a:solidFill>
                            <a:srgbClr val="000000"/>
                          </a:solidFill>
                          <a:latin typeface="Arial" panose="02080604020202020204" pitchFamily="34" charset="0"/>
                          <a:ea typeface="微软雅黑" panose="020B0503020204020204" charset="-122"/>
                        </a:rPr>
                        <a:t>自主开发：为客户提供硬件、软件和平台开发</a:t>
                      </a:r>
                      <a:endParaRPr lang="zh-CN" altLang="en-US" sz="900" b="0" dirty="0">
                        <a:solidFill>
                          <a:srgbClr val="000000"/>
                        </a:solidFill>
                        <a:latin typeface="Arial" panose="02080604020202020204" pitchFamily="34" charset="0"/>
                        <a:ea typeface="微软雅黑" panose="020B0503020204020204" charset="-122"/>
                      </a:endParaRPr>
                    </a:p>
                    <a:p>
                      <a:pPr marL="171450" indent="-171450">
                        <a:buFont typeface="Wingdings" panose="05000000000000000000" charset="0"/>
                        <a:buChar char="n"/>
                      </a:pPr>
                      <a:r>
                        <a:rPr lang="zh-CN" altLang="en-US" sz="900" b="0" dirty="0">
                          <a:solidFill>
                            <a:srgbClr val="000000"/>
                          </a:solidFill>
                          <a:latin typeface="Arial" panose="02080604020202020204" pitchFamily="34" charset="0"/>
                          <a:ea typeface="微软雅黑" panose="020B0503020204020204" charset="-122"/>
                        </a:rPr>
                        <a:t>自主集成：为客户提供软件集成和硬件集成</a:t>
                      </a:r>
                      <a:endParaRPr lang="zh-CN" altLang="en-US" sz="900" b="0" dirty="0">
                        <a:solidFill>
                          <a:srgbClr val="000000"/>
                        </a:solidFill>
                        <a:latin typeface="Arial" panose="02080604020202020204" pitchFamily="34" charset="0"/>
                        <a:ea typeface="微软雅黑" panose="020B0503020204020204" charset="-122"/>
                      </a:endParaRPr>
                    </a:p>
                    <a:p>
                      <a:pPr marL="171450" indent="-171450">
                        <a:buFont typeface="Wingdings" panose="05000000000000000000" charset="0"/>
                        <a:buChar char="n"/>
                      </a:pPr>
                      <a:r>
                        <a:rPr lang="zh-CN" altLang="en-US" sz="900" b="0" dirty="0">
                          <a:solidFill>
                            <a:srgbClr val="000000"/>
                          </a:solidFill>
                          <a:latin typeface="Arial" panose="02080604020202020204" pitchFamily="34" charset="0"/>
                          <a:ea typeface="微软雅黑" panose="020B0503020204020204" charset="-122"/>
                        </a:rPr>
                        <a:t>自主服务：为客户提供基于移动体系内自有能力的：设备、业务系统运维服务，等保测评、咨询、外部认证等服务。</a:t>
                      </a:r>
                      <a:endParaRPr lang="zh-CN" altLang="en-US" sz="900" b="0" dirty="0">
                        <a:solidFill>
                          <a:srgbClr val="000000"/>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c>
                  <a:txBody>
                    <a:bodyPr/>
                    <a:lstStyle/>
                    <a:p>
                      <a:pPr indent="0" algn="ctr">
                        <a:buNone/>
                      </a:pPr>
                      <a:endParaRPr lang="en-US" altLang="en-US" sz="900" b="0" dirty="0">
                        <a:solidFill>
                          <a:schemeClr val="tx1"/>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r>
              <a:tr h="4699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900" b="0">
                          <a:solidFill>
                            <a:srgbClr val="000000"/>
                          </a:solidFill>
                          <a:latin typeface="Arial" panose="02080604020202020204" pitchFamily="34" charset="0"/>
                          <a:ea typeface="微软雅黑" panose="020B0503020204020204" charset="-122"/>
                        </a:rPr>
                        <a:t>是否自主管理</a:t>
                      </a:r>
                      <a:endParaRPr lang="zh-CN" altLang="en-US" sz="900" b="0">
                        <a:solidFill>
                          <a:srgbClr val="000000"/>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AEFF7"/>
                    </a:solidFill>
                  </a:tcPr>
                </a:tc>
                <a:tc>
                  <a:txBody>
                    <a:bodyPr/>
                    <a:lstStyle/>
                    <a:p>
                      <a:pPr indent="0">
                        <a:buNone/>
                      </a:pPr>
                      <a:r>
                        <a:rPr lang="zh-CN" altLang="en-US" sz="900" b="0" dirty="0">
                          <a:solidFill>
                            <a:srgbClr val="000000"/>
                          </a:solidFill>
                          <a:latin typeface="Arial" panose="02080604020202020204" pitchFamily="34" charset="0"/>
                          <a:ea typeface="微软雅黑" panose="020B0503020204020204" charset="-122"/>
                        </a:rPr>
                        <a:t>由自有项目经理主导项目端到端管理，牵头全流程交付实施过程，如需求管理、进度管理、质量管理等。</a:t>
                      </a:r>
                      <a:endParaRPr lang="zh-CN" altLang="en-US" sz="900" b="0" dirty="0">
                        <a:solidFill>
                          <a:srgbClr val="000000"/>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AEFF7"/>
                    </a:solidFill>
                  </a:tcPr>
                </a:tc>
                <a:tc>
                  <a:txBody>
                    <a:bodyPr/>
                    <a:lstStyle/>
                    <a:p>
                      <a:pPr indent="0" algn="ctr">
                        <a:buNone/>
                      </a:pPr>
                      <a:endParaRPr lang="en-US" altLang="en-US" sz="900" b="0" dirty="0">
                        <a:solidFill>
                          <a:schemeClr val="tx1"/>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AEFF7"/>
                    </a:solidFill>
                  </a:tcPr>
                </a:tc>
              </a:tr>
              <a:tr h="60706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indent="0" algn="ctr">
                        <a:buNone/>
                      </a:pPr>
                      <a:r>
                        <a:rPr lang="zh-CN" altLang="en-US" sz="900" b="0">
                          <a:solidFill>
                            <a:srgbClr val="000000"/>
                          </a:solidFill>
                          <a:latin typeface="Arial" panose="02080604020202020204" pitchFamily="34" charset="0"/>
                          <a:ea typeface="微软雅黑" panose="020B0503020204020204" charset="-122"/>
                        </a:rPr>
                        <a:t>非自主项目</a:t>
                      </a:r>
                      <a:endParaRPr lang="zh-CN" altLang="en-US" sz="900" b="0">
                        <a:solidFill>
                          <a:srgbClr val="000000"/>
                        </a:solidFill>
                        <a:latin typeface="Arial" panose="02080604020202020204" pitchFamily="34" charset="0"/>
                        <a:ea typeface="微软雅黑" panose="020B0503020204020204" charset="-122"/>
                      </a:endParaRPr>
                    </a:p>
                    <a:p>
                      <a:pPr indent="0" algn="ctr">
                        <a:buNone/>
                      </a:pPr>
                      <a:r>
                        <a:rPr lang="zh-CN" altLang="en-US" sz="900" b="0">
                          <a:solidFill>
                            <a:srgbClr val="000000"/>
                          </a:solidFill>
                          <a:latin typeface="Arial" panose="02080604020202020204" pitchFamily="34" charset="0"/>
                          <a:ea typeface="微软雅黑" panose="020B0503020204020204" charset="-122"/>
                        </a:rPr>
                        <a:t>（与以上类型互斥）</a:t>
                      </a:r>
                      <a:endParaRPr lang="zh-CN" altLang="en-US" sz="900" b="0">
                        <a:solidFill>
                          <a:srgbClr val="000000"/>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c>
                  <a:txBody>
                    <a:bodyPr/>
                    <a:lstStyle/>
                    <a:p>
                      <a:pPr indent="0">
                        <a:buNone/>
                      </a:pPr>
                      <a:r>
                        <a:rPr lang="zh-CN" altLang="en-US" sz="900" b="0" dirty="0">
                          <a:solidFill>
                            <a:srgbClr val="000000"/>
                          </a:solidFill>
                          <a:latin typeface="Arial" panose="02080604020202020204" pitchFamily="34" charset="0"/>
                          <a:ea typeface="微软雅黑" panose="020B0503020204020204" charset="-122"/>
                        </a:rPr>
                        <a:t>仅牵头对项目投标签约、开工启动、验收交维等关键环节开展项目管理，其他全流程交付实施过程由第三方产品厂商或集成商完成与客户对接交付的项目。</a:t>
                      </a:r>
                      <a:r>
                        <a:rPr lang="en-US" altLang="zh-CN" sz="900" b="0" dirty="0">
                          <a:solidFill>
                            <a:srgbClr val="000000"/>
                          </a:solidFill>
                          <a:latin typeface="Arial" panose="02080604020202020204" pitchFamily="34" charset="0"/>
                          <a:ea typeface="微软雅黑" panose="020B0503020204020204" charset="-122"/>
                        </a:rPr>
                        <a:t> </a:t>
                      </a:r>
                      <a:endParaRPr lang="en-US" altLang="zh-CN" sz="900" b="0" dirty="0">
                        <a:solidFill>
                          <a:srgbClr val="000000"/>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c>
                  <a:txBody>
                    <a:bodyPr/>
                    <a:lstStyle/>
                    <a:p>
                      <a:pPr indent="0" algn="ctr">
                        <a:buNone/>
                      </a:pPr>
                      <a:endParaRPr lang="en-US" altLang="en-US" sz="900" b="0" dirty="0">
                        <a:solidFill>
                          <a:schemeClr val="tx1"/>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r>
            </a:tbl>
          </a:graphicData>
        </a:graphic>
      </p:graphicFrame>
      <p:graphicFrame>
        <p:nvGraphicFramePr>
          <p:cNvPr id="54" name="表格 53"/>
          <p:cNvGraphicFramePr/>
          <p:nvPr>
            <p:custDataLst>
              <p:tags r:id="rId3"/>
            </p:custDataLst>
          </p:nvPr>
        </p:nvGraphicFramePr>
        <p:xfrm>
          <a:off x="6360160" y="977900"/>
          <a:ext cx="5588635" cy="5761355"/>
        </p:xfrm>
        <a:graphic>
          <a:graphicData uri="http://schemas.openxmlformats.org/drawingml/2006/table">
            <a:tbl>
              <a:tblPr firstRow="1" bandRow="1">
                <a:tableStyleId>{5C22544A-7EE6-4342-B048-85BDC9FD1C3A}</a:tableStyleId>
              </a:tblPr>
              <a:tblGrid>
                <a:gridCol w="429260"/>
                <a:gridCol w="1311275"/>
                <a:gridCol w="1021715"/>
                <a:gridCol w="1058545"/>
                <a:gridCol w="883920"/>
                <a:gridCol w="883920"/>
              </a:tblGrid>
              <a:tr h="200660">
                <a:tc rowSpan="3">
                  <a:txBody>
                    <a:bodyPr/>
                    <a:p>
                      <a:pPr indent="0" algn="ctr">
                        <a:buNone/>
                      </a:pPr>
                      <a:r>
                        <a:rPr lang="zh-CN" sz="1600" b="1">
                          <a:solidFill>
                            <a:srgbClr val="000000"/>
                          </a:solidFill>
                          <a:latin typeface="Arial" panose="02080604020202020204" pitchFamily="34" charset="0"/>
                          <a:ea typeface="微软雅黑" panose="020B0503020204020204" charset="-122"/>
                        </a:rPr>
                        <a:t>三</a:t>
                      </a:r>
                      <a:endParaRPr lang="zh-CN" sz="1600" b="1">
                        <a:solidFill>
                          <a:srgbClr val="000000"/>
                        </a:solidFill>
                        <a:latin typeface="Arial" panose="02080604020202020204" pitchFamily="34" charset="0"/>
                        <a:ea typeface="微软雅黑" panose="020B0503020204020204" charset="-122"/>
                      </a:endParaRPr>
                    </a:p>
                    <a:p>
                      <a:pPr indent="0" algn="ctr">
                        <a:buNone/>
                      </a:pPr>
                      <a:r>
                        <a:rPr lang="zh-CN" sz="1600" b="1">
                          <a:solidFill>
                            <a:srgbClr val="000000"/>
                          </a:solidFill>
                          <a:latin typeface="Arial" panose="02080604020202020204" pitchFamily="34" charset="0"/>
                          <a:ea typeface="微软雅黑" panose="020B0503020204020204" charset="-122"/>
                        </a:rPr>
                        <a:t>化</a:t>
                      </a:r>
                      <a:endParaRPr lang="zh-CN" sz="1600" b="1">
                        <a:solidFill>
                          <a:srgbClr val="000000"/>
                        </a:solidFill>
                        <a:latin typeface="Arial" panose="02080604020202020204" pitchFamily="34" charset="0"/>
                        <a:ea typeface="微软雅黑" panose="020B0503020204020204" charset="-122"/>
                      </a:endParaRPr>
                    </a:p>
                    <a:p>
                      <a:pPr indent="0" algn="ctr">
                        <a:buNone/>
                      </a:pPr>
                      <a:r>
                        <a:rPr lang="zh-CN" sz="1600" b="1">
                          <a:solidFill>
                            <a:srgbClr val="000000"/>
                          </a:solidFill>
                          <a:latin typeface="Arial" panose="02080604020202020204" pitchFamily="34" charset="0"/>
                          <a:ea typeface="微软雅黑" panose="020B0503020204020204" charset="-122"/>
                        </a:rPr>
                        <a:t>应</a:t>
                      </a:r>
                      <a:endParaRPr lang="zh-CN" sz="1600" b="1">
                        <a:solidFill>
                          <a:srgbClr val="000000"/>
                        </a:solidFill>
                        <a:latin typeface="Arial" panose="02080604020202020204" pitchFamily="34" charset="0"/>
                        <a:ea typeface="微软雅黑" panose="020B0503020204020204" charset="-122"/>
                      </a:endParaRPr>
                    </a:p>
                    <a:p>
                      <a:pPr indent="0" algn="ctr">
                        <a:buNone/>
                      </a:pPr>
                      <a:r>
                        <a:rPr lang="zh-CN" sz="1600" b="1">
                          <a:solidFill>
                            <a:srgbClr val="000000"/>
                          </a:solidFill>
                          <a:latin typeface="Arial" panose="02080604020202020204" pitchFamily="34" charset="0"/>
                          <a:ea typeface="微软雅黑" panose="020B0503020204020204" charset="-122"/>
                        </a:rPr>
                        <a:t>用</a:t>
                      </a:r>
                      <a:endParaRPr lang="zh-CN" altLang="en-US" sz="1600" b="1">
                        <a:solidFill>
                          <a:srgbClr val="000000"/>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CD5B4"/>
                    </a:solidFill>
                  </a:tcPr>
                </a:tc>
                <a:tc rowSpan="2">
                  <a:txBody>
                    <a:bodyPr/>
                    <a:p>
                      <a:pPr indent="0">
                        <a:buNone/>
                      </a:pPr>
                      <a:r>
                        <a:rPr lang="zh-CN" sz="1000" b="1" dirty="0">
                          <a:solidFill>
                            <a:srgbClr val="FFFFFF"/>
                          </a:solidFill>
                          <a:latin typeface="Arial" panose="02080604020202020204" pitchFamily="34" charset="0"/>
                          <a:ea typeface="微软雅黑" panose="020B0503020204020204" charset="-122"/>
                        </a:rPr>
                        <a:t>一、融入三化原因</a:t>
                      </a:r>
                      <a:r>
                        <a:rPr lang="en-US" sz="800" b="1" dirty="0">
                          <a:solidFill>
                            <a:srgbClr val="FFFFFF"/>
                          </a:solidFill>
                          <a:latin typeface="微软雅黑" panose="020B0503020204020204" charset="-122"/>
                        </a:rPr>
                        <a:t>（</a:t>
                      </a:r>
                      <a:r>
                        <a:rPr lang="en-US" sz="800" b="1" dirty="0" err="1">
                          <a:solidFill>
                            <a:srgbClr val="FFFFFF"/>
                          </a:solidFill>
                          <a:latin typeface="微软雅黑" panose="020B0503020204020204" charset="-122"/>
                        </a:rPr>
                        <a:t>融入三化方案，有利于项目效率和效益的双提升，在说明原因时，可从这两方面提供数据说明</a:t>
                      </a:r>
                      <a:r>
                        <a:rPr lang="en-US" sz="800" b="1" dirty="0">
                          <a:solidFill>
                            <a:srgbClr val="FFFFFF"/>
                          </a:solidFill>
                          <a:latin typeface="微软雅黑" panose="020B0503020204020204" charset="-122"/>
                        </a:rPr>
                        <a:t>）</a:t>
                      </a:r>
                      <a:endParaRPr lang="en-US" altLang="en-US" sz="800" b="1" dirty="0">
                        <a:solidFill>
                          <a:srgbClr val="FFFFFF"/>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5B9BD5"/>
                    </a:solidFill>
                  </a:tcPr>
                </a:tc>
                <a:tc>
                  <a:txBody>
                    <a:bodyPr/>
                    <a:p>
                      <a:pPr indent="0" algn="ctr">
                        <a:buNone/>
                      </a:pPr>
                      <a:r>
                        <a:rPr lang="zh-CN" sz="900" b="1">
                          <a:solidFill>
                            <a:srgbClr val="FFFFFF"/>
                          </a:solidFill>
                          <a:latin typeface="Arial" panose="02080604020202020204" pitchFamily="34" charset="0"/>
                          <a:ea typeface="微软雅黑" panose="020B0503020204020204" charset="-122"/>
                        </a:rPr>
                        <a:t>三化方案名称</a:t>
                      </a:r>
                      <a:endParaRPr lang="zh-CN" altLang="en-US" sz="900" b="1">
                        <a:solidFill>
                          <a:srgbClr val="FFFFFF"/>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5B9BD5"/>
                    </a:solidFill>
                  </a:tcPr>
                </a:tc>
                <a:tc>
                  <a:txBody>
                    <a:bodyPr/>
                    <a:p>
                      <a:pPr indent="0" algn="ctr">
                        <a:buNone/>
                      </a:pPr>
                      <a:r>
                        <a:rPr lang="zh-CN" sz="900" b="1" dirty="0">
                          <a:solidFill>
                            <a:srgbClr val="FFFFFF"/>
                          </a:solidFill>
                          <a:latin typeface="Arial" panose="02080604020202020204" pitchFamily="34" charset="0"/>
                          <a:ea typeface="微软雅黑" panose="020B0503020204020204" charset="-122"/>
                        </a:rPr>
                        <a:t>三化揭榜省</a:t>
                      </a:r>
                      <a:endParaRPr lang="zh-CN" altLang="en-US" sz="900" b="1" dirty="0">
                        <a:solidFill>
                          <a:srgbClr val="FFFFFF"/>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5B9BD5"/>
                    </a:solidFill>
                  </a:tcPr>
                </a:tc>
                <a:tc gridSpan="2">
                  <a:txBody>
                    <a:bodyPr/>
                    <a:p>
                      <a:pPr indent="0" algn="ctr">
                        <a:buNone/>
                      </a:pPr>
                      <a:r>
                        <a:rPr lang="zh-CN" sz="900" b="1" dirty="0">
                          <a:solidFill>
                            <a:srgbClr val="FFFFFF"/>
                          </a:solidFill>
                          <a:latin typeface="Arial" panose="02080604020202020204" pitchFamily="34" charset="0"/>
                          <a:ea typeface="微软雅黑" panose="020B0503020204020204" charset="-122"/>
                        </a:rPr>
                        <a:t>实现的功能</a:t>
                      </a:r>
                      <a:endParaRPr lang="zh-CN" altLang="en-US" sz="900" b="1" dirty="0">
                        <a:solidFill>
                          <a:srgbClr val="FFFFFF"/>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5B9BD5"/>
                    </a:solidFill>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51689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indent="0" algn="ctr">
                        <a:buNone/>
                      </a:pPr>
                      <a:endParaRPr lang="en-US" altLang="en-US" sz="900" b="0" dirty="0">
                        <a:solidFill>
                          <a:schemeClr val="tx1"/>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c>
                  <a: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en-US" sz="900" b="0" i="0" u="none" strike="noStrike" kern="1200" cap="none" spc="0" normalizeH="0" baseline="0" noProof="0" dirty="0">
                        <a:ln>
                          <a:noFill/>
                        </a:ln>
                        <a:solidFill>
                          <a:schemeClr val="tx1"/>
                        </a:solidFill>
                        <a:effectLst/>
                        <a:uLnTx/>
                        <a:uFillTx/>
                        <a:latin typeface="微软雅黑" panose="020B0503020204020204" charset="-122"/>
                        <a:ea typeface="+mn-ea"/>
                        <a:cs typeface="+mn-cs"/>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c gridSpan="2">
                  <a: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en-US" sz="900" b="0" i="0" u="none" strike="noStrike" kern="1200" cap="none" spc="0" normalizeH="0" baseline="0" noProof="0" dirty="0">
                        <a:ln>
                          <a:noFill/>
                        </a:ln>
                        <a:solidFill>
                          <a:schemeClr val="tx1"/>
                        </a:solidFill>
                        <a:effectLst/>
                        <a:uLnTx/>
                        <a:uFillTx/>
                        <a:latin typeface="微软雅黑" panose="020B0503020204020204" charset="-122"/>
                        <a:ea typeface="+mn-ea"/>
                        <a:cs typeface="+mn-cs"/>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521970">
                <a:tc vMerge="1">
                  <a:tcP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solidFill>
                        <a:srgbClr val="000000"/>
                      </a:solidFill>
                      <a:prstDash val="solid"/>
                      <a:headEnd type="none" w="med" len="med"/>
                      <a:tailEnd type="none" w="med" len="med"/>
                    </a:lnB>
                  </a:tcPr>
                </a:tc>
                <a:tc>
                  <a:txBody>
                    <a:bodyPr/>
                    <a:p>
                      <a:pPr indent="0">
                        <a:buNone/>
                      </a:pPr>
                      <a:r>
                        <a:rPr lang="zh-CN" sz="1000" b="1" dirty="0">
                          <a:solidFill>
                            <a:srgbClr val="FFFFFF"/>
                          </a:solidFill>
                          <a:latin typeface="Arial" panose="02080604020202020204" pitchFamily="34" charset="0"/>
                          <a:ea typeface="微软雅黑" panose="020B0503020204020204" charset="-122"/>
                        </a:rPr>
                        <a:t>二、未融三化说明原因</a:t>
                      </a:r>
                      <a:endParaRPr lang="zh-CN" altLang="en-US" sz="1000" b="1" dirty="0">
                        <a:solidFill>
                          <a:srgbClr val="FFFFFF"/>
                        </a:solidFill>
                        <a:latin typeface="Arial" panose="02080604020202020204" pitchFamily="34" charset="0"/>
                        <a:ea typeface="微软雅黑" panose="020B0503020204020204" charset="-122"/>
                      </a:endParaRPr>
                    </a:p>
                  </a:txBody>
                  <a:tcPr marL="12700" marR="12700" marT="127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5B9BD5"/>
                    </a:solidFill>
                  </a:tcPr>
                </a:tc>
                <a:tc gridSpan="4">
                  <a:txBody>
                    <a:bodyPr/>
                    <a:p>
                      <a:pPr indent="0">
                        <a:buNone/>
                      </a:pPr>
                      <a:endParaRPr lang="zh-CN" altLang="zh-CN" sz="900" b="0" dirty="0">
                        <a:solidFill>
                          <a:srgbClr val="FF0000"/>
                        </a:solidFill>
                        <a:latin typeface="Arial" panose="02080604020202020204" pitchFamily="34" charset="0"/>
                        <a:ea typeface="微软雅黑" panose="020B0503020204020204" charset="-122"/>
                      </a:endParaRPr>
                    </a:p>
                  </a:txBody>
                  <a:tcPr marL="12700" marR="12700" marT="12700" anchor="ctr">
                    <a:lnL w="6350" cap="flat" cmpd="sng" algn="ctr">
                      <a:solidFill>
                        <a:srgbClr val="000000"/>
                      </a:solidFill>
                      <a:prstDash val="solid"/>
                      <a:round/>
                      <a:headEnd type="none" w="med" len="med"/>
                      <a:tailEnd type="none" w="med" len="med"/>
                    </a:lnL>
                    <a:lnR w="6350" cap="flat" cmpd="sng">
                      <a:solidFill>
                        <a:srgbClr val="000000"/>
                      </a:solidFill>
                      <a:prstDash val="solid"/>
                      <a:headEnd type="none" w="med" len="med"/>
                      <a:tailEnd type="none" w="med" len="med"/>
                    </a:lnR>
                    <a:lnT w="6350" cap="flat" cmpd="sng" algn="ctr">
                      <a:solidFill>
                        <a:srgbClr val="000000"/>
                      </a:solidFill>
                      <a:prstDash val="solid"/>
                      <a:roun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216535">
                <a:tc rowSpan="5">
                  <a:txBody>
                    <a:bodyPr/>
                    <a:p>
                      <a:pPr indent="0" algn="ctr">
                        <a:buNone/>
                      </a:pPr>
                      <a:r>
                        <a:rPr lang="zh-CN" altLang="en-US" sz="1600" b="1">
                          <a:solidFill>
                            <a:srgbClr val="000000"/>
                          </a:solidFill>
                          <a:latin typeface="Arial" panose="02080604020202020204" pitchFamily="34" charset="0"/>
                          <a:ea typeface="微软雅黑" panose="020B0503020204020204" charset="-122"/>
                        </a:rPr>
                        <a:t>融</a:t>
                      </a:r>
                      <a:endParaRPr lang="zh-CN" altLang="en-US" sz="1600" b="1">
                        <a:solidFill>
                          <a:srgbClr val="000000"/>
                        </a:solidFill>
                        <a:latin typeface="Arial" panose="02080604020202020204" pitchFamily="34" charset="0"/>
                        <a:ea typeface="微软雅黑" panose="020B0503020204020204" charset="-122"/>
                      </a:endParaRPr>
                    </a:p>
                    <a:p>
                      <a:pPr indent="0" algn="ctr">
                        <a:buNone/>
                      </a:pPr>
                      <a:r>
                        <a:rPr lang="zh-CN" altLang="en-US" sz="1600" b="1">
                          <a:solidFill>
                            <a:srgbClr val="000000"/>
                          </a:solidFill>
                          <a:latin typeface="Arial" panose="02080604020202020204" pitchFamily="34" charset="0"/>
                          <a:ea typeface="微软雅黑" panose="020B0503020204020204" charset="-122"/>
                        </a:rPr>
                        <a:t>云</a:t>
                      </a:r>
                      <a:endParaRPr lang="zh-CN" altLang="en-US" sz="1600" b="1">
                        <a:solidFill>
                          <a:srgbClr val="000000"/>
                        </a:solidFill>
                        <a:latin typeface="Arial" panose="02080604020202020204" pitchFamily="34" charset="0"/>
                        <a:ea typeface="微软雅黑" panose="020B0503020204020204" charset="-122"/>
                      </a:endParaRPr>
                    </a:p>
                    <a:p>
                      <a:pPr indent="0" algn="ctr">
                        <a:buNone/>
                      </a:pPr>
                      <a:r>
                        <a:rPr lang="zh-CN" altLang="en-US" sz="1600" b="1">
                          <a:solidFill>
                            <a:srgbClr val="000000"/>
                          </a:solidFill>
                          <a:latin typeface="Arial" panose="02080604020202020204" pitchFamily="34" charset="0"/>
                          <a:ea typeface="微软雅黑" panose="020B0503020204020204" charset="-122"/>
                        </a:rPr>
                        <a:t>情</a:t>
                      </a:r>
                      <a:endParaRPr lang="zh-CN" altLang="en-US" sz="1600" b="1">
                        <a:solidFill>
                          <a:srgbClr val="000000"/>
                        </a:solidFill>
                        <a:latin typeface="Arial" panose="02080604020202020204" pitchFamily="34" charset="0"/>
                        <a:ea typeface="微软雅黑" panose="020B0503020204020204" charset="-122"/>
                      </a:endParaRPr>
                    </a:p>
                    <a:p>
                      <a:pPr indent="0" algn="ctr">
                        <a:buNone/>
                      </a:pPr>
                      <a:r>
                        <a:rPr lang="zh-CN" altLang="en-US" sz="1600" b="1">
                          <a:solidFill>
                            <a:srgbClr val="000000"/>
                          </a:solidFill>
                          <a:latin typeface="Arial" panose="02080604020202020204" pitchFamily="34" charset="0"/>
                          <a:ea typeface="微软雅黑" panose="020B0503020204020204" charset="-122"/>
                        </a:rPr>
                        <a:t>况</a:t>
                      </a:r>
                      <a:endParaRPr lang="zh-CN" altLang="en-US" sz="1600" b="1">
                        <a:solidFill>
                          <a:srgbClr val="000000"/>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CD5B4"/>
                    </a:solidFill>
                  </a:tcPr>
                </a:tc>
                <a:tc gridSpan="5">
                  <a:txBody>
                    <a:bodyPr/>
                    <a:p>
                      <a:pPr indent="0">
                        <a:buNone/>
                      </a:pPr>
                      <a:r>
                        <a:rPr lang="zh-CN" sz="1000" b="1" dirty="0">
                          <a:solidFill>
                            <a:srgbClr val="FFFFFF"/>
                          </a:solidFill>
                          <a:latin typeface="Arial" panose="02080604020202020204" pitchFamily="34" charset="0"/>
                          <a:ea typeface="微软雅黑" panose="020B0503020204020204" charset="-122"/>
                        </a:rPr>
                        <a:t>一、现状：</a:t>
                      </a:r>
                      <a:endParaRPr lang="zh-CN" altLang="en-US" sz="1000" b="1" dirty="0">
                        <a:solidFill>
                          <a:srgbClr val="FFFFFF"/>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5B9BD5"/>
                    </a:solid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9690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gridSpan="5">
                  <a:txBody>
                    <a:bodyPr/>
                    <a:p>
                      <a:pPr>
                        <a:lnSpc>
                          <a:spcPct val="100000"/>
                        </a:lnSpc>
                        <a:spcAft>
                          <a:spcPts val="600"/>
                        </a:spcAft>
                        <a:buClr>
                          <a:srgbClr val="FF0000"/>
                        </a:buClr>
                        <a:defRPr/>
                      </a:pPr>
                      <a:endParaRPr lang="zh-CN" altLang="en-US" sz="900" kern="1000" dirty="0">
                        <a:latin typeface="微软雅黑" panose="020B0503020204020204" charset="-122"/>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AEFF7"/>
                    </a:solid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21653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gridSpan="5">
                  <a:txBody>
                    <a:bodyPr/>
                    <a:p>
                      <a:pPr indent="0">
                        <a:buNone/>
                      </a:pPr>
                      <a:r>
                        <a:rPr lang="zh-CN" sz="1000" b="1" dirty="0">
                          <a:solidFill>
                            <a:srgbClr val="FFFFFF"/>
                          </a:solidFill>
                          <a:latin typeface="Arial" panose="02080604020202020204" pitchFamily="34" charset="0"/>
                          <a:ea typeface="微软雅黑" panose="020B0503020204020204" charset="-122"/>
                        </a:rPr>
                        <a:t>二、计划</a:t>
                      </a:r>
                      <a:r>
                        <a:rPr lang="en-US" sz="800" b="1" dirty="0">
                          <a:solidFill>
                            <a:srgbClr val="FFFFFF"/>
                          </a:solidFill>
                          <a:latin typeface="微软雅黑" panose="020B0503020204020204" charset="-122"/>
                        </a:rPr>
                        <a:t>（</a:t>
                      </a:r>
                      <a:r>
                        <a:rPr lang="en-US" sz="800" b="1" dirty="0" err="1">
                          <a:solidFill>
                            <a:srgbClr val="FFFFFF"/>
                          </a:solidFill>
                          <a:latin typeface="微软雅黑" panose="020B0503020204020204" charset="-122"/>
                        </a:rPr>
                        <a:t>简述后续融云计划，需明确具体时间节点</a:t>
                      </a:r>
                      <a:r>
                        <a:rPr lang="en-US" sz="800" b="1" dirty="0">
                          <a:solidFill>
                            <a:srgbClr val="FFFFFF"/>
                          </a:solidFill>
                          <a:latin typeface="微软雅黑" panose="020B0503020204020204" charset="-122"/>
                        </a:rPr>
                        <a:t>）</a:t>
                      </a:r>
                      <a:endParaRPr lang="en-US" altLang="en-US" sz="800" b="1" dirty="0">
                        <a:solidFill>
                          <a:srgbClr val="FFFFFF"/>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5B9BD5"/>
                    </a:solid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20066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indent="0" algn="ctr">
                        <a:buNone/>
                      </a:pPr>
                      <a:r>
                        <a:rPr lang="zh-CN" sz="900" b="1" dirty="0">
                          <a:solidFill>
                            <a:srgbClr val="FFFFFF"/>
                          </a:solidFill>
                          <a:latin typeface="Arial" panose="02080604020202020204" pitchFamily="34" charset="0"/>
                          <a:ea typeface="微软雅黑" panose="020B0503020204020204" charset="-122"/>
                        </a:rPr>
                        <a:t>节点名称</a:t>
                      </a:r>
                      <a:endParaRPr lang="zh-CN" altLang="en-US" sz="900" b="1" dirty="0">
                        <a:solidFill>
                          <a:srgbClr val="FFFFFF"/>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5B9BD5"/>
                    </a:solidFill>
                  </a:tcPr>
                </a:tc>
                <a:tc>
                  <a:txBody>
                    <a:bodyPr/>
                    <a:p>
                      <a:pPr indent="0" algn="ctr">
                        <a:buNone/>
                      </a:pPr>
                      <a:r>
                        <a:rPr lang="zh-CN" sz="900" b="1">
                          <a:solidFill>
                            <a:srgbClr val="FFFFFF"/>
                          </a:solidFill>
                          <a:latin typeface="Arial" panose="02080604020202020204" pitchFamily="34" charset="0"/>
                          <a:ea typeface="微软雅黑" panose="020B0503020204020204" charset="-122"/>
                        </a:rPr>
                        <a:t>需求沟通</a:t>
                      </a:r>
                      <a:endParaRPr lang="zh-CN" altLang="en-US" sz="900" b="1">
                        <a:solidFill>
                          <a:srgbClr val="FFFFFF"/>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5B9BD5"/>
                    </a:solidFill>
                  </a:tcPr>
                </a:tc>
                <a:tc>
                  <a:txBody>
                    <a:bodyPr/>
                    <a:p>
                      <a:pPr indent="0" algn="ctr">
                        <a:buNone/>
                      </a:pPr>
                      <a:r>
                        <a:rPr lang="zh-CN" sz="900" b="1">
                          <a:solidFill>
                            <a:srgbClr val="FFFFFF"/>
                          </a:solidFill>
                          <a:latin typeface="Arial" panose="02080604020202020204" pitchFamily="34" charset="0"/>
                          <a:ea typeface="微软雅黑" panose="020B0503020204020204" charset="-122"/>
                        </a:rPr>
                        <a:t>现场调研</a:t>
                      </a:r>
                      <a:endParaRPr lang="zh-CN" altLang="en-US" sz="900" b="1">
                        <a:solidFill>
                          <a:srgbClr val="FFFFFF"/>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5B9BD5"/>
                    </a:solidFill>
                  </a:tcPr>
                </a:tc>
                <a:tc>
                  <a:txBody>
                    <a:bodyPr/>
                    <a:p>
                      <a:pPr indent="0" algn="ctr">
                        <a:buNone/>
                      </a:pPr>
                      <a:r>
                        <a:rPr lang="zh-CN" sz="900" b="1">
                          <a:solidFill>
                            <a:srgbClr val="FFFFFF"/>
                          </a:solidFill>
                          <a:latin typeface="Arial" panose="02080604020202020204" pitchFamily="34" charset="0"/>
                          <a:ea typeface="微软雅黑" panose="020B0503020204020204" charset="-122"/>
                        </a:rPr>
                        <a:t>方案设计</a:t>
                      </a:r>
                      <a:endParaRPr lang="zh-CN" altLang="en-US" sz="900" b="1">
                        <a:solidFill>
                          <a:srgbClr val="FFFFFF"/>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5B9BD5"/>
                    </a:solidFill>
                  </a:tcPr>
                </a:tc>
                <a:tc>
                  <a:txBody>
                    <a:bodyPr/>
                    <a:p>
                      <a:pPr indent="0" algn="ctr">
                        <a:buNone/>
                      </a:pPr>
                      <a:r>
                        <a:rPr lang="zh-CN" sz="900" b="1">
                          <a:solidFill>
                            <a:srgbClr val="FFFFFF"/>
                          </a:solidFill>
                          <a:latin typeface="Arial" panose="02080604020202020204" pitchFamily="34" charset="0"/>
                          <a:ea typeface="微软雅黑" panose="020B0503020204020204" charset="-122"/>
                        </a:rPr>
                        <a:t>方案汇报</a:t>
                      </a:r>
                      <a:endParaRPr lang="zh-CN" altLang="en-US" sz="900" b="1">
                        <a:solidFill>
                          <a:srgbClr val="FFFFFF"/>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5B9BD5"/>
                    </a:solidFill>
                  </a:tcPr>
                </a:tc>
              </a:tr>
              <a:tr h="20129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indent="0" algn="ctr">
                        <a:buNone/>
                      </a:pPr>
                      <a:r>
                        <a:rPr lang="zh-CN" sz="900" b="0">
                          <a:solidFill>
                            <a:srgbClr val="000000"/>
                          </a:solidFill>
                          <a:latin typeface="Arial" panose="02080604020202020204" pitchFamily="34" charset="0"/>
                          <a:ea typeface="微软雅黑" panose="020B0503020204020204" charset="-122"/>
                        </a:rPr>
                        <a:t>节点时间</a:t>
                      </a:r>
                      <a:endParaRPr lang="zh-CN" altLang="en-US" sz="900" b="0">
                        <a:solidFill>
                          <a:srgbClr val="000000"/>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c>
                  <a:txBody>
                    <a:bodyPr/>
                    <a:p>
                      <a:pPr indent="0" algn="ctr">
                        <a:buNone/>
                      </a:pPr>
                      <a:endParaRPr lang="en-US" altLang="en-US" sz="900" b="0" dirty="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c>
                  <a:txBody>
                    <a:bodyPr/>
                    <a:p>
                      <a:pPr indent="0" algn="ctr">
                        <a:buNone/>
                      </a:pPr>
                      <a:endParaRPr lang="en-US" altLang="en-US" sz="900" b="0" dirty="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c>
                  <a: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en-US" sz="900" b="0" i="0" u="none" strike="noStrike" kern="1200" cap="none" spc="0" normalizeH="0" baseline="0" noProof="0" dirty="0">
                        <a:ln>
                          <a:noFill/>
                        </a:ln>
                        <a:solidFill>
                          <a:srgbClr val="000000"/>
                        </a:solidFill>
                        <a:effectLst/>
                        <a:uLnTx/>
                        <a:uFillTx/>
                        <a:latin typeface="微软雅黑" panose="020B0503020204020204" charset="-122"/>
                        <a:ea typeface="+mn-ea"/>
                        <a:cs typeface="+mn-cs"/>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c>
                  <a: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en-US" sz="900" b="0" i="0" u="none" strike="noStrike" kern="1200" cap="none" spc="0" normalizeH="0" baseline="0" noProof="0" dirty="0">
                        <a:ln>
                          <a:noFill/>
                        </a:ln>
                        <a:solidFill>
                          <a:srgbClr val="000000"/>
                        </a:solidFill>
                        <a:effectLst/>
                        <a:uLnTx/>
                        <a:uFillTx/>
                        <a:latin typeface="微软雅黑" panose="020B0503020204020204" charset="-122"/>
                        <a:ea typeface="+mn-ea"/>
                        <a:cs typeface="+mn-cs"/>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r>
              <a:tr h="200660">
                <a:tc rowSpan="7">
                  <a:txBody>
                    <a:bodyPr/>
                    <a:p>
                      <a:pPr indent="0" algn="ctr">
                        <a:buNone/>
                      </a:pPr>
                      <a:r>
                        <a:rPr lang="en-US" altLang="zh-CN" sz="1600" b="1">
                          <a:solidFill>
                            <a:srgbClr val="000000"/>
                          </a:solidFill>
                          <a:latin typeface="Arial" panose="02080604020202020204" pitchFamily="34" charset="0"/>
                          <a:ea typeface="微软雅黑" panose="020B0503020204020204" charset="-122"/>
                        </a:rPr>
                        <a:t>AI</a:t>
                      </a:r>
                      <a:endParaRPr lang="en-US" altLang="zh-CN" sz="1600" b="1">
                        <a:solidFill>
                          <a:srgbClr val="000000"/>
                        </a:solidFill>
                        <a:latin typeface="Arial" panose="02080604020202020204" pitchFamily="34" charset="0"/>
                        <a:ea typeface="微软雅黑" panose="020B0503020204020204" charset="-122"/>
                      </a:endParaRPr>
                    </a:p>
                    <a:p>
                      <a:pPr indent="0" algn="ctr">
                        <a:buNone/>
                      </a:pPr>
                      <a:r>
                        <a:rPr lang="zh-CN" altLang="en-US" sz="1600" b="1">
                          <a:solidFill>
                            <a:srgbClr val="000000"/>
                          </a:solidFill>
                          <a:latin typeface="Arial" panose="02080604020202020204" pitchFamily="34" charset="0"/>
                          <a:ea typeface="微软雅黑" panose="020B0503020204020204" charset="-122"/>
                        </a:rPr>
                        <a:t>能力</a:t>
                      </a:r>
                      <a:endParaRPr lang="zh-CN" altLang="en-US" sz="1600" b="1">
                        <a:solidFill>
                          <a:srgbClr val="000000"/>
                        </a:solidFill>
                        <a:latin typeface="Arial" panose="02080604020202020204" pitchFamily="34" charset="0"/>
                        <a:ea typeface="微软雅黑" panose="020B0503020204020204" charset="-122"/>
                      </a:endParaRPr>
                    </a:p>
                  </a:txBody>
                  <a:tcPr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solidFill>
                      <a:srgbClr val="FCD5B4"/>
                    </a:solidFill>
                  </a:tcPr>
                </a:tc>
                <a:tc>
                  <a:txBody>
                    <a:bodyPr/>
                    <a:p>
                      <a:pPr indent="0" algn="ctr">
                        <a:buNone/>
                      </a:pPr>
                      <a:r>
                        <a:rPr lang="zh-CN" sz="900" b="1" dirty="0">
                          <a:solidFill>
                            <a:srgbClr val="FFFFFF"/>
                          </a:solidFill>
                          <a:latin typeface="Arial" panose="02080604020202020204" pitchFamily="34" charset="0"/>
                          <a:ea typeface="微软雅黑" panose="020B0503020204020204" charset="-122"/>
                        </a:rPr>
                        <a:t>“AI”要求</a:t>
                      </a:r>
                      <a:endParaRPr lang="zh-CN" sz="900" b="1" dirty="0">
                        <a:solidFill>
                          <a:srgbClr val="FFFFFF"/>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5B9BD5"/>
                    </a:solidFill>
                  </a:tcPr>
                </a:tc>
                <a:tc gridSpan="2">
                  <a:txBody>
                    <a:bodyPr/>
                    <a:p>
                      <a:pPr indent="0" algn="ctr">
                        <a:buNone/>
                      </a:pPr>
                      <a:r>
                        <a:rPr lang="zh-CN" sz="900" b="1" dirty="0">
                          <a:solidFill>
                            <a:srgbClr val="FFFFFF"/>
                          </a:solidFill>
                          <a:latin typeface="Arial" panose="02080604020202020204" pitchFamily="34" charset="0"/>
                          <a:ea typeface="微软雅黑" panose="020B0503020204020204" charset="-122"/>
                        </a:rPr>
                        <a:t>应答问题</a:t>
                      </a:r>
                      <a:endParaRPr lang="zh-CN" sz="900" b="1" dirty="0">
                        <a:solidFill>
                          <a:srgbClr val="FFFFFF"/>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5B9BD5"/>
                    </a:solidFill>
                  </a:tcPr>
                </a:tc>
                <a:tc hMerge="1">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5B9BD5"/>
                    </a:solidFill>
                  </a:tcPr>
                </a:tc>
                <a:tc gridSpan="2">
                  <a: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sz="900" b="1" i="0" u="none" strike="noStrike" kern="1200" cap="none" spc="0" normalizeH="0" baseline="0" dirty="0">
                          <a:solidFill>
                            <a:srgbClr val="FFFFFF"/>
                          </a:solidFill>
                          <a:latin typeface="Arial" panose="02080604020202020204" pitchFamily="34" charset="0"/>
                          <a:ea typeface="微软雅黑" panose="020B0503020204020204" charset="-122"/>
                          <a:cs typeface="+mn-cs"/>
                        </a:rPr>
                        <a:t>应答要点</a:t>
                      </a:r>
                      <a:endParaRPr kumimoji="0" lang="zh-CN" sz="900" b="1" i="0" u="none" strike="noStrike" kern="1200" cap="none" spc="0" normalizeH="0" baseline="0" dirty="0">
                        <a:solidFill>
                          <a:srgbClr val="FFFFFF"/>
                        </a:solidFill>
                        <a:latin typeface="Arial" panose="02080604020202020204" pitchFamily="34" charset="0"/>
                        <a:ea typeface="微软雅黑" panose="020B0503020204020204" charset="-122"/>
                        <a:cs typeface="+mn-cs"/>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5B9BD5"/>
                    </a:solidFill>
                  </a:tcPr>
                </a:tc>
                <a:tc hMerge="1">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5B9BD5"/>
                    </a:solidFill>
                  </a:tcPr>
                </a:tc>
              </a:tr>
              <a:tr h="4064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solidFill>
                      <a:srgbClr val="FCD5B4"/>
                    </a:solidFill>
                  </a:tcPr>
                </a:tc>
                <a:tc>
                  <a:txBody>
                    <a:bodyPr/>
                    <a:p>
                      <a:pPr algn="l">
                        <a:buClrTx/>
                        <a:buSzTx/>
                        <a:buFontTx/>
                      </a:pPr>
                      <a:r>
                        <a:rPr lang="zh-CN" sz="900" b="0" i="0" dirty="0">
                          <a:solidFill>
                            <a:srgbClr val="000000"/>
                          </a:solidFill>
                          <a:latin typeface="Arial" panose="02080604020202020204" pitchFamily="34" charset="0"/>
                          <a:ea typeface="微软雅黑" panose="020B0503020204020204" charset="-122"/>
                        </a:rPr>
                        <a:t>是否涉及AI情况</a:t>
                      </a:r>
                      <a:endParaRPr lang="zh-CN" sz="900" b="0" i="0" dirty="0">
                        <a:solidFill>
                          <a:srgbClr val="000000"/>
                        </a:solidFill>
                        <a:latin typeface="Arial" panose="02080604020202020204" pitchFamily="34" charset="0"/>
                        <a:ea typeface="微软雅黑" panose="020B050302020402020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c gridSpan="2">
                  <a:txBody>
                    <a:bodyPr/>
                    <a:p>
                      <a:pPr algn="ctr">
                        <a:buClrTx/>
                        <a:buSzTx/>
                        <a:buFontTx/>
                        <a:buNone/>
                      </a:pPr>
                      <a:r>
                        <a:rPr lang="zh-CN" sz="900" b="0" dirty="0">
                          <a:solidFill>
                            <a:srgbClr val="000000"/>
                          </a:solidFill>
                          <a:latin typeface="Arial" panose="02080604020202020204" pitchFamily="34" charset="0"/>
                          <a:ea typeface="微软雅黑" panose="020B0503020204020204" charset="-122"/>
                        </a:rPr>
                        <a:t>本项目是否涉及AI技术运用，若不涉及，需说明原因。</a:t>
                      </a:r>
                      <a:endParaRPr lang="zh-CN" sz="900" b="0" dirty="0">
                        <a:solidFill>
                          <a:srgbClr val="000000"/>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c hMerge="1">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c gridSpan="2">
                  <a: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en-US" sz="900" b="0" i="0" u="none" strike="noStrike" kern="1200" cap="none" spc="0" normalizeH="0" baseline="0" noProof="0" dirty="0">
                        <a:ln>
                          <a:noFill/>
                        </a:ln>
                        <a:solidFill>
                          <a:srgbClr val="000000"/>
                        </a:solidFill>
                        <a:effectLst/>
                        <a:uLnTx/>
                        <a:uFillTx/>
                        <a:latin typeface="微软雅黑" panose="020B0503020204020204" charset="-122"/>
                        <a:ea typeface="+mn-ea"/>
                        <a:cs typeface="+mn-cs"/>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c hMerge="1">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r>
              <a:tr h="40703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solidFill>
                      <a:srgbClr val="FCD5B4"/>
                    </a:solidFill>
                  </a:tcPr>
                </a:tc>
                <a:tc>
                  <a:txBody>
                    <a:bodyPr/>
                    <a:p>
                      <a:pPr algn="l">
                        <a:buClrTx/>
                        <a:buSzTx/>
                        <a:buFontTx/>
                      </a:pPr>
                      <a:r>
                        <a:rPr lang="zh-CN" sz="900" b="0" i="0" dirty="0">
                          <a:solidFill>
                            <a:srgbClr val="000000"/>
                          </a:solidFill>
                          <a:latin typeface="Arial" panose="02080604020202020204" pitchFamily="34" charset="0"/>
                          <a:ea typeface="微软雅黑" panose="020B0503020204020204" charset="-122"/>
                        </a:rPr>
                        <a:t>AI大模型的名称</a:t>
                      </a:r>
                      <a:endParaRPr lang="zh-CN" sz="900" b="0" i="0" dirty="0">
                        <a:solidFill>
                          <a:srgbClr val="000000"/>
                        </a:solidFill>
                        <a:latin typeface="Arial" panose="02080604020202020204" pitchFamily="34" charset="0"/>
                        <a:ea typeface="微软雅黑" panose="020B050302020402020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c gridSpan="2">
                  <a:txBody>
                    <a:bodyPr/>
                    <a:p>
                      <a:pPr algn="ctr">
                        <a:buClrTx/>
                        <a:buSzTx/>
                        <a:buFontTx/>
                        <a:buNone/>
                      </a:pPr>
                      <a:r>
                        <a:rPr lang="zh-CN" sz="900" b="0" dirty="0">
                          <a:solidFill>
                            <a:srgbClr val="000000"/>
                          </a:solidFill>
                          <a:latin typeface="Arial" panose="02080604020202020204" pitchFamily="34" charset="0"/>
                          <a:ea typeface="微软雅黑" panose="020B0503020204020204" charset="-122"/>
                        </a:rPr>
                        <a:t>本项目中大模型的具体名称。</a:t>
                      </a:r>
                      <a:endParaRPr lang="zh-CN" sz="900" b="0" dirty="0">
                        <a:solidFill>
                          <a:srgbClr val="000000"/>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c hMerge="1">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c gridSpan="2">
                  <a: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en-US" sz="900" b="0" i="0" u="none" strike="noStrike" kern="1200" cap="none" spc="0" normalizeH="0" baseline="0" noProof="0" dirty="0">
                        <a:ln>
                          <a:noFill/>
                        </a:ln>
                        <a:solidFill>
                          <a:srgbClr val="000000"/>
                        </a:solidFill>
                        <a:effectLst/>
                        <a:uLnTx/>
                        <a:uFillTx/>
                        <a:latin typeface="微软雅黑" panose="020B0503020204020204" charset="-122"/>
                        <a:ea typeface="+mn-ea"/>
                        <a:cs typeface="+mn-cs"/>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c hMerge="1">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r>
              <a:tr h="40767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solidFill>
                      <a:srgbClr val="FCD5B4"/>
                    </a:solidFill>
                  </a:tcPr>
                </a:tc>
                <a:tc>
                  <a:txBody>
                    <a:bodyPr/>
                    <a:p>
                      <a:pPr algn="l">
                        <a:buClrTx/>
                        <a:buSzTx/>
                        <a:buFontTx/>
                      </a:pPr>
                      <a:r>
                        <a:rPr lang="zh-CN" sz="900" b="0" i="0" dirty="0">
                          <a:solidFill>
                            <a:srgbClr val="000000"/>
                          </a:solidFill>
                          <a:latin typeface="Arial" panose="02080604020202020204" pitchFamily="34" charset="0"/>
                          <a:ea typeface="微软雅黑" panose="020B0503020204020204" charset="-122"/>
                        </a:rPr>
                        <a:t>AI涉及领域</a:t>
                      </a:r>
                      <a:endParaRPr lang="zh-CN" sz="900" b="0" i="0" dirty="0">
                        <a:solidFill>
                          <a:srgbClr val="000000"/>
                        </a:solidFill>
                        <a:latin typeface="Arial" panose="02080604020202020204" pitchFamily="34" charset="0"/>
                        <a:ea typeface="微软雅黑" panose="020B050302020402020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c gridSpan="2">
                  <a:txBody>
                    <a:bodyPr/>
                    <a:p>
                      <a:pPr algn="ctr">
                        <a:buClrTx/>
                        <a:buSzTx/>
                        <a:buFontTx/>
                        <a:buNone/>
                      </a:pPr>
                      <a:r>
                        <a:rPr lang="zh-CN" sz="900" b="0" dirty="0">
                          <a:solidFill>
                            <a:srgbClr val="000000"/>
                          </a:solidFill>
                          <a:latin typeface="Arial" panose="02080604020202020204" pitchFamily="34" charset="0"/>
                          <a:ea typeface="微软雅黑" panose="020B0503020204020204" charset="-122"/>
                        </a:rPr>
                        <a:t>本项目的AI技术涉及政务/医疗/教育等哪些领域。</a:t>
                      </a:r>
                      <a:endParaRPr lang="zh-CN" sz="900" b="0" dirty="0">
                        <a:solidFill>
                          <a:srgbClr val="000000"/>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c hMerge="1">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c gridSpan="2">
                  <a: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en-US" sz="900" b="0" i="0" u="none" strike="noStrike" kern="1200" cap="none" spc="0" normalizeH="0" baseline="0" noProof="0" dirty="0">
                        <a:ln>
                          <a:noFill/>
                        </a:ln>
                        <a:solidFill>
                          <a:srgbClr val="000000"/>
                        </a:solidFill>
                        <a:effectLst/>
                        <a:uLnTx/>
                        <a:uFillTx/>
                        <a:latin typeface="微软雅黑" panose="020B0503020204020204" charset="-122"/>
                        <a:ea typeface="+mn-ea"/>
                        <a:cs typeface="+mn-cs"/>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c hMerge="1">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r>
              <a:tr h="40703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solidFill>
                      <a:srgbClr val="FCD5B4"/>
                    </a:solidFill>
                  </a:tcPr>
                </a:tc>
                <a:tc>
                  <a:txBody>
                    <a:bodyPr/>
                    <a:p>
                      <a:pPr algn="l">
                        <a:buClrTx/>
                        <a:buSzTx/>
                        <a:buFontTx/>
                      </a:pPr>
                      <a:r>
                        <a:rPr lang="zh-CN" sz="900" b="0" i="0" dirty="0">
                          <a:solidFill>
                            <a:srgbClr val="000000"/>
                          </a:solidFill>
                          <a:latin typeface="Arial" panose="02080604020202020204" pitchFamily="34" charset="0"/>
                          <a:ea typeface="微软雅黑" panose="020B0503020204020204" charset="-122"/>
                        </a:rPr>
                        <a:t>沉淀/复用情况</a:t>
                      </a:r>
                      <a:endParaRPr lang="zh-CN" sz="900" b="0" i="0" dirty="0">
                        <a:solidFill>
                          <a:srgbClr val="000000"/>
                        </a:solidFill>
                        <a:latin typeface="Arial" panose="02080604020202020204" pitchFamily="34" charset="0"/>
                        <a:ea typeface="微软雅黑" panose="020B050302020402020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c gridSpan="2">
                  <a:txBody>
                    <a:bodyPr/>
                    <a:p>
                      <a:pPr algn="ctr">
                        <a:buClrTx/>
                        <a:buSzTx/>
                        <a:buFontTx/>
                        <a:buNone/>
                      </a:pPr>
                      <a:r>
                        <a:rPr lang="zh-CN" sz="900" b="0" dirty="0">
                          <a:solidFill>
                            <a:srgbClr val="000000"/>
                          </a:solidFill>
                          <a:latin typeface="Arial" panose="02080604020202020204" pitchFamily="34" charset="0"/>
                          <a:ea typeface="微软雅黑" panose="020B0503020204020204" charset="-122"/>
                        </a:rPr>
                        <a:t>AI技术沉淀还是复用</a:t>
                      </a:r>
                      <a:endParaRPr lang="zh-CN" sz="900" b="0" dirty="0">
                        <a:solidFill>
                          <a:srgbClr val="000000"/>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c hMerge="1">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c gridSpan="2">
                  <a: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en-US" sz="900" b="0" i="0" u="none" strike="noStrike" kern="1200" cap="none" spc="0" normalizeH="0" baseline="0" noProof="0" dirty="0">
                        <a:ln>
                          <a:noFill/>
                        </a:ln>
                        <a:solidFill>
                          <a:srgbClr val="000000"/>
                        </a:solidFill>
                        <a:effectLst/>
                        <a:uLnTx/>
                        <a:uFillTx/>
                        <a:latin typeface="微软雅黑" panose="020B0503020204020204" charset="-122"/>
                        <a:ea typeface="+mn-ea"/>
                        <a:cs typeface="+mn-cs"/>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c hMerge="1">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r>
              <a:tr h="4064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solidFill>
                      <a:srgbClr val="FCD5B4"/>
                    </a:solidFill>
                  </a:tcPr>
                </a:tc>
                <a:tc>
                  <a:txBody>
                    <a:bodyPr/>
                    <a:p>
                      <a:pPr algn="l">
                        <a:buClrTx/>
                        <a:buSzTx/>
                        <a:buFontTx/>
                      </a:pPr>
                      <a:r>
                        <a:rPr lang="zh-CN" sz="900" b="0" i="0" dirty="0">
                          <a:solidFill>
                            <a:srgbClr val="000000"/>
                          </a:solidFill>
                          <a:latin typeface="Arial" panose="02080604020202020204" pitchFamily="34" charset="0"/>
                          <a:ea typeface="微软雅黑" panose="020B0503020204020204" charset="-122"/>
                        </a:rPr>
                        <a:t>AI使用环节及内容</a:t>
                      </a:r>
                      <a:endParaRPr lang="zh-CN" sz="900" b="0" i="0" dirty="0">
                        <a:solidFill>
                          <a:srgbClr val="000000"/>
                        </a:solidFill>
                        <a:latin typeface="Arial" panose="02080604020202020204" pitchFamily="34" charset="0"/>
                        <a:ea typeface="微软雅黑" panose="020B050302020402020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c gridSpan="2">
                  <a:txBody>
                    <a:bodyPr/>
                    <a:p>
                      <a:pPr algn="ctr">
                        <a:buClrTx/>
                        <a:buSzTx/>
                        <a:buFontTx/>
                        <a:buNone/>
                      </a:pPr>
                      <a:r>
                        <a:rPr lang="zh-CN" sz="900" b="0" dirty="0">
                          <a:solidFill>
                            <a:srgbClr val="000000"/>
                          </a:solidFill>
                          <a:latin typeface="Arial" panose="02080604020202020204" pitchFamily="34" charset="0"/>
                          <a:ea typeface="微软雅黑" panose="020B0503020204020204" charset="-122"/>
                        </a:rPr>
                        <a:t>本项目中AI技术使用的环节和场景，简单阐述即可。</a:t>
                      </a:r>
                      <a:endParaRPr lang="zh-CN" sz="900" b="0" dirty="0">
                        <a:solidFill>
                          <a:srgbClr val="000000"/>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c hMerge="1">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c gridSpan="2">
                  <a: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en-US" sz="900" b="0" i="0" u="none" strike="noStrike" kern="1200" cap="none" spc="0" normalizeH="0" baseline="0" noProof="0" dirty="0">
                        <a:ln>
                          <a:noFill/>
                        </a:ln>
                        <a:solidFill>
                          <a:srgbClr val="000000"/>
                        </a:solidFill>
                        <a:effectLst/>
                        <a:uLnTx/>
                        <a:uFillTx/>
                        <a:latin typeface="微软雅黑" panose="020B0503020204020204" charset="-122"/>
                        <a:ea typeface="+mn-ea"/>
                        <a:cs typeface="+mn-cs"/>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c hMerge="1">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r>
              <a:tr h="4826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solidFill>
                      <a:srgbClr val="FCD5B4"/>
                    </a:solidFill>
                  </a:tcPr>
                </a:tc>
                <a:tc>
                  <a:txBody>
                    <a:bodyPr/>
                    <a:p>
                      <a:pPr algn="l">
                        <a:buClrTx/>
                        <a:buSzTx/>
                        <a:buFontTx/>
                      </a:pPr>
                      <a:r>
                        <a:rPr lang="zh-CN" sz="900" b="0" i="0" dirty="0">
                          <a:solidFill>
                            <a:srgbClr val="000000"/>
                          </a:solidFill>
                          <a:latin typeface="Arial" panose="02080604020202020204" pitchFamily="34" charset="0"/>
                          <a:ea typeface="微软雅黑" panose="020B0503020204020204" charset="-122"/>
                        </a:rPr>
                        <a:t>效益情况</a:t>
                      </a:r>
                      <a:endParaRPr lang="zh-CN" sz="900" b="0" i="0" dirty="0">
                        <a:solidFill>
                          <a:srgbClr val="000000"/>
                        </a:solidFill>
                        <a:latin typeface="Arial" panose="02080604020202020204" pitchFamily="34" charset="0"/>
                        <a:ea typeface="微软雅黑" panose="020B050302020402020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c gridSpan="2">
                  <a:txBody>
                    <a:bodyPr/>
                    <a:p>
                      <a:pPr algn="ctr">
                        <a:buClrTx/>
                        <a:buSzTx/>
                        <a:buFontTx/>
                        <a:buNone/>
                      </a:pPr>
                      <a:r>
                        <a:rPr lang="zh-CN" sz="900" b="0" dirty="0">
                          <a:solidFill>
                            <a:srgbClr val="000000"/>
                          </a:solidFill>
                          <a:latin typeface="Arial" panose="02080604020202020204" pitchFamily="34" charset="0"/>
                          <a:ea typeface="微软雅黑" panose="020B0503020204020204" charset="-122"/>
                        </a:rPr>
                        <a:t>通过AI技术的运用，对本项目的节约采购成本/资产复用效益提升/人力成本节约/降低管理风险等。</a:t>
                      </a:r>
                      <a:endParaRPr lang="zh-CN" sz="900" b="0" dirty="0">
                        <a:solidFill>
                          <a:srgbClr val="000000"/>
                        </a:solidFill>
                        <a:latin typeface="Arial" panose="0208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c hMerge="1">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c gridSpan="2">
                  <a: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en-US" sz="900" b="0" i="0" u="none" strike="noStrike" kern="1200" cap="none" spc="0" normalizeH="0" baseline="0" noProof="0" dirty="0">
                        <a:ln>
                          <a:noFill/>
                        </a:ln>
                        <a:solidFill>
                          <a:srgbClr val="000000"/>
                        </a:solidFill>
                        <a:effectLst/>
                        <a:uLnTx/>
                        <a:uFillTx/>
                        <a:latin typeface="微软雅黑" panose="020B0503020204020204" charset="-122"/>
                        <a:ea typeface="+mn-ea"/>
                        <a:cs typeface="+mn-cs"/>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c hMerge="1">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2DEEF"/>
                    </a:solidFill>
                  </a:tcPr>
                </a:tc>
              </a:tr>
            </a:tbl>
          </a:graphicData>
        </a:graphic>
      </p:graphicFrame>
      <p:sp>
        <p:nvSpPr>
          <p:cNvPr id="2" name="灯片编号占位符 3"/>
          <p:cNvSpPr>
            <a:spLocks noGrp="1"/>
          </p:cNvSpPr>
          <p:nvPr/>
        </p:nvSpPr>
        <p:spPr>
          <a:xfrm>
            <a:off x="9137650" y="6483350"/>
            <a:ext cx="2743200" cy="365125"/>
          </a:xfrm>
          <a:prstGeom prst="rect">
            <a:avLst/>
          </a:prstGeom>
        </p:spPr>
        <p:txBody>
          <a:bodyPr vert="horz" lIns="91440" tIns="45720" rIns="91440" bIns="45720" rtlCol="0" anchor="ctr">
            <a:normAutofit/>
          </a:bodyP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mtClean="0"/>
              <a:t>10</a:t>
            </a:r>
            <a:endParaRPr lang="en-US" altLang="zh-CN" smtClean="0"/>
          </a:p>
        </p:txBody>
      </p:sp>
    </p:spTree>
    <p:custDataLst>
      <p:tags r:id="rId4"/>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635" y="-8890"/>
            <a:ext cx="12192635" cy="892175"/>
          </a:xfrm>
          <a:prstGeom prst="rect">
            <a:avLst/>
          </a:prstGeom>
        </p:spPr>
      </p:pic>
      <p:sp>
        <p:nvSpPr>
          <p:cNvPr id="7" name="Rectangle 2"/>
          <p:cNvSpPr>
            <a:spLocks noChangeArrowheads="1"/>
          </p:cNvSpPr>
          <p:nvPr/>
        </p:nvSpPr>
        <p:spPr bwMode="auto">
          <a:xfrm>
            <a:off x="60960" y="144780"/>
            <a:ext cx="7043738" cy="584697"/>
          </a:xfrm>
          <a:prstGeom prst="rect">
            <a:avLst/>
          </a:prstGeom>
          <a:noFill/>
          <a:ln w="9525">
            <a:noFill/>
            <a:miter lim="800000"/>
          </a:ln>
        </p:spPr>
        <p:txBody>
          <a:bodyPr anchor="b">
            <a:noAutofit/>
          </a:bodyPr>
          <a:lstStyle/>
          <a:p>
            <a:pPr lvl="0" algn="l" eaLnBrk="0" hangingPunct="0">
              <a:buClrTx/>
              <a:buSzTx/>
              <a:buFontTx/>
            </a:pPr>
            <a:r>
              <a:rPr lang="zh-CN" altLang="en-US" sz="2800" b="1" dirty="0">
                <a:solidFill>
                  <a:schemeClr val="bg1"/>
                </a:solidFill>
                <a:latin typeface="黑体" panose="02010609060101010101" charset="-122"/>
                <a:ea typeface="黑体" panose="02010609060101010101" charset="-122"/>
                <a:sym typeface="+mn-ea"/>
              </a:rPr>
              <a:t>十、单一来源情况说明</a:t>
            </a:r>
            <a:endParaRPr lang="zh-CN" altLang="en-US" sz="2800" b="1" dirty="0">
              <a:solidFill>
                <a:schemeClr val="bg1"/>
              </a:solidFill>
              <a:latin typeface="黑体" panose="02010609060101010101" charset="-122"/>
              <a:ea typeface="黑体" panose="02010609060101010101" charset="-122"/>
              <a:sym typeface="+mn-ea"/>
            </a:endParaRPr>
          </a:p>
        </p:txBody>
      </p:sp>
      <p:sp>
        <p:nvSpPr>
          <p:cNvPr id="9" name="灯片编号占位符 8"/>
          <p:cNvSpPr>
            <a:spLocks noGrp="1"/>
          </p:cNvSpPr>
          <p:nvPr>
            <p:ph type="sldNum" sz="quarter" idx="12"/>
          </p:nvPr>
        </p:nvSpPr>
        <p:spPr>
          <a:xfrm>
            <a:off x="9099550" y="6356350"/>
            <a:ext cx="2743200" cy="365125"/>
          </a:xfrm>
        </p:spPr>
        <p:txBody>
          <a:bodyPr/>
          <a:lstStyle/>
          <a:p>
            <a:r>
              <a:rPr lang="en-US" altLang="zh-CN"/>
              <a:t>11</a:t>
            </a:r>
            <a:endParaRPr lang="en-US" altLang="zh-CN"/>
          </a:p>
        </p:txBody>
      </p:sp>
      <p:sp>
        <p:nvSpPr>
          <p:cNvPr id="6" name="TextBox 3"/>
          <p:cNvSpPr txBox="1">
            <a:spLocks noChangeArrowheads="1"/>
          </p:cNvSpPr>
          <p:nvPr/>
        </p:nvSpPr>
        <p:spPr bwMode="auto">
          <a:xfrm>
            <a:off x="929640" y="1345565"/>
            <a:ext cx="8087995" cy="2738120"/>
          </a:xfrm>
          <a:prstGeom prst="rect">
            <a:avLst/>
          </a:prstGeom>
          <a:solidFill>
            <a:schemeClr val="bg1"/>
          </a:solidFill>
          <a:ln w="9525">
            <a:solidFill>
              <a:schemeClr val="bg1"/>
            </a:solidFill>
            <a:miter lim="800000"/>
          </a:ln>
        </p:spPr>
        <p:txBody>
          <a:bodyPr wrap="square">
            <a:spAutoFit/>
          </a:bodyPr>
          <a:lstStyle/>
          <a:p>
            <a:pPr>
              <a:lnSpc>
                <a:spcPct val="200000"/>
              </a:lnSpc>
              <a:buFont typeface="Wingdings" panose="05000000000000000000" pitchFamily="2" charset="2"/>
              <a:buChar char="l"/>
            </a:pPr>
            <a:r>
              <a:rPr lang="zh-CN" altLang="en-US" sz="1400" b="0" dirty="0">
                <a:latin typeface="微软雅黑" panose="020B0503020204020204" charset="-122"/>
                <a:ea typeface="微软雅黑" panose="020B0503020204020204" charset="-122"/>
              </a:rPr>
              <a:t>采购方式建议：</a:t>
            </a:r>
            <a:r>
              <a:rPr lang="zh-CN" altLang="zh-CN" sz="1400" b="0" dirty="0">
                <a:latin typeface="微软雅黑" panose="020B0503020204020204" charset="-122"/>
                <a:ea typeface="微软雅黑" panose="020B0503020204020204" charset="-122"/>
              </a:rPr>
              <a:t>单一来源</a:t>
            </a:r>
            <a:endParaRPr lang="en-US" altLang="zh-CN" sz="1400" b="0" dirty="0">
              <a:latin typeface="微软雅黑" panose="020B0503020204020204" charset="-122"/>
              <a:ea typeface="微软雅黑" panose="020B0503020204020204" charset="-122"/>
            </a:endParaRPr>
          </a:p>
          <a:p>
            <a:pPr>
              <a:lnSpc>
                <a:spcPct val="200000"/>
              </a:lnSpc>
              <a:buFont typeface="Wingdings" panose="05000000000000000000" pitchFamily="2" charset="2"/>
              <a:buChar char="l"/>
            </a:pPr>
            <a:r>
              <a:rPr lang="zh-CN" altLang="en-US" sz="1400" b="0" dirty="0">
                <a:latin typeface="微软雅黑" panose="020B0503020204020204" charset="-122"/>
                <a:ea typeface="微软雅黑" panose="020B0503020204020204" charset="-122"/>
              </a:rPr>
              <a:t>单一来源原因：简单描写</a:t>
            </a:r>
            <a:endParaRPr lang="en-US" altLang="zh-CN" sz="1400" b="0" dirty="0">
              <a:latin typeface="微软雅黑" panose="020B0503020204020204" charset="-122"/>
              <a:ea typeface="微软雅黑" panose="020B0503020204020204" charset="-122"/>
            </a:endParaRPr>
          </a:p>
          <a:p>
            <a:pPr>
              <a:lnSpc>
                <a:spcPct val="200000"/>
              </a:lnSpc>
              <a:buFont typeface="Wingdings" panose="05000000000000000000" pitchFamily="2" charset="2"/>
              <a:buChar char="l"/>
            </a:pPr>
            <a:r>
              <a:rPr lang="zh-CN" altLang="en-US" sz="1400" dirty="0">
                <a:latin typeface="微软雅黑" panose="020B0503020204020204" charset="-122"/>
                <a:ea typeface="微软雅黑" panose="020B0503020204020204" charset="-122"/>
              </a:rPr>
              <a:t>单一来源供应商：</a:t>
            </a:r>
            <a:r>
              <a:rPr lang="en-US" altLang="zh-CN" sz="1400" dirty="0">
                <a:latin typeface="微软雅黑" panose="020B0503020204020204" charset="-122"/>
                <a:ea typeface="微软雅黑" panose="020B0503020204020204" charset="-122"/>
              </a:rPr>
              <a:t>XXXXX</a:t>
            </a:r>
            <a:r>
              <a:rPr lang="zh-CN" altLang="en-US" sz="1400" dirty="0">
                <a:latin typeface="微软雅黑" panose="020B0503020204020204" charset="-122"/>
                <a:ea typeface="微软雅黑" panose="020B0503020204020204" charset="-122"/>
              </a:rPr>
              <a:t>公司</a:t>
            </a:r>
            <a:endParaRPr lang="en-US" altLang="zh-CN" sz="1400" dirty="0">
              <a:latin typeface="微软雅黑" panose="020B0503020204020204" charset="-122"/>
              <a:ea typeface="微软雅黑" panose="020B0503020204020204" charset="-122"/>
            </a:endParaRPr>
          </a:p>
          <a:p>
            <a:pPr>
              <a:lnSpc>
                <a:spcPct val="200000"/>
              </a:lnSpc>
              <a:buFont typeface="Wingdings" panose="05000000000000000000" pitchFamily="2" charset="2"/>
              <a:buChar char="l"/>
            </a:pPr>
            <a:r>
              <a:rPr lang="zh-CN" altLang="en-US" sz="1400" dirty="0">
                <a:latin typeface="微软雅黑" panose="020B0503020204020204" charset="-122"/>
                <a:ea typeface="微软雅黑" panose="020B0503020204020204" charset="-122"/>
              </a:rPr>
              <a:t>单一来源金额：</a:t>
            </a:r>
            <a:r>
              <a:rPr lang="en-US" altLang="zh-CN" sz="1400" dirty="0">
                <a:latin typeface="微软雅黑" panose="020B0503020204020204" charset="-122"/>
                <a:ea typeface="微软雅黑" panose="020B0503020204020204" charset="-122"/>
              </a:rPr>
              <a:t>XXXX</a:t>
            </a:r>
            <a:r>
              <a:rPr lang="zh-CN" altLang="en-US" sz="1400" dirty="0">
                <a:latin typeface="微软雅黑" panose="020B0503020204020204" charset="-122"/>
                <a:ea typeface="微软雅黑" panose="020B0503020204020204" charset="-122"/>
              </a:rPr>
              <a:t>万元（不含税）；</a:t>
            </a:r>
            <a:r>
              <a:rPr lang="en-US" altLang="zh-CN" sz="1400" dirty="0">
                <a:latin typeface="微软雅黑" panose="020B0503020204020204" charset="-122"/>
                <a:ea typeface="微软雅黑" panose="020B0503020204020204" charset="-122"/>
              </a:rPr>
              <a:t>XXXX</a:t>
            </a:r>
            <a:r>
              <a:rPr lang="zh-CN" altLang="en-US" sz="1400" dirty="0">
                <a:latin typeface="微软雅黑" panose="020B0503020204020204" charset="-122"/>
                <a:ea typeface="微软雅黑" panose="020B0503020204020204" charset="-122"/>
              </a:rPr>
              <a:t>万元（含税）</a:t>
            </a:r>
            <a:endParaRPr lang="en-US" altLang="zh-CN" sz="1400" b="0" dirty="0">
              <a:latin typeface="微软雅黑" panose="020B0503020204020204" charset="-122"/>
              <a:ea typeface="微软雅黑" panose="020B0503020204020204" charset="-122"/>
            </a:endParaRPr>
          </a:p>
          <a:p>
            <a:pPr>
              <a:lnSpc>
                <a:spcPct val="200000"/>
              </a:lnSpc>
              <a:buFont typeface="Wingdings" panose="05000000000000000000" pitchFamily="2" charset="2"/>
              <a:buChar char="l"/>
            </a:pPr>
            <a:r>
              <a:rPr lang="zh-CN" altLang="en-US" sz="1400" b="0" dirty="0">
                <a:latin typeface="微软雅黑" panose="020B0503020204020204" charset="-122"/>
                <a:ea typeface="微软雅黑" panose="020B0503020204020204" charset="-122"/>
              </a:rPr>
              <a:t>单一来源依据：</a:t>
            </a:r>
            <a:endParaRPr lang="en-US" altLang="zh-CN" sz="1400" b="0" dirty="0">
              <a:latin typeface="微软雅黑" panose="020B0503020204020204" charset="-122"/>
              <a:ea typeface="微软雅黑" panose="020B0503020204020204" charset="-122"/>
            </a:endParaRPr>
          </a:p>
          <a:p>
            <a:pPr>
              <a:lnSpc>
                <a:spcPct val="200000"/>
              </a:lnSpc>
            </a:pPr>
            <a:r>
              <a:rPr lang="en-US" altLang="zh-CN" sz="1400" b="0" dirty="0">
                <a:latin typeface="微软雅黑" panose="020B0503020204020204" charset="-122"/>
                <a:ea typeface="微软雅黑" panose="020B0503020204020204" charset="-122"/>
              </a:rPr>
              <a:t>         </a:t>
            </a:r>
            <a:r>
              <a:rPr lang="zh-CN" altLang="zh-CN" sz="1400" b="0" dirty="0">
                <a:latin typeface="微软雅黑" panose="020B0503020204020204" charset="-122"/>
                <a:ea typeface="微软雅黑" panose="020B0503020204020204" charset="-122"/>
              </a:rPr>
              <a:t>符合单一来源采购方式适用场景</a:t>
            </a:r>
            <a:r>
              <a:rPr lang="en-US" altLang="zh-CN" sz="1400" dirty="0" err="1">
                <a:latin typeface="微软雅黑" panose="020B0503020204020204" charset="-122"/>
                <a:ea typeface="微软雅黑" panose="020B0503020204020204" charset="-122"/>
              </a:rPr>
              <a:t>xxxxx</a:t>
            </a:r>
            <a:r>
              <a:rPr lang="zh-CN" altLang="en-US" sz="1400" dirty="0">
                <a:latin typeface="微软雅黑" panose="020B0503020204020204" charset="-122"/>
                <a:ea typeface="微软雅黑" panose="020B0503020204020204" charset="-122"/>
              </a:rPr>
              <a:t>，场景描述。。。</a:t>
            </a:r>
            <a:r>
              <a:rPr lang="zh-CN" altLang="en-US" sz="1600" dirty="0">
                <a:latin typeface="微软雅黑" panose="020B0503020204020204" charset="-122"/>
                <a:ea typeface="微软雅黑" panose="020B0503020204020204" charset="-122"/>
              </a:rPr>
              <a:t>。</a:t>
            </a:r>
            <a:endParaRPr lang="en-US" altLang="zh-CN" sz="1600" b="0" dirty="0">
              <a:latin typeface="微软雅黑" panose="020B0503020204020204" charset="-122"/>
              <a:ea typeface="微软雅黑" panose="020B0503020204020204" charset="-122"/>
            </a:endParaRPr>
          </a:p>
        </p:txBody>
      </p:sp>
      <p:sp>
        <p:nvSpPr>
          <p:cNvPr id="8" name="矩形 7"/>
          <p:cNvSpPr/>
          <p:nvPr/>
        </p:nvSpPr>
        <p:spPr>
          <a:xfrm>
            <a:off x="1077835" y="4240283"/>
            <a:ext cx="7272809" cy="553085"/>
          </a:xfrm>
          <a:prstGeom prst="rect">
            <a:avLst/>
          </a:prstGeom>
        </p:spPr>
        <p:txBody>
          <a:bodyPr wrap="square">
            <a:spAutoFit/>
          </a:bodyPr>
          <a:lstStyle/>
          <a:p>
            <a:pPr algn="ctr">
              <a:lnSpc>
                <a:spcPct val="150000"/>
              </a:lnSpc>
            </a:pPr>
            <a:r>
              <a:rPr lang="zh-CN" altLang="en-US" sz="2000" b="1" dirty="0">
                <a:solidFill>
                  <a:srgbClr val="FF0000"/>
                </a:solidFill>
                <a:latin typeface="微软雅黑" panose="020B0503020204020204" charset="-122"/>
                <a:ea typeface="微软雅黑" panose="020B0503020204020204" charset="-122"/>
              </a:rPr>
              <a:t>如无单一来源可删除该页</a:t>
            </a:r>
            <a:endParaRPr lang="en-US" altLang="zh-CN" sz="2000" b="1" dirty="0">
              <a:solidFill>
                <a:srgbClr val="FF0000"/>
              </a:solidFill>
              <a:latin typeface="微软雅黑" panose="020B0503020204020204" charset="-122"/>
              <a:ea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635" y="-8890"/>
            <a:ext cx="12192635" cy="892175"/>
          </a:xfrm>
          <a:prstGeom prst="rect">
            <a:avLst/>
          </a:prstGeom>
        </p:spPr>
      </p:pic>
      <p:sp>
        <p:nvSpPr>
          <p:cNvPr id="7" name="Rectangle 2"/>
          <p:cNvSpPr>
            <a:spLocks noChangeArrowheads="1"/>
          </p:cNvSpPr>
          <p:nvPr/>
        </p:nvSpPr>
        <p:spPr bwMode="auto">
          <a:xfrm>
            <a:off x="69850" y="144780"/>
            <a:ext cx="10303510" cy="584835"/>
          </a:xfrm>
          <a:prstGeom prst="rect">
            <a:avLst/>
          </a:prstGeom>
          <a:noFill/>
          <a:ln w="9525">
            <a:noFill/>
            <a:miter lim="800000"/>
          </a:ln>
        </p:spPr>
        <p:txBody>
          <a:bodyPr anchor="b"/>
          <a:lstStyle/>
          <a:p>
            <a:pPr algn="l" eaLnBrk="0" hangingPunct="0">
              <a:buClrTx/>
              <a:buSzTx/>
              <a:buFontTx/>
            </a:pPr>
            <a:r>
              <a:rPr lang="zh-CN" altLang="en-US" sz="2800" b="1" dirty="0">
                <a:solidFill>
                  <a:schemeClr val="bg1"/>
                </a:solidFill>
                <a:latin typeface="黑体" panose="02010609060101010101" charset="-122"/>
                <a:ea typeface="黑体" panose="02010609060101010101" charset="-122"/>
              </a:rPr>
              <a:t>十一、</a:t>
            </a:r>
            <a:r>
              <a:rPr lang="zh-CN" altLang="en-US" sz="2800" b="1" dirty="0">
                <a:solidFill>
                  <a:schemeClr val="bg1"/>
                </a:solidFill>
                <a:latin typeface="黑体" panose="02010609060101010101" charset="-122"/>
                <a:ea typeface="黑体" panose="02010609060101010101" charset="-122"/>
                <a:sym typeface="+mn-ea"/>
              </a:rPr>
              <a:t>重大商业计划主要风险点（400万以上项目需评估）</a:t>
            </a:r>
            <a:endParaRPr lang="zh-CN" altLang="en-US" sz="2800" b="1" dirty="0">
              <a:solidFill>
                <a:schemeClr val="bg1"/>
              </a:solidFill>
              <a:latin typeface="黑体" panose="02010609060101010101" charset="-122"/>
              <a:ea typeface="黑体" panose="02010609060101010101" charset="-122"/>
            </a:endParaRPr>
          </a:p>
        </p:txBody>
      </p:sp>
      <p:sp>
        <p:nvSpPr>
          <p:cNvPr id="6" name="文本框 5"/>
          <p:cNvSpPr txBox="1"/>
          <p:nvPr/>
        </p:nvSpPr>
        <p:spPr>
          <a:xfrm>
            <a:off x="664210" y="5570855"/>
            <a:ext cx="9051925" cy="1168400"/>
          </a:xfrm>
          <a:prstGeom prst="rect">
            <a:avLst/>
          </a:prstGeom>
          <a:noFill/>
        </p:spPr>
        <p:txBody>
          <a:bodyPr wrap="square" rtlCol="0">
            <a:spAutoFit/>
          </a:bodyPr>
          <a:lstStyle/>
          <a:p>
            <a:pPr>
              <a:lnSpc>
                <a:spcPct val="100000"/>
              </a:lnSpc>
            </a:pPr>
            <a:r>
              <a:rPr lang="zh-CN" altLang="en-US" sz="1400" b="1" dirty="0">
                <a:latin typeface="微软雅黑" panose="020B0503020204020204" charset="-122"/>
                <a:ea typeface="微软雅黑" panose="020B0503020204020204" charset="-122"/>
              </a:rPr>
              <a:t>风险评估得分：</a:t>
            </a:r>
            <a:r>
              <a:rPr lang="en-US" altLang="zh-CN" sz="1400" b="1" dirty="0">
                <a:latin typeface="微软雅黑" panose="020B0503020204020204" charset="-122"/>
                <a:ea typeface="微软雅黑" panose="020B0503020204020204" charset="-122"/>
              </a:rPr>
              <a:t>XX</a:t>
            </a:r>
            <a:r>
              <a:rPr lang="zh-CN" altLang="en-US" sz="1400" b="1" dirty="0">
                <a:latin typeface="微软雅黑" panose="020B0503020204020204" charset="-122"/>
                <a:ea typeface="微软雅黑" panose="020B0503020204020204" charset="-122"/>
              </a:rPr>
              <a:t>分 风险评估等级：</a:t>
            </a:r>
            <a:r>
              <a:rPr lang="en-US" altLang="zh-CN" sz="1400" b="1" dirty="0">
                <a:latin typeface="微软雅黑" panose="020B0503020204020204" charset="-122"/>
                <a:ea typeface="微软雅黑" panose="020B0503020204020204" charset="-122"/>
              </a:rPr>
              <a:t>X</a:t>
            </a:r>
            <a:r>
              <a:rPr lang="zh-CN" altLang="en-US" sz="1400" b="1" dirty="0">
                <a:latin typeface="微软雅黑" panose="020B0503020204020204" charset="-122"/>
                <a:ea typeface="微软雅黑" panose="020B0503020204020204" charset="-122"/>
              </a:rPr>
              <a:t>风险</a:t>
            </a:r>
            <a:endParaRPr lang="en-US" altLang="zh-CN" sz="1400" b="1" dirty="0">
              <a:latin typeface="微软雅黑" panose="020B0503020204020204" charset="-122"/>
              <a:ea typeface="微软雅黑" panose="020B0503020204020204" charset="-122"/>
            </a:endParaRPr>
          </a:p>
          <a:p>
            <a:pPr>
              <a:lnSpc>
                <a:spcPct val="100000"/>
              </a:lnSpc>
            </a:pPr>
            <a:endParaRPr lang="en-US" altLang="zh-CN" sz="1400" b="1" dirty="0">
              <a:latin typeface="微软雅黑" panose="020B0503020204020204" charset="-122"/>
              <a:ea typeface="微软雅黑" panose="020B0503020204020204" charset="-122"/>
            </a:endParaRPr>
          </a:p>
          <a:p>
            <a:pPr>
              <a:lnSpc>
                <a:spcPct val="100000"/>
              </a:lnSpc>
            </a:pPr>
            <a:r>
              <a:rPr lang="zh-CN" altLang="en-US" sz="1400" b="1" dirty="0">
                <a:latin typeface="微软雅黑" panose="020B0503020204020204" charset="-122"/>
                <a:ea typeface="微软雅黑" panose="020B0503020204020204" charset="-122"/>
              </a:rPr>
              <a:t>是否需采取风险防范措施？否</a:t>
            </a:r>
            <a:endParaRPr lang="zh-CN" altLang="en-US" sz="1400" b="1" dirty="0">
              <a:latin typeface="微软雅黑" panose="020B0503020204020204" charset="-122"/>
              <a:ea typeface="微软雅黑" panose="020B0503020204020204" charset="-122"/>
            </a:endParaRPr>
          </a:p>
          <a:p>
            <a:pPr>
              <a:lnSpc>
                <a:spcPct val="100000"/>
              </a:lnSpc>
            </a:pPr>
            <a:endParaRPr lang="zh-CN" altLang="en-US" sz="1400" b="1" dirty="0">
              <a:latin typeface="微软雅黑" panose="020B0503020204020204" charset="-122"/>
              <a:ea typeface="微软雅黑" panose="020B0503020204020204" charset="-122"/>
            </a:endParaRPr>
          </a:p>
          <a:p>
            <a:pPr>
              <a:lnSpc>
                <a:spcPct val="100000"/>
              </a:lnSpc>
            </a:pPr>
            <a:r>
              <a:rPr lang="zh-CN" altLang="en-US" sz="1400" b="1" dirty="0">
                <a:solidFill>
                  <a:srgbClr val="FF0000"/>
                </a:solidFill>
                <a:latin typeface="微软雅黑" panose="020B0503020204020204" charset="-122"/>
                <a:ea typeface="微软雅黑" panose="020B0503020204020204" charset="-122"/>
              </a:rPr>
              <a:t>备注：根据项目实际谨慎评估，需上传签字盖章版</a:t>
            </a:r>
            <a:endParaRPr lang="zh-CN" altLang="en-US" sz="1400" b="1" dirty="0">
              <a:solidFill>
                <a:srgbClr val="FF0000"/>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2"/>
          <a:stretch>
            <a:fillRect/>
          </a:stretch>
        </p:blipFill>
        <p:spPr>
          <a:xfrm>
            <a:off x="743585" y="1070610"/>
            <a:ext cx="9029065" cy="4482465"/>
          </a:xfrm>
          <a:prstGeom prst="rect">
            <a:avLst/>
          </a:prstGeom>
        </p:spPr>
      </p:pic>
      <p:sp>
        <p:nvSpPr>
          <p:cNvPr id="3" name="灯片编号占位符 2"/>
          <p:cNvSpPr>
            <a:spLocks noGrp="1"/>
          </p:cNvSpPr>
          <p:nvPr>
            <p:ph type="sldNum" sz="quarter" idx="12"/>
          </p:nvPr>
        </p:nvSpPr>
        <p:spPr>
          <a:xfrm>
            <a:off x="9117330" y="6356350"/>
            <a:ext cx="2743200" cy="365125"/>
          </a:xfrm>
        </p:spPr>
        <p:txBody>
          <a:bodyPr/>
          <a:p>
            <a:r>
              <a:rPr lang="en-US" altLang="zh-CN" smtClean="0"/>
              <a:t>12</a:t>
            </a:r>
            <a:endParaRPr lang="en-US" altLang="zh-CN" smtClean="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635" y="-8890"/>
            <a:ext cx="12192635" cy="892175"/>
          </a:xfrm>
          <a:prstGeom prst="rect">
            <a:avLst/>
          </a:prstGeom>
        </p:spPr>
      </p:pic>
      <p:sp>
        <p:nvSpPr>
          <p:cNvPr id="7" name="Rectangle 2"/>
          <p:cNvSpPr>
            <a:spLocks noChangeArrowheads="1"/>
          </p:cNvSpPr>
          <p:nvPr/>
        </p:nvSpPr>
        <p:spPr bwMode="auto">
          <a:xfrm>
            <a:off x="105410" y="144780"/>
            <a:ext cx="10286365" cy="584835"/>
          </a:xfrm>
          <a:prstGeom prst="rect">
            <a:avLst/>
          </a:prstGeom>
          <a:noFill/>
          <a:ln w="9525">
            <a:noFill/>
            <a:miter lim="800000"/>
          </a:ln>
        </p:spPr>
        <p:txBody>
          <a:bodyPr anchor="b"/>
          <a:lstStyle/>
          <a:p>
            <a:pPr algn="l" eaLnBrk="0" hangingPunct="0">
              <a:buClrTx/>
              <a:buSzTx/>
              <a:buFontTx/>
            </a:pPr>
            <a:r>
              <a:rPr lang="zh-CN" altLang="en-US" sz="2800" b="1" dirty="0">
                <a:solidFill>
                  <a:schemeClr val="bg1"/>
                </a:solidFill>
                <a:latin typeface="黑体" panose="02010609060101010101" charset="-122"/>
                <a:ea typeface="黑体" panose="02010609060101010101" charset="-122"/>
              </a:rPr>
              <a:t>十二、嵌入式廉洁风险防控要求</a:t>
            </a:r>
            <a:endParaRPr lang="zh-CN" altLang="en-US" sz="2800" b="1" dirty="0">
              <a:solidFill>
                <a:schemeClr val="bg1"/>
              </a:solidFill>
              <a:latin typeface="微软雅黑" panose="020B0503020204020204" charset="-122"/>
              <a:ea typeface="微软雅黑" panose="020B0503020204020204" charset="-122"/>
            </a:endParaRPr>
          </a:p>
        </p:txBody>
      </p:sp>
      <p:sp>
        <p:nvSpPr>
          <p:cNvPr id="6" name="矩形 5"/>
          <p:cNvSpPr/>
          <p:nvPr/>
        </p:nvSpPr>
        <p:spPr>
          <a:xfrm>
            <a:off x="353078" y="1134515"/>
            <a:ext cx="7089459" cy="337185"/>
          </a:xfrm>
          <a:prstGeom prst="rect">
            <a:avLst/>
          </a:prstGeom>
        </p:spPr>
        <p:txBody>
          <a:bodyPr wrap="square">
            <a:spAutoFit/>
          </a:bodyPr>
          <a:lstStyle/>
          <a:p>
            <a:r>
              <a:rPr lang="zh-CN" altLang="en-US" sz="1600" b="1" dirty="0">
                <a:solidFill>
                  <a:srgbClr val="0070C0"/>
                </a:solidFill>
                <a:latin typeface="微软雅黑" panose="020B0503020204020204" charset="-122"/>
                <a:ea typeface="微软雅黑" panose="020B0503020204020204" charset="-122"/>
              </a:rPr>
              <a:t>本项目涉及</a:t>
            </a:r>
            <a:r>
              <a:rPr lang="en-US" altLang="zh-CN" sz="1600" b="1" dirty="0">
                <a:solidFill>
                  <a:srgbClr val="0070C0"/>
                </a:solidFill>
                <a:latin typeface="微软雅黑" panose="020B0503020204020204" charset="-122"/>
                <a:ea typeface="微软雅黑" panose="020B0503020204020204" charset="-122"/>
              </a:rPr>
              <a:t>X</a:t>
            </a:r>
            <a:r>
              <a:rPr lang="zh-CN" altLang="en-US" sz="1600" b="1" dirty="0">
                <a:solidFill>
                  <a:srgbClr val="0070C0"/>
                </a:solidFill>
                <a:latin typeface="微软雅黑" panose="020B0503020204020204" charset="-122"/>
                <a:ea typeface="微软雅黑" panose="020B0503020204020204" charset="-122"/>
              </a:rPr>
              <a:t>个风险领域、</a:t>
            </a:r>
            <a:r>
              <a:rPr lang="en-US" altLang="zh-CN" sz="1600" b="1" dirty="0">
                <a:solidFill>
                  <a:srgbClr val="0070C0"/>
                </a:solidFill>
                <a:latin typeface="微软雅黑" panose="020B0503020204020204" charset="-122"/>
                <a:ea typeface="微软雅黑" panose="020B0503020204020204" charset="-122"/>
              </a:rPr>
              <a:t>X</a:t>
            </a:r>
            <a:r>
              <a:rPr lang="zh-CN" altLang="en-US" sz="1600" b="1" dirty="0">
                <a:solidFill>
                  <a:srgbClr val="0070C0"/>
                </a:solidFill>
                <a:latin typeface="微软雅黑" panose="020B0503020204020204" charset="-122"/>
                <a:ea typeface="微软雅黑" panose="020B0503020204020204" charset="-122"/>
              </a:rPr>
              <a:t>个风险点，具体内容如下：</a:t>
            </a:r>
            <a:endParaRPr lang="en-US" altLang="zh-CN" sz="1600" b="1" dirty="0">
              <a:latin typeface="微软雅黑" panose="020B0503020204020204" charset="-122"/>
              <a:ea typeface="微软雅黑" panose="020B0503020204020204" charset="-122"/>
            </a:endParaRPr>
          </a:p>
        </p:txBody>
      </p:sp>
      <p:graphicFrame>
        <p:nvGraphicFramePr>
          <p:cNvPr id="10" name="表格 9"/>
          <p:cNvGraphicFramePr>
            <a:graphicFrameLocks noGrp="1"/>
          </p:cNvGraphicFramePr>
          <p:nvPr>
            <p:custDataLst>
              <p:tags r:id="rId2"/>
            </p:custDataLst>
          </p:nvPr>
        </p:nvGraphicFramePr>
        <p:xfrm>
          <a:off x="432435" y="1639570"/>
          <a:ext cx="11123930" cy="3465195"/>
        </p:xfrm>
        <a:graphic>
          <a:graphicData uri="http://schemas.openxmlformats.org/drawingml/2006/table">
            <a:tbl>
              <a:tblPr/>
              <a:tblGrid>
                <a:gridCol w="557530"/>
                <a:gridCol w="1029335"/>
                <a:gridCol w="1281430"/>
                <a:gridCol w="1341755"/>
                <a:gridCol w="4434205"/>
                <a:gridCol w="1247140"/>
                <a:gridCol w="1232535"/>
              </a:tblGrid>
              <a:tr h="495300">
                <a:tc>
                  <a:txBody>
                    <a:bodyPr/>
                    <a:lstStyle/>
                    <a:p>
                      <a:pPr algn="l" fontAlgn="ctr"/>
                      <a:r>
                        <a:rPr lang="zh-CN" altLang="en-US" sz="1600" b="1" kern="1200" dirty="0">
                          <a:solidFill>
                            <a:schemeClr val="tx1"/>
                          </a:solidFill>
                          <a:latin typeface="微软雅黑" panose="020B0503020204020204" charset="-122"/>
                          <a:ea typeface="微软雅黑" panose="020B0503020204020204" charset="-122"/>
                          <a:cs typeface="+mn-cs"/>
                        </a:rPr>
                        <a:t>序号</a:t>
                      </a:r>
                      <a:endParaRPr lang="zh-CN" altLang="en-US" sz="1600" b="1" kern="1200" dirty="0">
                        <a:solidFill>
                          <a:schemeClr val="tx1"/>
                        </a:solidFill>
                        <a:latin typeface="微软雅黑" panose="020B0503020204020204" charset="-122"/>
                        <a:ea typeface="微软雅黑" panose="020B0503020204020204" charset="-122"/>
                        <a:cs typeface="+mn-cs"/>
                      </a:endParaRPr>
                    </a:p>
                  </a:txBody>
                  <a:tcPr marL="7633" marR="7633" marT="76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fontAlgn="ctr"/>
                      <a:r>
                        <a:rPr lang="zh-CN" altLang="en-US" sz="1600" b="1" kern="1200" dirty="0">
                          <a:solidFill>
                            <a:schemeClr val="tx1"/>
                          </a:solidFill>
                          <a:latin typeface="微软雅黑" panose="020B0503020204020204" charset="-122"/>
                          <a:ea typeface="微软雅黑" panose="020B0503020204020204" charset="-122"/>
                          <a:cs typeface="+mn-cs"/>
                        </a:rPr>
                        <a:t>风险领域</a:t>
                      </a:r>
                      <a:endParaRPr lang="zh-CN" altLang="en-US" sz="1600" b="1" kern="1200" dirty="0">
                        <a:solidFill>
                          <a:schemeClr val="tx1"/>
                        </a:solidFill>
                        <a:latin typeface="微软雅黑" panose="020B0503020204020204" charset="-122"/>
                        <a:ea typeface="微软雅黑" panose="020B0503020204020204" charset="-122"/>
                        <a:cs typeface="+mn-cs"/>
                      </a:endParaRPr>
                    </a:p>
                  </a:txBody>
                  <a:tcPr marL="7633" marR="7633" marT="76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fontAlgn="ctr"/>
                      <a:r>
                        <a:rPr lang="zh-CN" altLang="en-US" sz="1600" b="1" kern="1200" dirty="0">
                          <a:solidFill>
                            <a:schemeClr val="tx1"/>
                          </a:solidFill>
                          <a:latin typeface="微软雅黑" panose="020B0503020204020204" charset="-122"/>
                          <a:ea typeface="微软雅黑" panose="020B0503020204020204" charset="-122"/>
                          <a:cs typeface="+mn-cs"/>
                        </a:rPr>
                        <a:t>风险点名称</a:t>
                      </a:r>
                      <a:endParaRPr lang="zh-CN" altLang="en-US" sz="1600" b="1" kern="1200" dirty="0">
                        <a:solidFill>
                          <a:schemeClr val="tx1"/>
                        </a:solidFill>
                        <a:latin typeface="微软雅黑" panose="020B0503020204020204" charset="-122"/>
                        <a:ea typeface="微软雅黑" panose="020B0503020204020204" charset="-122"/>
                        <a:cs typeface="+mn-cs"/>
                      </a:endParaRPr>
                    </a:p>
                  </a:txBody>
                  <a:tcPr marL="7633" marR="7633" marT="76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fontAlgn="ctr"/>
                      <a:r>
                        <a:rPr lang="zh-CN" altLang="en-US" sz="1600" b="1" kern="1200" dirty="0">
                          <a:solidFill>
                            <a:schemeClr val="tx1"/>
                          </a:solidFill>
                          <a:latin typeface="微软雅黑" panose="020B0503020204020204" charset="-122"/>
                          <a:ea typeface="微软雅黑" panose="020B0503020204020204" charset="-122"/>
                          <a:cs typeface="+mn-cs"/>
                        </a:rPr>
                        <a:t>风险点编号</a:t>
                      </a:r>
                      <a:endParaRPr lang="zh-CN" altLang="en-US" sz="1600" b="1" kern="1200" dirty="0">
                        <a:solidFill>
                          <a:schemeClr val="tx1"/>
                        </a:solidFill>
                        <a:latin typeface="微软雅黑" panose="020B0503020204020204" charset="-122"/>
                        <a:ea typeface="微软雅黑" panose="020B0503020204020204" charset="-122"/>
                        <a:cs typeface="+mn-cs"/>
                      </a:endParaRPr>
                    </a:p>
                  </a:txBody>
                  <a:tcPr marL="7633" marR="7633" marT="76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fontAlgn="ctr"/>
                      <a:r>
                        <a:rPr lang="zh-CN" altLang="en-US" sz="1600" b="1" kern="1200" dirty="0">
                          <a:solidFill>
                            <a:schemeClr val="tx1"/>
                          </a:solidFill>
                          <a:latin typeface="微软雅黑" panose="020B0503020204020204" charset="-122"/>
                          <a:ea typeface="微软雅黑" panose="020B0503020204020204" charset="-122"/>
                          <a:cs typeface="+mn-cs"/>
                        </a:rPr>
                        <a:t>主要防控措施</a:t>
                      </a:r>
                      <a:endParaRPr lang="zh-CN" altLang="en-US" sz="1600" b="1" kern="1200" dirty="0">
                        <a:solidFill>
                          <a:schemeClr val="tx1"/>
                        </a:solidFill>
                        <a:latin typeface="微软雅黑" panose="020B0503020204020204" charset="-122"/>
                        <a:ea typeface="微软雅黑" panose="020B0503020204020204" charset="-122"/>
                        <a:cs typeface="+mn-cs"/>
                      </a:endParaRPr>
                    </a:p>
                  </a:txBody>
                  <a:tcPr marL="7633" marR="7633" marT="76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fontAlgn="ctr"/>
                      <a:r>
                        <a:rPr lang="zh-CN" altLang="en-US" sz="1600" b="1" kern="1200" dirty="0">
                          <a:solidFill>
                            <a:schemeClr val="tx1"/>
                          </a:solidFill>
                          <a:latin typeface="微软雅黑" panose="020B0503020204020204" charset="-122"/>
                          <a:ea typeface="微软雅黑" panose="020B0503020204020204" charset="-122"/>
                          <a:cs typeface="+mn-cs"/>
                        </a:rPr>
                        <a:t>风险控制证明材料</a:t>
                      </a:r>
                      <a:endParaRPr lang="zh-CN" altLang="en-US" sz="1600" b="1" kern="1200" dirty="0">
                        <a:solidFill>
                          <a:schemeClr val="tx1"/>
                        </a:solidFill>
                        <a:latin typeface="微软雅黑" panose="020B0503020204020204" charset="-122"/>
                        <a:ea typeface="微软雅黑" panose="020B0503020204020204" charset="-122"/>
                        <a:cs typeface="+mn-cs"/>
                      </a:endParaRPr>
                    </a:p>
                  </a:txBody>
                  <a:tcPr marL="7633" marR="7633" marT="76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fontAlgn="ctr"/>
                      <a:r>
                        <a:rPr lang="zh-CN" altLang="en-US" sz="1600" b="1" kern="1200" dirty="0">
                          <a:solidFill>
                            <a:schemeClr val="tx1"/>
                          </a:solidFill>
                          <a:latin typeface="微软雅黑" panose="020B0503020204020204" charset="-122"/>
                          <a:ea typeface="微软雅黑" panose="020B0503020204020204" charset="-122"/>
                          <a:cs typeface="+mn-cs"/>
                        </a:rPr>
                        <a:t>责任人</a:t>
                      </a:r>
                      <a:endParaRPr lang="zh-CN" altLang="en-US" sz="1600" b="1" kern="1200" dirty="0">
                        <a:solidFill>
                          <a:schemeClr val="tx1"/>
                        </a:solidFill>
                        <a:latin typeface="微软雅黑" panose="020B0503020204020204" charset="-122"/>
                        <a:ea typeface="微软雅黑" panose="020B0503020204020204" charset="-122"/>
                        <a:cs typeface="+mn-cs"/>
                      </a:endParaRPr>
                    </a:p>
                  </a:txBody>
                  <a:tcPr marL="7633" marR="7633" marT="76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r>
              <a:tr h="1450975">
                <a:tc>
                  <a:txBody>
                    <a:bodyPr/>
                    <a:lstStyle/>
                    <a:p>
                      <a:pPr algn="ctr" fontAlgn="ctr"/>
                      <a:r>
                        <a:rPr lang="en-US" altLang="zh-CN" sz="1400" b="0" i="0" u="none" strike="noStrike" dirty="0">
                          <a:solidFill>
                            <a:srgbClr val="000000"/>
                          </a:solidFill>
                          <a:latin typeface="微软雅黑" panose="020B0503020204020204" charset="-122"/>
                          <a:ea typeface="微软雅黑" panose="020B0503020204020204" charset="-122"/>
                        </a:rPr>
                        <a:t>1</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7633" marR="7633" marT="76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zh-CN" altLang="en-US" sz="1400" b="0" i="0" u="none" strike="noStrike" dirty="0">
                        <a:solidFill>
                          <a:srgbClr val="000000"/>
                        </a:solidFill>
                        <a:latin typeface="微软雅黑" panose="020B0503020204020204" charset="-122"/>
                        <a:ea typeface="微软雅黑" panose="020B0503020204020204" charset="-122"/>
                        <a:sym typeface="+mn-ea"/>
                      </a:endParaRPr>
                    </a:p>
                  </a:txBody>
                  <a:tcPr marL="7633" marR="7633" marT="76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zh-CN" altLang="en-US" sz="1400" b="0" i="0" u="none" strike="noStrike" dirty="0">
                        <a:solidFill>
                          <a:schemeClr val="dk1"/>
                        </a:solidFill>
                        <a:latin typeface="微软雅黑" panose="020B0503020204020204" charset="-122"/>
                        <a:ea typeface="微软雅黑" panose="020B0503020204020204" charset="-122"/>
                        <a:sym typeface="+mn-ea"/>
                      </a:endParaRPr>
                    </a:p>
                  </a:txBody>
                  <a:tcPr marL="7633" marR="7633" marT="76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altLang="zh-CN" sz="1400" b="0" i="0" u="none" strike="noStrike" dirty="0">
                        <a:solidFill>
                          <a:srgbClr val="000000"/>
                        </a:solidFill>
                        <a:latin typeface="微软雅黑" panose="020B0503020204020204" charset="-122"/>
                        <a:ea typeface="微软雅黑" panose="020B0503020204020204" charset="-122"/>
                        <a:cs typeface="微软雅黑" panose="020B0503020204020204" charset="-122"/>
                        <a:sym typeface="+mn-ea"/>
                      </a:endParaRPr>
                    </a:p>
                  </a:txBody>
                  <a:tcPr marL="7633" marR="7633" marT="76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endParaRPr lang="zh-CN" altLang="en-US" sz="1400" b="0" i="0" u="none" strike="noStrike" dirty="0">
                        <a:solidFill>
                          <a:srgbClr val="000000"/>
                        </a:solidFill>
                        <a:latin typeface="微软雅黑" panose="020B0503020204020204" charset="-122"/>
                        <a:ea typeface="微软雅黑" panose="020B0503020204020204" charset="-122"/>
                        <a:cs typeface="微软雅黑" panose="020B0503020204020204" charset="-122"/>
                      </a:endParaRPr>
                    </a:p>
                  </a:txBody>
                  <a:tcPr marL="7633" marR="7633" marT="76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zh-CN" altLang="en-US" sz="1400" b="0" i="0" u="none" strike="noStrike" dirty="0">
                        <a:solidFill>
                          <a:srgbClr val="000000"/>
                        </a:solidFill>
                        <a:latin typeface="微软雅黑" panose="020B0503020204020204" charset="-122"/>
                        <a:ea typeface="微软雅黑" panose="020B0503020204020204" charset="-122"/>
                      </a:endParaRPr>
                    </a:p>
                  </a:txBody>
                  <a:tcPr marL="7633" marR="7633" marT="76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zh-CN" altLang="en-US" sz="1400" b="0" i="0" u="none" strike="noStrike" dirty="0">
                        <a:solidFill>
                          <a:srgbClr val="000000"/>
                        </a:solidFill>
                        <a:latin typeface="微软雅黑" panose="020B0503020204020204" charset="-122"/>
                        <a:ea typeface="微软雅黑" panose="020B0503020204020204" charset="-122"/>
                      </a:endParaRPr>
                    </a:p>
                  </a:txBody>
                  <a:tcPr marL="7633" marR="7633" marT="76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1518920">
                <a:tc>
                  <a:txBody>
                    <a:bodyPr/>
                    <a:lstStyle/>
                    <a:p>
                      <a:pPr algn="ctr" fontAlgn="ctr">
                        <a:buNone/>
                      </a:pPr>
                      <a:r>
                        <a:rPr lang="en-US" altLang="zh-CN" sz="1400" b="0" i="0" u="none" strike="noStrike" dirty="0">
                          <a:solidFill>
                            <a:srgbClr val="000000"/>
                          </a:solidFill>
                          <a:latin typeface="微软雅黑" panose="020B0503020204020204" charset="-122"/>
                          <a:ea typeface="微软雅黑" panose="020B0503020204020204" charset="-122"/>
                        </a:rPr>
                        <a:t>2</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7633" marR="7633" marT="76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ClrTx/>
                        <a:buSzTx/>
                        <a:buFontTx/>
                        <a:buNone/>
                      </a:pPr>
                      <a:endParaRPr lang="zh-CN" altLang="en-US" sz="1400" b="0" i="0" u="none" strike="noStrike" dirty="0">
                        <a:latin typeface="微软雅黑" panose="020B0503020204020204" charset="-122"/>
                        <a:ea typeface="微软雅黑" panose="020B0503020204020204" charset="-122"/>
                        <a:cs typeface="微软雅黑" panose="020B0503020204020204" charset="-122"/>
                        <a:sym typeface="+mn-ea"/>
                      </a:endParaRPr>
                    </a:p>
                  </a:txBody>
                  <a:tcPr marL="7633" marR="7633" marT="76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ClrTx/>
                        <a:buSzTx/>
                        <a:buFontTx/>
                        <a:buNone/>
                      </a:pPr>
                      <a:endParaRPr lang="zh-CN" altLang="en-US" sz="1400" b="0" i="0" u="none" strike="noStrike" dirty="0">
                        <a:latin typeface="微软雅黑" panose="020B0503020204020204" charset="-122"/>
                        <a:ea typeface="微软雅黑" panose="020B0503020204020204" charset="-122"/>
                        <a:cs typeface="微软雅黑" panose="020B0503020204020204" charset="-122"/>
                        <a:sym typeface="+mn-ea"/>
                      </a:endParaRPr>
                    </a:p>
                  </a:txBody>
                  <a:tcPr marL="7633" marR="7633" marT="76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ClrTx/>
                        <a:buSzTx/>
                        <a:buFontTx/>
                        <a:buNone/>
                      </a:pPr>
                      <a:endParaRPr lang="zh-CN" altLang="en-US" sz="1400" b="0" i="0" u="none" strike="noStrike" dirty="0">
                        <a:latin typeface="微软雅黑" panose="020B0503020204020204" charset="-122"/>
                        <a:ea typeface="微软雅黑" panose="020B0503020204020204" charset="-122"/>
                        <a:cs typeface="微软雅黑" panose="020B0503020204020204" charset="-122"/>
                        <a:sym typeface="+mn-ea"/>
                      </a:endParaRPr>
                    </a:p>
                  </a:txBody>
                  <a:tcPr marL="7633" marR="7633" marT="76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ClrTx/>
                        <a:buSzTx/>
                        <a:buFontTx/>
                        <a:buNone/>
                      </a:pPr>
                      <a:endParaRPr lang="zh-CN" altLang="en-US" sz="1400" b="0" i="0" u="none" strike="noStrike" dirty="0">
                        <a:latin typeface="微软雅黑" panose="020B0503020204020204" charset="-122"/>
                        <a:ea typeface="微软雅黑" panose="020B0503020204020204" charset="-122"/>
                        <a:cs typeface="微软雅黑" panose="020B0503020204020204" charset="-122"/>
                      </a:endParaRPr>
                    </a:p>
                  </a:txBody>
                  <a:tcPr marL="7633" marR="7633" marT="76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ClrTx/>
                        <a:buSzTx/>
                        <a:buFontTx/>
                        <a:buNone/>
                      </a:pPr>
                      <a:endParaRPr lang="zh-CN" altLang="en-US" sz="1400" b="0" i="0" u="none" strike="noStrike" dirty="0">
                        <a:latin typeface="微软雅黑" panose="020B0503020204020204" charset="-122"/>
                        <a:ea typeface="微软雅黑" panose="020B0503020204020204" charset="-122"/>
                        <a:cs typeface="微软雅黑" panose="020B0503020204020204" charset="-122"/>
                      </a:endParaRPr>
                    </a:p>
                  </a:txBody>
                  <a:tcPr marL="7633" marR="7633" marT="76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ClrTx/>
                        <a:buSzTx/>
                        <a:buFontTx/>
                        <a:buNone/>
                      </a:pPr>
                      <a:endParaRPr lang="zh-CN" altLang="en-US" sz="1400" b="0" i="0" u="none" strike="noStrike" dirty="0">
                        <a:latin typeface="微软雅黑" panose="020B0503020204020204" charset="-122"/>
                        <a:ea typeface="微软雅黑" panose="020B0503020204020204" charset="-122"/>
                        <a:cs typeface="微软雅黑" panose="020B0503020204020204" charset="-122"/>
                      </a:endParaRPr>
                    </a:p>
                  </a:txBody>
                  <a:tcPr marL="7633" marR="7633" marT="76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bl>
          </a:graphicData>
        </a:graphic>
      </p:graphicFrame>
      <p:sp>
        <p:nvSpPr>
          <p:cNvPr id="3" name="矩形 2"/>
          <p:cNvSpPr/>
          <p:nvPr/>
        </p:nvSpPr>
        <p:spPr>
          <a:xfrm>
            <a:off x="349268" y="5568720"/>
            <a:ext cx="7089459" cy="829945"/>
          </a:xfrm>
          <a:prstGeom prst="rect">
            <a:avLst/>
          </a:prstGeom>
        </p:spPr>
        <p:txBody>
          <a:bodyPr wrap="square">
            <a:spAutoFit/>
          </a:bodyPr>
          <a:p>
            <a:r>
              <a:rPr lang="zh-CN" sz="1600" b="1" dirty="0">
                <a:solidFill>
                  <a:srgbClr val="0070C0"/>
                </a:solidFill>
                <a:latin typeface="微软雅黑" panose="020B0503020204020204" charset="-122"/>
                <a:ea typeface="微软雅黑" panose="020B0503020204020204" charset="-122"/>
              </a:rPr>
              <a:t>该项目是否存在欠费风险：</a:t>
            </a:r>
            <a:endParaRPr lang="zh-CN" sz="1600" b="1" dirty="0">
              <a:solidFill>
                <a:srgbClr val="0070C0"/>
              </a:solidFill>
              <a:latin typeface="微软雅黑" panose="020B0503020204020204" charset="-122"/>
              <a:ea typeface="微软雅黑" panose="020B0503020204020204" charset="-122"/>
            </a:endParaRPr>
          </a:p>
          <a:p>
            <a:r>
              <a:rPr lang="zh-CN" sz="1600" b="1" dirty="0">
                <a:solidFill>
                  <a:srgbClr val="0070C0"/>
                </a:solidFill>
                <a:latin typeface="微软雅黑" panose="020B0503020204020204" charset="-122"/>
                <a:ea typeface="微软雅黑" panose="020B0503020204020204" charset="-122"/>
              </a:rPr>
              <a:t> </a:t>
            </a:r>
            <a:endParaRPr lang="zh-CN" sz="1600" b="1" dirty="0">
              <a:solidFill>
                <a:srgbClr val="0070C0"/>
              </a:solidFill>
              <a:latin typeface="微软雅黑" panose="020B0503020204020204" charset="-122"/>
              <a:ea typeface="微软雅黑" panose="020B0503020204020204" charset="-122"/>
            </a:endParaRPr>
          </a:p>
          <a:p>
            <a:r>
              <a:rPr lang="zh-CN" sz="1600" b="1" dirty="0">
                <a:solidFill>
                  <a:srgbClr val="0070C0"/>
                </a:solidFill>
                <a:latin typeface="微软雅黑" panose="020B0503020204020204" charset="-122"/>
                <a:ea typeface="微软雅黑" panose="020B0503020204020204" charset="-122"/>
              </a:rPr>
              <a:t>欠费防控措施（如有，则须填写）：</a:t>
            </a:r>
            <a:endParaRPr lang="zh-CN" sz="1600" b="1" dirty="0">
              <a:latin typeface="微软雅黑" panose="020B0503020204020204" charset="-122"/>
              <a:ea typeface="微软雅黑" panose="020B0503020204020204" charset="-122"/>
            </a:endParaRPr>
          </a:p>
        </p:txBody>
      </p:sp>
      <p:sp>
        <p:nvSpPr>
          <p:cNvPr id="2" name="灯片编号占位符 1"/>
          <p:cNvSpPr>
            <a:spLocks noGrp="1"/>
          </p:cNvSpPr>
          <p:nvPr>
            <p:ph type="sldNum" sz="quarter" idx="12"/>
          </p:nvPr>
        </p:nvSpPr>
        <p:spPr>
          <a:xfrm>
            <a:off x="9090660" y="6356350"/>
            <a:ext cx="2743200" cy="365125"/>
          </a:xfrm>
        </p:spPr>
        <p:txBody>
          <a:bodyPr/>
          <a:p>
            <a:r>
              <a:rPr lang="en-US" altLang="zh-CN" smtClean="0"/>
              <a:t>13</a:t>
            </a:r>
            <a:endParaRPr lang="en-US" altLang="zh-CN" smtClean="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635" y="-8890"/>
            <a:ext cx="12192635" cy="892175"/>
          </a:xfrm>
          <a:prstGeom prst="rect">
            <a:avLst/>
          </a:prstGeom>
        </p:spPr>
      </p:pic>
      <p:sp>
        <p:nvSpPr>
          <p:cNvPr id="7" name="Rectangle 2"/>
          <p:cNvSpPr>
            <a:spLocks noChangeArrowheads="1"/>
          </p:cNvSpPr>
          <p:nvPr/>
        </p:nvSpPr>
        <p:spPr bwMode="auto">
          <a:xfrm>
            <a:off x="87630" y="144780"/>
            <a:ext cx="7043738" cy="584697"/>
          </a:xfrm>
          <a:prstGeom prst="rect">
            <a:avLst/>
          </a:prstGeom>
          <a:noFill/>
          <a:ln w="9525">
            <a:noFill/>
            <a:miter lim="800000"/>
          </a:ln>
        </p:spPr>
        <p:txBody>
          <a:bodyPr anchor="b"/>
          <a:lstStyle/>
          <a:p>
            <a:pPr algn="l" eaLnBrk="0" hangingPunct="0">
              <a:buClrTx/>
              <a:buSzTx/>
              <a:buFontTx/>
            </a:pPr>
            <a:r>
              <a:rPr lang="zh-CN" altLang="en-US" sz="2800" b="1" dirty="0">
                <a:solidFill>
                  <a:schemeClr val="bg1"/>
                </a:solidFill>
                <a:latin typeface="黑体" panose="02010609060101010101" charset="-122"/>
                <a:ea typeface="黑体" panose="02010609060101010101" charset="-122"/>
              </a:rPr>
              <a:t>十三、决策事项点</a:t>
            </a:r>
            <a:endParaRPr lang="zh-CN" altLang="en-US" sz="2800" b="1" dirty="0">
              <a:solidFill>
                <a:schemeClr val="bg1"/>
              </a:solidFill>
              <a:latin typeface="黑体" panose="02010609060101010101" charset="-122"/>
              <a:ea typeface="黑体" panose="02010609060101010101" charset="-122"/>
            </a:endParaRPr>
          </a:p>
        </p:txBody>
      </p:sp>
      <p:sp>
        <p:nvSpPr>
          <p:cNvPr id="6" name="灯片编号占位符 5"/>
          <p:cNvSpPr>
            <a:spLocks noGrp="1"/>
          </p:cNvSpPr>
          <p:nvPr>
            <p:ph type="sldNum" sz="quarter" idx="12"/>
          </p:nvPr>
        </p:nvSpPr>
        <p:spPr>
          <a:xfrm>
            <a:off x="9090660" y="6356350"/>
            <a:ext cx="2743200" cy="365125"/>
          </a:xfrm>
        </p:spPr>
        <p:txBody>
          <a:bodyPr/>
          <a:lstStyle/>
          <a:p>
            <a:r>
              <a:rPr lang="en-US" altLang="zh-CN" smtClean="0"/>
              <a:t>14</a:t>
            </a:r>
            <a:endParaRPr lang="en-US" altLang="zh-CN" smtClean="0"/>
          </a:p>
        </p:txBody>
      </p:sp>
      <p:sp>
        <p:nvSpPr>
          <p:cNvPr id="8" name="TextBox 3"/>
          <p:cNvSpPr txBox="1"/>
          <p:nvPr/>
        </p:nvSpPr>
        <p:spPr>
          <a:xfrm>
            <a:off x="1062354" y="1823720"/>
            <a:ext cx="10165939" cy="3415030"/>
          </a:xfrm>
          <a:prstGeom prst="rect">
            <a:avLst/>
          </a:prstGeom>
          <a:noFill/>
        </p:spPr>
        <p:txBody>
          <a:bodyPr wrap="square" rtlCol="0">
            <a:spAutoFit/>
          </a:bodyPr>
          <a:lstStyle/>
          <a:p>
            <a:pPr marL="0" marR="0" lvl="0" algn="l" defTabSz="914400" rtl="0" eaLnBrk="0" fontAlgn="base" latinLnBrk="0" hangingPunct="0">
              <a:lnSpc>
                <a:spcPct val="150000"/>
              </a:lnSpc>
              <a:buClrTx/>
              <a:buSzTx/>
              <a:buFontTx/>
              <a:buNone/>
              <a:defRPr/>
            </a:pPr>
            <a:r>
              <a:rPr lang="en-US" altLang="zh-CN" b="1" dirty="0">
                <a:latin typeface="微软雅黑" panose="020B0503020204020204" charset="-122"/>
                <a:ea typeface="微软雅黑" panose="020B0503020204020204" charset="-122"/>
                <a:sym typeface="+mn-ea"/>
              </a:rPr>
              <a:t>1</a:t>
            </a:r>
            <a:r>
              <a:rPr lang="zh-CN" altLang="en-US" b="1" dirty="0">
                <a:latin typeface="微软雅黑" panose="020B0503020204020204" charset="-122"/>
                <a:ea typeface="微软雅黑" panose="020B0503020204020204" charset="-122"/>
                <a:sym typeface="+mn-ea"/>
              </a:rPr>
              <a:t>、是否同意该项目</a:t>
            </a:r>
            <a:r>
              <a:rPr lang="en-US" altLang="zh-CN" b="1" dirty="0">
                <a:latin typeface="微软雅黑" panose="020B0503020204020204" charset="-122"/>
                <a:ea typeface="微软雅黑" panose="020B0503020204020204" charset="-122"/>
                <a:sym typeface="+mn-ea"/>
              </a:rPr>
              <a:t>甄选</a:t>
            </a:r>
            <a:r>
              <a:rPr lang="zh-CN" altLang="en-US" b="1" dirty="0">
                <a:latin typeface="微软雅黑" panose="020B0503020204020204" charset="-122"/>
                <a:ea typeface="微软雅黑" panose="020B0503020204020204" charset="-122"/>
                <a:sym typeface="+mn-ea"/>
              </a:rPr>
              <a:t>结果：</a:t>
            </a:r>
            <a:endParaRPr lang="zh-CN" altLang="en-US" b="1" dirty="0">
              <a:latin typeface="微软雅黑" panose="020B0503020204020204" charset="-122"/>
              <a:ea typeface="微软雅黑" panose="020B0503020204020204" charset="-122"/>
              <a:sym typeface="+mn-ea"/>
            </a:endParaRPr>
          </a:p>
          <a:p>
            <a:pPr marL="0" marR="0" lvl="0" algn="l" defTabSz="914400" rtl="0" eaLnBrk="0" fontAlgn="base" latinLnBrk="0" hangingPunct="0">
              <a:lnSpc>
                <a:spcPct val="150000"/>
              </a:lnSpc>
              <a:buClrTx/>
              <a:buSzTx/>
              <a:buFontTx/>
              <a:buNone/>
              <a:defRPr/>
            </a:pPr>
            <a:r>
              <a:rPr lang="zh-CN" altLang="en-US" b="1" dirty="0">
                <a:latin typeface="微软雅黑" panose="020B0503020204020204" charset="-122"/>
                <a:ea typeface="微软雅黑" panose="020B0503020204020204" charset="-122"/>
                <a:sym typeface="+mn-ea"/>
              </a:rPr>
              <a:t>标包</a:t>
            </a:r>
            <a:r>
              <a:rPr lang="en-US" altLang="zh-CN" b="1" dirty="0">
                <a:latin typeface="微软雅黑" panose="020B0503020204020204" charset="-122"/>
                <a:ea typeface="微软雅黑" panose="020B0503020204020204" charset="-122"/>
                <a:sym typeface="+mn-ea"/>
              </a:rPr>
              <a:t>1</a:t>
            </a:r>
            <a:r>
              <a:rPr lang="zh-CN" altLang="en-US" b="1" dirty="0">
                <a:latin typeface="微软雅黑" panose="020B0503020204020204" charset="-122"/>
                <a:ea typeface="微软雅黑" panose="020B0503020204020204" charset="-122"/>
                <a:sym typeface="+mn-ea"/>
              </a:rPr>
              <a:t>第一中选候选人：</a:t>
            </a:r>
            <a:r>
              <a:rPr lang="en-US" altLang="zh-CN" b="1" dirty="0">
                <a:latin typeface="微软雅黑" panose="020B0503020204020204" charset="-122"/>
                <a:ea typeface="微软雅黑" panose="020B0503020204020204" charset="-122"/>
                <a:sym typeface="+mn-ea"/>
              </a:rPr>
              <a:t>XXXXXXXX</a:t>
            </a:r>
            <a:r>
              <a:rPr lang="zh-CN" altLang="en-US" b="1" dirty="0">
                <a:latin typeface="微软雅黑" panose="020B0503020204020204" charset="-122"/>
                <a:ea typeface="微软雅黑" panose="020B0503020204020204" charset="-122"/>
                <a:sym typeface="+mn-ea"/>
              </a:rPr>
              <a:t>，中选份额</a:t>
            </a:r>
            <a:r>
              <a:rPr lang="en-US" altLang="zh-CN" b="1" dirty="0">
                <a:latin typeface="微软雅黑" panose="020B0503020204020204" charset="-122"/>
                <a:ea typeface="微软雅黑" panose="020B0503020204020204" charset="-122"/>
                <a:sym typeface="+mn-ea"/>
              </a:rPr>
              <a:t>XXXX</a:t>
            </a:r>
            <a:r>
              <a:rPr lang="zh-CN" altLang="en-US" b="1" dirty="0">
                <a:latin typeface="微软雅黑" panose="020B0503020204020204" charset="-122"/>
                <a:ea typeface="微软雅黑" panose="020B0503020204020204" charset="-122"/>
                <a:sym typeface="+mn-ea"/>
              </a:rPr>
              <a:t>%，中选金额：不含税</a:t>
            </a:r>
            <a:r>
              <a:rPr lang="en-US" altLang="zh-CN" b="1" dirty="0">
                <a:latin typeface="微软雅黑" panose="020B0503020204020204" charset="-122"/>
                <a:ea typeface="微软雅黑" panose="020B0503020204020204" charset="-122"/>
                <a:sym typeface="+mn-ea"/>
              </a:rPr>
              <a:t>XXXXXXX</a:t>
            </a:r>
            <a:r>
              <a:rPr lang="zh-CN" altLang="en-US" b="1" dirty="0">
                <a:latin typeface="微软雅黑" panose="020B0503020204020204" charset="-122"/>
                <a:ea typeface="微软雅黑" panose="020B0503020204020204" charset="-122"/>
                <a:sym typeface="+mn-ea"/>
              </a:rPr>
              <a:t>元，含税</a:t>
            </a:r>
            <a:r>
              <a:rPr lang="en-US" altLang="zh-CN" b="1" dirty="0">
                <a:latin typeface="微软雅黑" panose="020B0503020204020204" charset="-122"/>
                <a:ea typeface="微软雅黑" panose="020B0503020204020204" charset="-122"/>
                <a:sym typeface="+mn-ea"/>
              </a:rPr>
              <a:t>XXXXXX</a:t>
            </a:r>
            <a:r>
              <a:rPr lang="zh-CN" altLang="en-US" b="1" dirty="0">
                <a:latin typeface="微软雅黑" panose="020B0503020204020204" charset="-122"/>
                <a:ea typeface="微软雅黑" panose="020B0503020204020204" charset="-122"/>
                <a:sym typeface="+mn-ea"/>
              </a:rPr>
              <a:t>元（其中资本开支</a:t>
            </a:r>
            <a:r>
              <a:rPr lang="en-US" altLang="zh-CN" b="1" dirty="0">
                <a:latin typeface="微软雅黑" panose="020B0503020204020204" charset="-122"/>
                <a:ea typeface="微软雅黑" panose="020B0503020204020204" charset="-122"/>
                <a:sym typeface="+mn-ea"/>
              </a:rPr>
              <a:t>XXXXX,</a:t>
            </a:r>
            <a:r>
              <a:rPr lang="zh-CN" altLang="en-US" b="1" dirty="0">
                <a:latin typeface="微软雅黑" panose="020B0503020204020204" charset="-122"/>
                <a:ea typeface="微软雅黑" panose="020B0503020204020204" charset="-122"/>
                <a:sym typeface="+mn-ea"/>
              </a:rPr>
              <a:t>成本开支</a:t>
            </a:r>
            <a:r>
              <a:rPr lang="en-US" altLang="zh-CN" b="1" dirty="0">
                <a:latin typeface="微软雅黑" panose="020B0503020204020204" charset="-122"/>
                <a:ea typeface="微软雅黑" panose="020B0503020204020204" charset="-122"/>
                <a:sym typeface="+mn-ea"/>
              </a:rPr>
              <a:t>XXXXX</a:t>
            </a:r>
            <a:r>
              <a:rPr lang="zh-CN" altLang="en-US" b="1" dirty="0">
                <a:latin typeface="微软雅黑" panose="020B0503020204020204" charset="-122"/>
                <a:ea typeface="微软雅黑" panose="020B0503020204020204" charset="-122"/>
                <a:sym typeface="+mn-ea"/>
              </a:rPr>
              <a:t>）；</a:t>
            </a:r>
            <a:endParaRPr lang="zh-CN" altLang="en-US" b="1" dirty="0">
              <a:latin typeface="微软雅黑" panose="020B0503020204020204" charset="-122"/>
              <a:ea typeface="微软雅黑" panose="020B0503020204020204" charset="-122"/>
              <a:sym typeface="+mn-ea"/>
            </a:endParaRPr>
          </a:p>
          <a:p>
            <a:pPr marL="0" marR="0" lvl="0" algn="l" defTabSz="914400" rtl="0" eaLnBrk="0" fontAlgn="base" latinLnBrk="0" hangingPunct="0">
              <a:lnSpc>
                <a:spcPct val="150000"/>
              </a:lnSpc>
              <a:buClrTx/>
              <a:buSzTx/>
              <a:buFontTx/>
              <a:buNone/>
              <a:defRPr/>
            </a:pPr>
            <a:r>
              <a:rPr lang="zh-CN" altLang="en-US" b="1" dirty="0">
                <a:latin typeface="微软雅黑" panose="020B0503020204020204" charset="-122"/>
                <a:ea typeface="微软雅黑" panose="020B0503020204020204" charset="-122"/>
                <a:sym typeface="+mn-ea"/>
              </a:rPr>
              <a:t>标包</a:t>
            </a:r>
            <a:r>
              <a:rPr lang="en-US" altLang="zh-CN" b="1" dirty="0">
                <a:latin typeface="微软雅黑" panose="020B0503020204020204" charset="-122"/>
                <a:ea typeface="微软雅黑" panose="020B0503020204020204" charset="-122"/>
                <a:sym typeface="+mn-ea"/>
              </a:rPr>
              <a:t>2</a:t>
            </a:r>
            <a:r>
              <a:rPr lang="zh-CN" altLang="en-US" b="1" dirty="0">
                <a:latin typeface="微软雅黑" panose="020B0503020204020204" charset="-122"/>
                <a:ea typeface="微软雅黑" panose="020B0503020204020204" charset="-122"/>
                <a:sym typeface="+mn-ea"/>
              </a:rPr>
              <a:t>第一中选候选人：</a:t>
            </a:r>
            <a:r>
              <a:rPr lang="en-US" altLang="zh-CN" b="1" dirty="0">
                <a:latin typeface="微软雅黑" panose="020B0503020204020204" charset="-122"/>
                <a:ea typeface="微软雅黑" panose="020B0503020204020204" charset="-122"/>
                <a:sym typeface="+mn-ea"/>
              </a:rPr>
              <a:t>XXXXXXXXX</a:t>
            </a:r>
            <a:r>
              <a:rPr lang="zh-CN" altLang="en-US" b="1" dirty="0">
                <a:latin typeface="微软雅黑" panose="020B0503020204020204" charset="-122"/>
                <a:ea typeface="微软雅黑" panose="020B0503020204020204" charset="-122"/>
                <a:sym typeface="+mn-ea"/>
              </a:rPr>
              <a:t>，中选金额：不含税</a:t>
            </a:r>
            <a:r>
              <a:rPr lang="en-US" altLang="zh-CN" b="1" dirty="0">
                <a:latin typeface="微软雅黑" panose="020B0503020204020204" charset="-122"/>
                <a:ea typeface="微软雅黑" panose="020B0503020204020204" charset="-122"/>
                <a:sym typeface="+mn-ea"/>
              </a:rPr>
              <a:t>XXXXXXX</a:t>
            </a:r>
            <a:r>
              <a:rPr lang="zh-CN" altLang="en-US" b="1" dirty="0">
                <a:latin typeface="微软雅黑" panose="020B0503020204020204" charset="-122"/>
                <a:ea typeface="微软雅黑" panose="020B0503020204020204" charset="-122"/>
                <a:sym typeface="+mn-ea"/>
              </a:rPr>
              <a:t>元，含税</a:t>
            </a:r>
            <a:r>
              <a:rPr lang="en-US" altLang="zh-CN" b="1" dirty="0">
                <a:latin typeface="微软雅黑" panose="020B0503020204020204" charset="-122"/>
                <a:ea typeface="微软雅黑" panose="020B0503020204020204" charset="-122"/>
                <a:sym typeface="+mn-ea"/>
              </a:rPr>
              <a:t>XXXXXX</a:t>
            </a:r>
            <a:r>
              <a:rPr lang="zh-CN" altLang="en-US" b="1" dirty="0">
                <a:latin typeface="微软雅黑" panose="020B0503020204020204" charset="-122"/>
                <a:ea typeface="微软雅黑" panose="020B0503020204020204" charset="-122"/>
                <a:sym typeface="+mn-ea"/>
              </a:rPr>
              <a:t>元。</a:t>
            </a:r>
            <a:endParaRPr lang="zh-CN" altLang="en-US" b="1" dirty="0">
              <a:latin typeface="微软雅黑" panose="020B0503020204020204" charset="-122"/>
              <a:ea typeface="微软雅黑" panose="020B0503020204020204" charset="-122"/>
              <a:sym typeface="+mn-ea"/>
            </a:endParaRPr>
          </a:p>
          <a:p>
            <a:pPr>
              <a:lnSpc>
                <a:spcPct val="150000"/>
              </a:lnSpc>
            </a:pPr>
            <a:endParaRPr lang="zh-CN" altLang="en-US" b="1" dirty="0">
              <a:latin typeface="微软雅黑" panose="020B0503020204020204" charset="-122"/>
              <a:ea typeface="微软雅黑" panose="020B0503020204020204" charset="-122"/>
            </a:endParaRPr>
          </a:p>
          <a:p>
            <a:pPr>
              <a:lnSpc>
                <a:spcPct val="150000"/>
              </a:lnSpc>
            </a:pPr>
            <a:r>
              <a:rPr lang="en-US" altLang="zh-CN" b="1" dirty="0">
                <a:latin typeface="微软雅黑" panose="020B0503020204020204" charset="-122"/>
                <a:ea typeface="微软雅黑" panose="020B0503020204020204" charset="-122"/>
                <a:sym typeface="+mn-ea"/>
              </a:rPr>
              <a:t>2</a:t>
            </a:r>
            <a:r>
              <a:rPr lang="zh-CN" altLang="en-US" b="1" dirty="0">
                <a:latin typeface="微软雅黑" panose="020B0503020204020204" charset="-122"/>
                <a:ea typeface="微软雅黑" panose="020B0503020204020204" charset="-122"/>
                <a:sym typeface="+mn-ea"/>
              </a:rPr>
              <a:t>、是否同意该</a:t>
            </a:r>
            <a:r>
              <a:rPr lang="zh-CN" altLang="en-US" b="1" dirty="0" smtClean="0">
                <a:latin typeface="微软雅黑" panose="020B0503020204020204" charset="-122"/>
                <a:ea typeface="微软雅黑" panose="020B0503020204020204" charset="-122"/>
                <a:sym typeface="+mn-ea"/>
              </a:rPr>
              <a:t>项目立项，立项</a:t>
            </a:r>
            <a:r>
              <a:rPr lang="zh-CN" altLang="en-US" b="1" dirty="0">
                <a:latin typeface="微软雅黑" panose="020B0503020204020204" charset="-122"/>
                <a:ea typeface="微软雅黑" panose="020B0503020204020204" charset="-122"/>
                <a:sym typeface="+mn-ea"/>
              </a:rPr>
              <a:t>金额为</a:t>
            </a:r>
            <a:r>
              <a:rPr lang="en-US" altLang="zh-CN" b="1" dirty="0">
                <a:latin typeface="微软雅黑" panose="020B0503020204020204" charset="-122"/>
                <a:ea typeface="微软雅黑" panose="020B0503020204020204" charset="-122"/>
                <a:sym typeface="+mn-ea"/>
              </a:rPr>
              <a:t>XXXXXX</a:t>
            </a:r>
            <a:r>
              <a:rPr lang="zh-CN" altLang="en-US" b="1" dirty="0">
                <a:latin typeface="微软雅黑" panose="020B0503020204020204" charset="-122"/>
                <a:ea typeface="微软雅黑" panose="020B0503020204020204" charset="-122"/>
                <a:sym typeface="+mn-ea"/>
              </a:rPr>
              <a:t>元（不含税</a:t>
            </a:r>
            <a:r>
              <a:rPr lang="zh-CN" altLang="en-US" b="1" dirty="0" smtClean="0">
                <a:latin typeface="微软雅黑" panose="020B0503020204020204" charset="-122"/>
                <a:ea typeface="微软雅黑" panose="020B0503020204020204" charset="-122"/>
                <a:sym typeface="+mn-ea"/>
              </a:rPr>
              <a:t>），其中</a:t>
            </a:r>
            <a:r>
              <a:rPr lang="en-US" altLang="zh-CN" b="1" dirty="0" smtClean="0">
                <a:latin typeface="微软雅黑" panose="020B0503020204020204" charset="-122"/>
                <a:ea typeface="微软雅黑" panose="020B0503020204020204" charset="-122"/>
                <a:sym typeface="+mn-ea"/>
              </a:rPr>
              <a:t>IT</a:t>
            </a:r>
            <a:r>
              <a:rPr lang="zh-CN" altLang="en-US" b="1" dirty="0" smtClean="0">
                <a:latin typeface="微软雅黑" panose="020B0503020204020204" charset="-122"/>
                <a:ea typeface="微软雅黑" panose="020B0503020204020204" charset="-122"/>
                <a:sym typeface="+mn-ea"/>
              </a:rPr>
              <a:t>（投资</a:t>
            </a:r>
            <a:r>
              <a:rPr lang="en-US" altLang="zh-CN" b="1" dirty="0" smtClean="0">
                <a:latin typeface="微软雅黑" panose="020B0503020204020204" charset="-122"/>
                <a:ea typeface="微软雅黑" panose="020B0503020204020204" charset="-122"/>
                <a:sym typeface="+mn-ea"/>
              </a:rPr>
              <a:t>/</a:t>
            </a:r>
            <a:r>
              <a:rPr lang="zh-CN" altLang="en-US" b="1" dirty="0" smtClean="0">
                <a:latin typeface="微软雅黑" panose="020B0503020204020204" charset="-122"/>
                <a:ea typeface="微软雅黑" panose="020B0503020204020204" charset="-122"/>
                <a:sym typeface="+mn-ea"/>
              </a:rPr>
              <a:t>成本开支）部分</a:t>
            </a:r>
            <a:r>
              <a:rPr lang="en-US" altLang="zh-CN" b="1" dirty="0" smtClean="0">
                <a:latin typeface="微软雅黑" panose="020B0503020204020204" charset="-122"/>
                <a:ea typeface="微软雅黑" panose="020B0503020204020204" charset="-122"/>
                <a:sym typeface="+mn-ea"/>
              </a:rPr>
              <a:t>XXX</a:t>
            </a:r>
            <a:r>
              <a:rPr lang="zh-CN" altLang="en-US" b="1" dirty="0" smtClean="0">
                <a:latin typeface="微软雅黑" panose="020B0503020204020204" charset="-122"/>
                <a:ea typeface="微软雅黑" panose="020B0503020204020204" charset="-122"/>
                <a:sym typeface="+mn-ea"/>
              </a:rPr>
              <a:t>元（不含税），专线建设</a:t>
            </a:r>
            <a:r>
              <a:rPr lang="en-US" altLang="zh-CN" b="1" dirty="0" smtClean="0">
                <a:latin typeface="微软雅黑" panose="020B0503020204020204" charset="-122"/>
                <a:ea typeface="微软雅黑" panose="020B0503020204020204" charset="-122"/>
                <a:sym typeface="+mn-ea"/>
              </a:rPr>
              <a:t>XXXX</a:t>
            </a:r>
            <a:r>
              <a:rPr lang="zh-CN" altLang="en-US" b="1" dirty="0" smtClean="0">
                <a:latin typeface="微软雅黑" panose="020B0503020204020204" charset="-122"/>
                <a:ea typeface="微软雅黑" panose="020B0503020204020204" charset="-122"/>
                <a:sym typeface="+mn-ea"/>
              </a:rPr>
              <a:t>元</a:t>
            </a:r>
            <a:r>
              <a:rPr lang="en-US" altLang="zh-CN" b="1" dirty="0" smtClean="0">
                <a:latin typeface="微软雅黑" panose="020B0503020204020204" charset="-122"/>
                <a:ea typeface="微软雅黑" panose="020B0503020204020204" charset="-122"/>
                <a:sym typeface="+mn-ea"/>
              </a:rPr>
              <a:t>(</a:t>
            </a:r>
            <a:r>
              <a:rPr lang="zh-CN" altLang="en-US" b="1" dirty="0" smtClean="0">
                <a:latin typeface="微软雅黑" panose="020B0503020204020204" charset="-122"/>
                <a:ea typeface="微软雅黑" panose="020B0503020204020204" charset="-122"/>
                <a:sym typeface="+mn-ea"/>
              </a:rPr>
              <a:t>不含税</a:t>
            </a:r>
            <a:r>
              <a:rPr lang="en-US" altLang="zh-CN" b="1" dirty="0" smtClean="0">
                <a:latin typeface="微软雅黑" panose="020B0503020204020204" charset="-122"/>
                <a:ea typeface="微软雅黑" panose="020B0503020204020204" charset="-122"/>
                <a:sym typeface="+mn-ea"/>
              </a:rPr>
              <a:t>)</a:t>
            </a:r>
            <a:r>
              <a:rPr lang="zh-CN" altLang="en-US" b="1" dirty="0" smtClean="0">
                <a:latin typeface="微软雅黑" panose="020B0503020204020204" charset="-122"/>
                <a:ea typeface="微软雅黑" panose="020B0503020204020204" charset="-122"/>
                <a:sym typeface="+mn-ea"/>
              </a:rPr>
              <a:t>？</a:t>
            </a:r>
            <a:endParaRPr lang="en-US" altLang="zh-CN" b="1" dirty="0" smtClean="0">
              <a:latin typeface="微软雅黑" panose="020B0503020204020204" charset="-122"/>
              <a:ea typeface="微软雅黑" panose="020B0503020204020204" charset="-122"/>
              <a:sym typeface="+mn-ea"/>
            </a:endParaRPr>
          </a:p>
          <a:p>
            <a:pPr>
              <a:lnSpc>
                <a:spcPct val="150000"/>
              </a:lnSpc>
            </a:pPr>
            <a:endParaRPr lang="zh-CN" altLang="en-US" b="1" dirty="0" smtClean="0">
              <a:solidFill>
                <a:srgbClr val="FF0000"/>
              </a:solidFill>
              <a:latin typeface="微软雅黑" panose="020B0503020204020204" charset="-122"/>
              <a:ea typeface="微软雅黑" panose="020B0503020204020204" charset="-122"/>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635" y="-8890"/>
            <a:ext cx="12192635" cy="892175"/>
          </a:xfrm>
          <a:prstGeom prst="rect">
            <a:avLst/>
          </a:prstGeom>
        </p:spPr>
      </p:pic>
      <p:sp>
        <p:nvSpPr>
          <p:cNvPr id="7" name="Rectangle 2"/>
          <p:cNvSpPr>
            <a:spLocks noChangeArrowheads="1"/>
          </p:cNvSpPr>
          <p:nvPr/>
        </p:nvSpPr>
        <p:spPr bwMode="auto">
          <a:xfrm>
            <a:off x="114300" y="144780"/>
            <a:ext cx="10085705" cy="584835"/>
          </a:xfrm>
          <a:prstGeom prst="rect">
            <a:avLst/>
          </a:prstGeom>
          <a:noFill/>
          <a:ln w="9525">
            <a:noFill/>
            <a:miter lim="800000"/>
          </a:ln>
        </p:spPr>
        <p:txBody>
          <a:bodyPr anchor="b">
            <a:noAutofit/>
          </a:bodyPr>
          <a:lstStyle/>
          <a:p>
            <a:pPr lvl="0" algn="l" eaLnBrk="0" hangingPunct="0">
              <a:buClrTx/>
              <a:buSzTx/>
              <a:buFontTx/>
            </a:pPr>
            <a:endParaRPr lang="zh-CN" altLang="en-US" sz="2800" b="1" dirty="0">
              <a:solidFill>
                <a:srgbClr val="FF0000"/>
              </a:solidFill>
              <a:highlight>
                <a:srgbClr val="FFFF00"/>
              </a:highlight>
              <a:latin typeface="微软雅黑" panose="020B0503020204020204" charset="-122"/>
              <a:ea typeface="微软雅黑" panose="020B0503020204020204" charset="-122"/>
              <a:sym typeface="+mn-ea"/>
            </a:endParaRPr>
          </a:p>
        </p:txBody>
      </p:sp>
      <p:sp>
        <p:nvSpPr>
          <p:cNvPr id="3" name="Rectangle 2"/>
          <p:cNvSpPr>
            <a:spLocks noChangeArrowheads="1"/>
          </p:cNvSpPr>
          <p:nvPr/>
        </p:nvSpPr>
        <p:spPr bwMode="auto">
          <a:xfrm>
            <a:off x="158750" y="144780"/>
            <a:ext cx="10085705" cy="584835"/>
          </a:xfrm>
          <a:prstGeom prst="rect">
            <a:avLst/>
          </a:prstGeom>
          <a:noFill/>
          <a:ln w="9525">
            <a:noFill/>
            <a:miter lim="800000"/>
          </a:ln>
        </p:spPr>
        <p:txBody>
          <a:bodyPr anchor="b"/>
          <a:p>
            <a:pPr eaLnBrk="0" hangingPunct="0"/>
            <a:r>
              <a:rPr lang="zh-CN" altLang="en-US" sz="2800" b="1" dirty="0">
                <a:solidFill>
                  <a:schemeClr val="bg1"/>
                </a:solidFill>
                <a:latin typeface="黑体" panose="02010609060101010101" charset="-122"/>
                <a:ea typeface="黑体" panose="02010609060101010101" charset="-122"/>
                <a:sym typeface="+mn-ea"/>
              </a:rPr>
              <a:t>附件</a:t>
            </a:r>
            <a:r>
              <a:rPr lang="en-US" altLang="zh-CN" sz="2800" b="1" dirty="0">
                <a:solidFill>
                  <a:schemeClr val="bg1"/>
                </a:solidFill>
                <a:latin typeface="黑体" panose="02010609060101010101" charset="-122"/>
                <a:ea typeface="黑体" panose="02010609060101010101" charset="-122"/>
                <a:sym typeface="+mn-ea"/>
              </a:rPr>
              <a:t>1—</a:t>
            </a:r>
            <a:r>
              <a:rPr lang="zh-CN" altLang="en-US" sz="2800" b="1" dirty="0">
                <a:solidFill>
                  <a:schemeClr val="bg1"/>
                </a:solidFill>
                <a:latin typeface="黑体" panose="02010609060101010101" charset="-122"/>
                <a:ea typeface="黑体" panose="02010609060101010101" charset="-122"/>
                <a:sym typeface="+mn-ea"/>
              </a:rPr>
              <a:t>招标文件关键页（直签项目请提供客户需求确认文件）</a:t>
            </a:r>
            <a:endParaRPr lang="zh-CN" altLang="en-US" sz="2800" b="1" dirty="0">
              <a:solidFill>
                <a:schemeClr val="bg1"/>
              </a:solidFill>
              <a:latin typeface="黑体" panose="02010609060101010101" charset="-122"/>
              <a:ea typeface="黑体" panose="02010609060101010101" charset="-122"/>
              <a:sym typeface="+mn-ea"/>
            </a:endParaRPr>
          </a:p>
        </p:txBody>
      </p:sp>
      <p:sp>
        <p:nvSpPr>
          <p:cNvPr id="2" name="灯片编号占位符 1"/>
          <p:cNvSpPr>
            <a:spLocks noGrp="1"/>
          </p:cNvSpPr>
          <p:nvPr>
            <p:ph type="sldNum" sz="quarter" idx="12"/>
          </p:nvPr>
        </p:nvSpPr>
        <p:spPr>
          <a:xfrm>
            <a:off x="9099550" y="6356350"/>
            <a:ext cx="2743200" cy="365125"/>
          </a:xfrm>
        </p:spPr>
        <p:txBody>
          <a:bodyPr/>
          <a:p>
            <a:r>
              <a:rPr lang="en-US" altLang="zh-CN" smtClean="0"/>
              <a:t>15</a:t>
            </a:r>
            <a:endParaRPr lang="en-US" altLang="zh-CN" smtClean="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635" y="-8890"/>
            <a:ext cx="12192635" cy="892175"/>
          </a:xfrm>
          <a:prstGeom prst="rect">
            <a:avLst/>
          </a:prstGeom>
        </p:spPr>
      </p:pic>
      <p:sp>
        <p:nvSpPr>
          <p:cNvPr id="7" name="Rectangle 2"/>
          <p:cNvSpPr>
            <a:spLocks noChangeArrowheads="1"/>
          </p:cNvSpPr>
          <p:nvPr/>
        </p:nvSpPr>
        <p:spPr bwMode="auto">
          <a:xfrm>
            <a:off x="78740" y="144780"/>
            <a:ext cx="10549890" cy="584835"/>
          </a:xfrm>
          <a:prstGeom prst="rect">
            <a:avLst/>
          </a:prstGeom>
          <a:noFill/>
          <a:ln w="9525">
            <a:noFill/>
            <a:miter lim="800000"/>
          </a:ln>
        </p:spPr>
        <p:txBody>
          <a:bodyPr anchor="b"/>
          <a:lstStyle/>
          <a:p>
            <a:pPr eaLnBrk="0" hangingPunct="0"/>
            <a:r>
              <a:rPr lang="zh-CN" altLang="en-US" sz="2800" b="1" dirty="0">
                <a:solidFill>
                  <a:schemeClr val="bg1"/>
                </a:solidFill>
                <a:latin typeface="黑体" panose="02010609060101010101" charset="-122"/>
                <a:ea typeface="黑体" panose="02010609060101010101" charset="-122"/>
              </a:rPr>
              <a:t>附件</a:t>
            </a:r>
            <a:r>
              <a:rPr lang="en-US" altLang="zh-CN" sz="2800" b="1" dirty="0">
                <a:solidFill>
                  <a:schemeClr val="bg1"/>
                </a:solidFill>
                <a:latin typeface="黑体" panose="02010609060101010101" charset="-122"/>
                <a:ea typeface="黑体" panose="02010609060101010101" charset="-122"/>
              </a:rPr>
              <a:t>2</a:t>
            </a:r>
            <a:r>
              <a:rPr lang="zh-CN" altLang="en-US" sz="2800" b="1" dirty="0">
                <a:solidFill>
                  <a:schemeClr val="bg1"/>
                </a:solidFill>
                <a:latin typeface="黑体" panose="02010609060101010101" charset="-122"/>
                <a:ea typeface="黑体" panose="02010609060101010101" charset="-122"/>
              </a:rPr>
              <a:t>—商务决策截图（非招投标项目不需要提供）</a:t>
            </a:r>
            <a:endParaRPr lang="en-US" altLang="zh-CN" sz="2800" b="1" dirty="0">
              <a:solidFill>
                <a:schemeClr val="bg1"/>
              </a:solidFill>
              <a:latin typeface="黑体" panose="02010609060101010101" charset="-122"/>
              <a:ea typeface="黑体" panose="02010609060101010101" charset="-122"/>
            </a:endParaRPr>
          </a:p>
        </p:txBody>
      </p:sp>
      <p:sp>
        <p:nvSpPr>
          <p:cNvPr id="9" name="灯片编号占位符 8"/>
          <p:cNvSpPr>
            <a:spLocks noGrp="1"/>
          </p:cNvSpPr>
          <p:nvPr>
            <p:ph type="sldNum" sz="quarter" idx="12"/>
          </p:nvPr>
        </p:nvSpPr>
        <p:spPr>
          <a:xfrm>
            <a:off x="9099550" y="6356350"/>
            <a:ext cx="2743200" cy="365125"/>
          </a:xfrm>
        </p:spPr>
        <p:txBody>
          <a:bodyPr/>
          <a:lstStyle/>
          <a:p>
            <a:r>
              <a:rPr lang="en-US" altLang="zh-CN" smtClean="0"/>
              <a:t>16</a:t>
            </a:r>
            <a:endParaRPr lang="en-US" altLang="zh-CN" smtClean="0"/>
          </a:p>
        </p:txBody>
      </p:sp>
      <p:sp>
        <p:nvSpPr>
          <p:cNvPr id="2" name="文本框 1"/>
          <p:cNvSpPr txBox="1"/>
          <p:nvPr/>
        </p:nvSpPr>
        <p:spPr>
          <a:xfrm>
            <a:off x="1694180" y="1511300"/>
            <a:ext cx="7260590" cy="922020"/>
          </a:xfrm>
          <a:prstGeom prst="rect">
            <a:avLst/>
          </a:prstGeom>
          <a:noFill/>
        </p:spPr>
        <p:txBody>
          <a:bodyPr wrap="square" rtlCol="0">
            <a:spAutoFit/>
          </a:bodyPr>
          <a:p>
            <a:pPr>
              <a:lnSpc>
                <a:spcPct val="150000"/>
              </a:lnSpc>
            </a:pPr>
            <a:r>
              <a:rPr lang="zh-CN" altLang="en-US">
                <a:solidFill>
                  <a:srgbClr val="FF0000"/>
                </a:solidFill>
              </a:rPr>
              <a:t>请红框圈出截图中的【项目毛利率】、【项目净现值率】；如立项决策评估效益低于商务决策效益，请做原因说明。</a:t>
            </a:r>
            <a:endParaRPr lang="zh-CN" altLang="en-US">
              <a:solidFill>
                <a:srgbClr val="FF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635" y="-8890"/>
            <a:ext cx="12192635" cy="892175"/>
          </a:xfrm>
          <a:prstGeom prst="rect">
            <a:avLst/>
          </a:prstGeom>
        </p:spPr>
      </p:pic>
      <p:sp>
        <p:nvSpPr>
          <p:cNvPr id="7" name="Rectangle 2"/>
          <p:cNvSpPr>
            <a:spLocks noChangeArrowheads="1"/>
          </p:cNvSpPr>
          <p:nvPr/>
        </p:nvSpPr>
        <p:spPr bwMode="auto">
          <a:xfrm>
            <a:off x="78740" y="144780"/>
            <a:ext cx="10549890" cy="584835"/>
          </a:xfrm>
          <a:prstGeom prst="rect">
            <a:avLst/>
          </a:prstGeom>
          <a:noFill/>
          <a:ln w="9525">
            <a:noFill/>
            <a:miter lim="800000"/>
          </a:ln>
        </p:spPr>
        <p:txBody>
          <a:bodyPr anchor="b"/>
          <a:lstStyle/>
          <a:p>
            <a:pPr eaLnBrk="0" hangingPunct="0"/>
            <a:r>
              <a:rPr lang="zh-CN" altLang="en-US" sz="2800" b="1" dirty="0">
                <a:solidFill>
                  <a:schemeClr val="bg1"/>
                </a:solidFill>
                <a:latin typeface="黑体" panose="02010609060101010101" charset="-122"/>
                <a:ea typeface="黑体" panose="02010609060101010101" charset="-122"/>
              </a:rPr>
              <a:t>附件</a:t>
            </a:r>
            <a:r>
              <a:rPr lang="en-US" altLang="zh-CN" sz="2800" b="1" dirty="0">
                <a:solidFill>
                  <a:schemeClr val="bg1"/>
                </a:solidFill>
                <a:latin typeface="黑体" panose="02010609060101010101" charset="-122"/>
                <a:ea typeface="黑体" panose="02010609060101010101" charset="-122"/>
              </a:rPr>
              <a:t>3</a:t>
            </a:r>
            <a:r>
              <a:rPr lang="zh-CN" altLang="en-US" sz="2800" b="1" dirty="0">
                <a:solidFill>
                  <a:schemeClr val="bg1"/>
                </a:solidFill>
                <a:latin typeface="黑体" panose="02010609060101010101" charset="-122"/>
                <a:ea typeface="黑体" panose="02010609060101010101" charset="-122"/>
              </a:rPr>
              <a:t>—中标通知书（非招投标项目不需要提供）</a:t>
            </a:r>
            <a:endParaRPr lang="en-US" altLang="zh-CN" sz="2800" b="1" dirty="0">
              <a:solidFill>
                <a:schemeClr val="bg1"/>
              </a:solidFill>
              <a:latin typeface="黑体" panose="02010609060101010101" charset="-122"/>
              <a:ea typeface="黑体" panose="02010609060101010101" charset="-122"/>
            </a:endParaRPr>
          </a:p>
        </p:txBody>
      </p:sp>
      <p:sp>
        <p:nvSpPr>
          <p:cNvPr id="9" name="灯片编号占位符 8"/>
          <p:cNvSpPr>
            <a:spLocks noGrp="1"/>
          </p:cNvSpPr>
          <p:nvPr>
            <p:ph type="sldNum" sz="quarter" idx="12"/>
          </p:nvPr>
        </p:nvSpPr>
        <p:spPr>
          <a:xfrm>
            <a:off x="9117330" y="6356350"/>
            <a:ext cx="2743200" cy="365125"/>
          </a:xfrm>
        </p:spPr>
        <p:txBody>
          <a:bodyPr/>
          <a:lstStyle/>
          <a:p>
            <a:r>
              <a:rPr lang="en-US" altLang="zh-CN" smtClean="0"/>
              <a:t>17</a:t>
            </a:r>
            <a:endParaRPr lang="en-US" altLang="zh-CN" smtClean="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635" y="-8890"/>
            <a:ext cx="12192635" cy="892175"/>
          </a:xfrm>
          <a:prstGeom prst="rect">
            <a:avLst/>
          </a:prstGeom>
        </p:spPr>
      </p:pic>
      <p:sp>
        <p:nvSpPr>
          <p:cNvPr id="7" name="Rectangle 2"/>
          <p:cNvSpPr>
            <a:spLocks noChangeArrowheads="1"/>
          </p:cNvSpPr>
          <p:nvPr/>
        </p:nvSpPr>
        <p:spPr bwMode="auto">
          <a:xfrm>
            <a:off x="78740" y="144780"/>
            <a:ext cx="10549890" cy="584835"/>
          </a:xfrm>
          <a:prstGeom prst="rect">
            <a:avLst/>
          </a:prstGeom>
          <a:noFill/>
          <a:ln w="9525">
            <a:noFill/>
            <a:miter lim="800000"/>
          </a:ln>
        </p:spPr>
        <p:txBody>
          <a:bodyPr anchor="b"/>
          <a:lstStyle/>
          <a:p>
            <a:pPr eaLnBrk="0" hangingPunct="0"/>
            <a:r>
              <a:rPr lang="zh-CN" altLang="en-US" sz="2800" b="1" dirty="0">
                <a:solidFill>
                  <a:schemeClr val="bg1"/>
                </a:solidFill>
                <a:latin typeface="黑体" panose="02010609060101010101" charset="-122"/>
                <a:ea typeface="黑体" panose="02010609060101010101" charset="-122"/>
              </a:rPr>
              <a:t>附件</a:t>
            </a:r>
            <a:r>
              <a:rPr lang="en-US" altLang="zh-CN" sz="2800" b="1" dirty="0">
                <a:solidFill>
                  <a:schemeClr val="bg1"/>
                </a:solidFill>
                <a:latin typeface="黑体" panose="02010609060101010101" charset="-122"/>
                <a:ea typeface="黑体" panose="02010609060101010101" charset="-122"/>
              </a:rPr>
              <a:t>4</a:t>
            </a:r>
            <a:r>
              <a:rPr lang="zh-CN" altLang="en-US" sz="2800" b="1" dirty="0">
                <a:solidFill>
                  <a:schemeClr val="bg1"/>
                </a:solidFill>
                <a:latin typeface="黑体" panose="02010609060101010101" charset="-122"/>
                <a:ea typeface="黑体" panose="02010609060101010101" charset="-122"/>
              </a:rPr>
              <a:t>—方案会审纪要</a:t>
            </a:r>
            <a:r>
              <a:rPr lang="en-US" altLang="zh-CN" sz="2800" b="1" dirty="0">
                <a:solidFill>
                  <a:schemeClr val="bg1"/>
                </a:solidFill>
                <a:latin typeface="黑体" panose="02010609060101010101" charset="-122"/>
                <a:ea typeface="黑体" panose="02010609060101010101" charset="-122"/>
              </a:rPr>
              <a:t>&amp;</a:t>
            </a:r>
            <a:r>
              <a:rPr lang="zh-CN" altLang="en-US" sz="2800" b="1" dirty="0">
                <a:solidFill>
                  <a:schemeClr val="bg1"/>
                </a:solidFill>
                <a:latin typeface="黑体" panose="02010609060101010101" charset="-122"/>
                <a:ea typeface="黑体" panose="02010609060101010101" charset="-122"/>
              </a:rPr>
              <a:t>立项申请截图</a:t>
            </a:r>
            <a:endParaRPr lang="en-US" altLang="zh-CN" sz="2800" b="1" dirty="0">
              <a:solidFill>
                <a:schemeClr val="bg1"/>
              </a:solidFill>
              <a:latin typeface="黑体" panose="02010609060101010101" charset="-122"/>
              <a:ea typeface="黑体" panose="02010609060101010101" charset="-122"/>
            </a:endParaRPr>
          </a:p>
        </p:txBody>
      </p:sp>
      <p:sp>
        <p:nvSpPr>
          <p:cNvPr id="9" name="灯片编号占位符 8"/>
          <p:cNvSpPr>
            <a:spLocks noGrp="1"/>
          </p:cNvSpPr>
          <p:nvPr>
            <p:ph type="sldNum" sz="quarter" idx="12"/>
          </p:nvPr>
        </p:nvSpPr>
        <p:spPr>
          <a:xfrm>
            <a:off x="9090660" y="6356350"/>
            <a:ext cx="2743200" cy="365125"/>
          </a:xfrm>
        </p:spPr>
        <p:txBody>
          <a:bodyPr/>
          <a:lstStyle/>
          <a:p>
            <a:r>
              <a:rPr lang="en-US" altLang="zh-CN" smtClean="0"/>
              <a:t>18</a:t>
            </a:r>
            <a:endParaRPr lang="en-US" altLang="zh-CN" smtClean="0"/>
          </a:p>
        </p:txBody>
      </p:sp>
      <p:sp>
        <p:nvSpPr>
          <p:cNvPr id="2" name="文本框 1"/>
          <p:cNvSpPr txBox="1"/>
          <p:nvPr/>
        </p:nvSpPr>
        <p:spPr>
          <a:xfrm>
            <a:off x="457835" y="1375410"/>
            <a:ext cx="4417060" cy="506730"/>
          </a:xfrm>
          <a:prstGeom prst="rect">
            <a:avLst/>
          </a:prstGeom>
          <a:noFill/>
        </p:spPr>
        <p:txBody>
          <a:bodyPr wrap="square" rtlCol="0">
            <a:spAutoFit/>
          </a:bodyPr>
          <a:p>
            <a:pPr>
              <a:lnSpc>
                <a:spcPct val="150000"/>
              </a:lnSpc>
            </a:pPr>
            <a:r>
              <a:rPr lang="zh-CN" altLang="en-US">
                <a:solidFill>
                  <a:srgbClr val="FF0000"/>
                </a:solidFill>
              </a:rPr>
              <a:t>售前方案会审纪要及审批截图</a:t>
            </a:r>
            <a:endParaRPr lang="zh-CN" altLang="en-US">
              <a:solidFill>
                <a:srgbClr val="FF0000"/>
              </a:solidFill>
            </a:endParaRPr>
          </a:p>
        </p:txBody>
      </p:sp>
      <p:sp>
        <p:nvSpPr>
          <p:cNvPr id="3" name="文本框 2"/>
          <p:cNvSpPr txBox="1"/>
          <p:nvPr/>
        </p:nvSpPr>
        <p:spPr>
          <a:xfrm>
            <a:off x="7030720" y="1375410"/>
            <a:ext cx="4417060" cy="922020"/>
          </a:xfrm>
          <a:prstGeom prst="rect">
            <a:avLst/>
          </a:prstGeom>
          <a:noFill/>
        </p:spPr>
        <p:txBody>
          <a:bodyPr wrap="square" rtlCol="0">
            <a:spAutoFit/>
          </a:bodyPr>
          <a:p>
            <a:pPr>
              <a:lnSpc>
                <a:spcPct val="150000"/>
              </a:lnSpc>
            </a:pPr>
            <a:r>
              <a:rPr lang="zh-CN" altLang="en-US">
                <a:solidFill>
                  <a:srgbClr val="FF0000"/>
                </a:solidFill>
              </a:rPr>
              <a:t>立项申请环节项目基本信息、分公司领导同意的流程轨迹、短名单基本信息截图</a:t>
            </a:r>
            <a:endParaRPr lang="zh-CN" altLang="en-US">
              <a:solidFill>
                <a:srgbClr val="FF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635" y="-8890"/>
            <a:ext cx="12192635" cy="892175"/>
          </a:xfrm>
          <a:prstGeom prst="rect">
            <a:avLst/>
          </a:prstGeom>
        </p:spPr>
      </p:pic>
      <p:sp>
        <p:nvSpPr>
          <p:cNvPr id="7" name="Rectangle 2"/>
          <p:cNvSpPr>
            <a:spLocks noChangeArrowheads="1"/>
          </p:cNvSpPr>
          <p:nvPr/>
        </p:nvSpPr>
        <p:spPr bwMode="auto">
          <a:xfrm>
            <a:off x="78740" y="144780"/>
            <a:ext cx="10549890" cy="584835"/>
          </a:xfrm>
          <a:prstGeom prst="rect">
            <a:avLst/>
          </a:prstGeom>
          <a:noFill/>
          <a:ln w="9525">
            <a:noFill/>
            <a:miter lim="800000"/>
          </a:ln>
        </p:spPr>
        <p:txBody>
          <a:bodyPr anchor="b"/>
          <a:lstStyle/>
          <a:p>
            <a:pPr eaLnBrk="0" hangingPunct="0"/>
            <a:r>
              <a:rPr lang="zh-CN" altLang="en-US" sz="2800" b="1" dirty="0">
                <a:solidFill>
                  <a:schemeClr val="bg1"/>
                </a:solidFill>
                <a:latin typeface="黑体" panose="02010609060101010101" charset="-122"/>
                <a:ea typeface="黑体" panose="02010609060101010101" charset="-122"/>
              </a:rPr>
              <a:t>附件</a:t>
            </a:r>
            <a:r>
              <a:rPr lang="en-US" altLang="zh-CN" sz="2800" b="1" dirty="0">
                <a:solidFill>
                  <a:schemeClr val="bg1"/>
                </a:solidFill>
                <a:latin typeface="黑体" panose="02010609060101010101" charset="-122"/>
                <a:ea typeface="黑体" panose="02010609060101010101" charset="-122"/>
              </a:rPr>
              <a:t>5</a:t>
            </a:r>
            <a:r>
              <a:rPr lang="zh-CN" altLang="en-US" sz="2800" b="1" dirty="0">
                <a:solidFill>
                  <a:schemeClr val="bg1"/>
                </a:solidFill>
                <a:latin typeface="黑体" panose="02010609060101010101" charset="-122"/>
                <a:ea typeface="黑体" panose="02010609060101010101" charset="-122"/>
              </a:rPr>
              <a:t>—</a:t>
            </a:r>
            <a:r>
              <a:rPr lang="zh-CN" altLang="en-US" sz="2800" b="1" dirty="0">
                <a:solidFill>
                  <a:schemeClr val="bg1"/>
                </a:solidFill>
                <a:latin typeface="黑体" panose="02010609060101010101" charset="-122"/>
                <a:ea typeface="黑体" panose="02010609060101010101" charset="-122"/>
                <a:sym typeface="+mn-ea"/>
              </a:rPr>
              <a:t>客户欠款核实情况</a:t>
            </a:r>
            <a:endParaRPr lang="en-US" altLang="zh-CN" sz="2800" b="1" dirty="0">
              <a:solidFill>
                <a:schemeClr val="bg1"/>
              </a:solidFill>
              <a:latin typeface="黑体" panose="02010609060101010101" charset="-122"/>
              <a:ea typeface="黑体" panose="02010609060101010101" charset="-122"/>
            </a:endParaRPr>
          </a:p>
        </p:txBody>
      </p:sp>
      <p:sp>
        <p:nvSpPr>
          <p:cNvPr id="9" name="灯片编号占位符 8"/>
          <p:cNvSpPr>
            <a:spLocks noGrp="1"/>
          </p:cNvSpPr>
          <p:nvPr>
            <p:ph type="sldNum" sz="quarter" idx="12"/>
          </p:nvPr>
        </p:nvSpPr>
        <p:spPr>
          <a:xfrm>
            <a:off x="9099550" y="6356350"/>
            <a:ext cx="2743200" cy="365125"/>
          </a:xfrm>
        </p:spPr>
        <p:txBody>
          <a:bodyPr/>
          <a:lstStyle/>
          <a:p>
            <a:r>
              <a:rPr lang="en-US" altLang="zh-CN" smtClean="0"/>
              <a:t>19  </a:t>
            </a:r>
            <a:endParaRPr lang="en-US" altLang="zh-CN" smtClean="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635" y="-8890"/>
            <a:ext cx="12192635" cy="892175"/>
          </a:xfrm>
          <a:prstGeom prst="rect">
            <a:avLst/>
          </a:prstGeom>
        </p:spPr>
      </p:pic>
      <p:sp>
        <p:nvSpPr>
          <p:cNvPr id="7" name="Rectangle 2"/>
          <p:cNvSpPr>
            <a:spLocks noChangeArrowheads="1"/>
          </p:cNvSpPr>
          <p:nvPr/>
        </p:nvSpPr>
        <p:spPr bwMode="auto">
          <a:xfrm>
            <a:off x="87630" y="144780"/>
            <a:ext cx="10085705" cy="584835"/>
          </a:xfrm>
          <a:prstGeom prst="rect">
            <a:avLst/>
          </a:prstGeom>
          <a:noFill/>
          <a:ln w="9525">
            <a:noFill/>
            <a:miter lim="800000"/>
          </a:ln>
        </p:spPr>
        <p:txBody>
          <a:bodyPr anchor="b">
            <a:noAutofit/>
          </a:bodyPr>
          <a:lstStyle/>
          <a:p>
            <a:pPr lvl="0" algn="l" eaLnBrk="0" hangingPunct="0">
              <a:buClrTx/>
              <a:buSzTx/>
              <a:buFontTx/>
            </a:pPr>
            <a:r>
              <a:rPr lang="zh-CN" altLang="en-US" sz="2800" b="1" dirty="0">
                <a:solidFill>
                  <a:schemeClr val="bg1"/>
                </a:solidFill>
                <a:latin typeface="黑体" panose="02010609060101010101" charset="-122"/>
                <a:ea typeface="黑体" panose="02010609060101010101" charset="-122"/>
                <a:sym typeface="+mn-ea"/>
              </a:rPr>
              <a:t>附件</a:t>
            </a:r>
            <a:r>
              <a:rPr lang="en-US" altLang="zh-CN" sz="2800" b="1" dirty="0">
                <a:solidFill>
                  <a:schemeClr val="bg1"/>
                </a:solidFill>
                <a:latin typeface="黑体" panose="02010609060101010101" charset="-122"/>
                <a:ea typeface="黑体" panose="02010609060101010101" charset="-122"/>
                <a:sym typeface="+mn-ea"/>
              </a:rPr>
              <a:t>6</a:t>
            </a:r>
            <a:r>
              <a:rPr lang="zh-CN" altLang="en-US" sz="2800" b="1" dirty="0">
                <a:solidFill>
                  <a:schemeClr val="bg1"/>
                </a:solidFill>
                <a:latin typeface="黑体" panose="02010609060101010101" charset="-122"/>
                <a:ea typeface="黑体" panose="02010609060101010101" charset="-122"/>
                <a:sym typeface="+mn-ea"/>
              </a:rPr>
              <a:t>—甄选方案回顾</a:t>
            </a:r>
            <a:endParaRPr lang="zh-CN" altLang="en-US" sz="2800" b="1" dirty="0">
              <a:solidFill>
                <a:schemeClr val="bg1"/>
              </a:solidFill>
              <a:latin typeface="黑体" panose="02010609060101010101" charset="-122"/>
              <a:ea typeface="黑体" panose="02010609060101010101" charset="-122"/>
              <a:sym typeface="+mn-ea"/>
            </a:endParaRPr>
          </a:p>
        </p:txBody>
      </p:sp>
      <p:sp>
        <p:nvSpPr>
          <p:cNvPr id="2" name="文本框 1"/>
          <p:cNvSpPr txBox="1"/>
          <p:nvPr/>
        </p:nvSpPr>
        <p:spPr>
          <a:xfrm>
            <a:off x="375285" y="1506855"/>
            <a:ext cx="6096000" cy="368300"/>
          </a:xfrm>
          <a:prstGeom prst="rect">
            <a:avLst/>
          </a:prstGeom>
          <a:noFill/>
        </p:spPr>
        <p:txBody>
          <a:bodyPr wrap="square" rtlCol="0" anchor="t">
            <a:spAutoFit/>
          </a:bodyPr>
          <a:p>
            <a:r>
              <a:rPr lang="zh-CN" altLang="en-US"/>
              <a:t>打印甄选方案签批表，签字盖章。</a:t>
            </a:r>
            <a:endParaRPr lang="zh-CN" altLang="en-US"/>
          </a:p>
        </p:txBody>
      </p:sp>
      <p:pic>
        <p:nvPicPr>
          <p:cNvPr id="3" name="图片 2"/>
          <p:cNvPicPr>
            <a:picLocks noChangeAspect="1"/>
          </p:cNvPicPr>
          <p:nvPr/>
        </p:nvPicPr>
        <p:blipFill>
          <a:blip r:embed="rId2"/>
          <a:stretch>
            <a:fillRect/>
          </a:stretch>
        </p:blipFill>
        <p:spPr>
          <a:xfrm>
            <a:off x="6120130" y="972820"/>
            <a:ext cx="4221480" cy="5246370"/>
          </a:xfrm>
          <a:prstGeom prst="rect">
            <a:avLst/>
          </a:prstGeom>
        </p:spPr>
      </p:pic>
      <p:pic>
        <p:nvPicPr>
          <p:cNvPr id="6" name="图片 5"/>
          <p:cNvPicPr>
            <a:picLocks noChangeAspect="1"/>
          </p:cNvPicPr>
          <p:nvPr/>
        </p:nvPicPr>
        <p:blipFill>
          <a:blip r:embed="rId3"/>
          <a:stretch>
            <a:fillRect/>
          </a:stretch>
        </p:blipFill>
        <p:spPr>
          <a:xfrm>
            <a:off x="433705" y="2366645"/>
            <a:ext cx="4862830" cy="2458720"/>
          </a:xfrm>
          <a:prstGeom prst="rect">
            <a:avLst/>
          </a:prstGeom>
        </p:spPr>
      </p:pic>
      <p:sp>
        <p:nvSpPr>
          <p:cNvPr id="5" name="灯片编号占位符 4"/>
          <p:cNvSpPr>
            <a:spLocks noGrp="1"/>
          </p:cNvSpPr>
          <p:nvPr>
            <p:ph type="sldNum" sz="quarter" idx="12"/>
          </p:nvPr>
        </p:nvSpPr>
        <p:spPr>
          <a:xfrm>
            <a:off x="9094470" y="6356350"/>
            <a:ext cx="2743200" cy="365125"/>
          </a:xfrm>
        </p:spPr>
        <p:txBody>
          <a:bodyPr/>
          <a:p>
            <a:r>
              <a:rPr lang="en-US" altLang="zh-CN" smtClean="0"/>
              <a:t>20</a:t>
            </a:r>
            <a:endParaRPr lang="en-US" altLang="zh-CN" smtClean="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635" y="-8890"/>
            <a:ext cx="12192635" cy="892175"/>
          </a:xfrm>
          <a:prstGeom prst="rect">
            <a:avLst/>
          </a:prstGeom>
        </p:spPr>
      </p:pic>
      <p:sp>
        <p:nvSpPr>
          <p:cNvPr id="7" name="Rectangle 2"/>
          <p:cNvSpPr>
            <a:spLocks noChangeArrowheads="1"/>
          </p:cNvSpPr>
          <p:nvPr/>
        </p:nvSpPr>
        <p:spPr bwMode="auto">
          <a:xfrm>
            <a:off x="34290" y="144780"/>
            <a:ext cx="10085705" cy="584835"/>
          </a:xfrm>
          <a:prstGeom prst="rect">
            <a:avLst/>
          </a:prstGeom>
          <a:noFill/>
          <a:ln w="9525">
            <a:noFill/>
            <a:miter lim="800000"/>
          </a:ln>
        </p:spPr>
        <p:txBody>
          <a:bodyPr anchor="b">
            <a:noAutofit/>
          </a:bodyPr>
          <a:lstStyle/>
          <a:p>
            <a:pPr lvl="0" algn="l" eaLnBrk="0" hangingPunct="0">
              <a:buClrTx/>
              <a:buSzTx/>
              <a:buFontTx/>
            </a:pPr>
            <a:r>
              <a:rPr lang="zh-CN" altLang="en-US" sz="2800" b="1" dirty="0">
                <a:solidFill>
                  <a:schemeClr val="bg1"/>
                </a:solidFill>
                <a:latin typeface="黑体" panose="02010609060101010101" charset="-122"/>
                <a:ea typeface="黑体" panose="02010609060101010101" charset="-122"/>
                <a:sym typeface="+mn-ea"/>
              </a:rPr>
              <a:t>附件</a:t>
            </a:r>
            <a:r>
              <a:rPr lang="en-US" altLang="zh-CN" sz="2800" b="1" dirty="0">
                <a:solidFill>
                  <a:schemeClr val="bg1"/>
                </a:solidFill>
                <a:latin typeface="黑体" panose="02010609060101010101" charset="-122"/>
                <a:ea typeface="黑体" panose="02010609060101010101" charset="-122"/>
                <a:sym typeface="+mn-ea"/>
              </a:rPr>
              <a:t>7</a:t>
            </a:r>
            <a:r>
              <a:rPr lang="zh-CN" altLang="en-US" sz="2800" b="1" dirty="0">
                <a:solidFill>
                  <a:schemeClr val="bg1"/>
                </a:solidFill>
                <a:latin typeface="黑体" panose="02010609060101010101" charset="-122"/>
                <a:ea typeface="黑体" panose="02010609060101010101" charset="-122"/>
                <a:sym typeface="+mn-ea"/>
              </a:rPr>
              <a:t>—甄选结果确认单</a:t>
            </a:r>
            <a:endParaRPr lang="zh-CN" altLang="en-US" sz="2800" b="1" dirty="0">
              <a:solidFill>
                <a:schemeClr val="bg1"/>
              </a:solidFill>
              <a:latin typeface="黑体" panose="02010609060101010101" charset="-122"/>
              <a:ea typeface="黑体" panose="02010609060101010101" charset="-122"/>
              <a:sym typeface="+mn-ea"/>
            </a:endParaRPr>
          </a:p>
        </p:txBody>
      </p:sp>
      <p:sp>
        <p:nvSpPr>
          <p:cNvPr id="2" name="文本框 1"/>
          <p:cNvSpPr txBox="1"/>
          <p:nvPr/>
        </p:nvSpPr>
        <p:spPr>
          <a:xfrm>
            <a:off x="375285" y="1506855"/>
            <a:ext cx="6096000" cy="368300"/>
          </a:xfrm>
          <a:prstGeom prst="rect">
            <a:avLst/>
          </a:prstGeom>
          <a:noFill/>
        </p:spPr>
        <p:txBody>
          <a:bodyPr wrap="square" rtlCol="0" anchor="t">
            <a:spAutoFit/>
          </a:bodyPr>
          <a:p>
            <a:r>
              <a:rPr lang="zh-CN" altLang="en-US"/>
              <a:t>打印甄选结果确认单</a:t>
            </a:r>
            <a:endParaRPr lang="zh-CN" altLang="en-US"/>
          </a:p>
        </p:txBody>
      </p:sp>
      <p:sp>
        <p:nvSpPr>
          <p:cNvPr id="3" name="灯片编号占位符 2"/>
          <p:cNvSpPr>
            <a:spLocks noGrp="1"/>
          </p:cNvSpPr>
          <p:nvPr>
            <p:ph type="sldNum" sz="quarter" idx="12"/>
          </p:nvPr>
        </p:nvSpPr>
        <p:spPr>
          <a:xfrm>
            <a:off x="9126220" y="6356350"/>
            <a:ext cx="2743200" cy="365125"/>
          </a:xfrm>
        </p:spPr>
        <p:txBody>
          <a:bodyPr/>
          <a:p>
            <a:r>
              <a:rPr lang="en-US" altLang="zh-CN" smtClean="0"/>
              <a:t>21</a:t>
            </a:r>
            <a:endParaRPr lang="en-US" altLang="zh-CN" smtClean="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635" y="-8890"/>
            <a:ext cx="12192635" cy="892175"/>
          </a:xfrm>
          <a:prstGeom prst="rect">
            <a:avLst/>
          </a:prstGeom>
        </p:spPr>
      </p:pic>
      <p:sp>
        <p:nvSpPr>
          <p:cNvPr id="7" name="Rectangle 2"/>
          <p:cNvSpPr>
            <a:spLocks noChangeArrowheads="1"/>
          </p:cNvSpPr>
          <p:nvPr/>
        </p:nvSpPr>
        <p:spPr bwMode="auto">
          <a:xfrm>
            <a:off x="52070" y="144780"/>
            <a:ext cx="10085705" cy="584835"/>
          </a:xfrm>
          <a:prstGeom prst="rect">
            <a:avLst/>
          </a:prstGeom>
          <a:noFill/>
          <a:ln w="9525">
            <a:noFill/>
            <a:miter lim="800000"/>
          </a:ln>
        </p:spPr>
        <p:txBody>
          <a:bodyPr anchor="b">
            <a:noAutofit/>
          </a:bodyPr>
          <a:lstStyle/>
          <a:p>
            <a:pPr lvl="0" algn="l" eaLnBrk="0" hangingPunct="0">
              <a:buClrTx/>
              <a:buSzTx/>
              <a:buFontTx/>
            </a:pPr>
            <a:r>
              <a:rPr lang="zh-CN" altLang="en-US" sz="2800" b="1" dirty="0">
                <a:solidFill>
                  <a:schemeClr val="bg1"/>
                </a:solidFill>
                <a:latin typeface="黑体" panose="02010609060101010101" charset="-122"/>
                <a:ea typeface="黑体" panose="02010609060101010101" charset="-122"/>
                <a:sym typeface="+mn-ea"/>
              </a:rPr>
              <a:t>附件</a:t>
            </a:r>
            <a:r>
              <a:rPr lang="en-US" altLang="zh-CN" sz="2800" b="1" dirty="0">
                <a:solidFill>
                  <a:schemeClr val="bg1"/>
                </a:solidFill>
                <a:latin typeface="黑体" panose="02010609060101010101" charset="-122"/>
                <a:ea typeface="黑体" panose="02010609060101010101" charset="-122"/>
                <a:sym typeface="+mn-ea"/>
              </a:rPr>
              <a:t>8</a:t>
            </a:r>
            <a:r>
              <a:rPr lang="zh-CN" altLang="en-US" sz="2800" b="1" dirty="0">
                <a:solidFill>
                  <a:schemeClr val="bg1"/>
                </a:solidFill>
                <a:latin typeface="黑体" panose="02010609060101010101" charset="-122"/>
                <a:ea typeface="黑体" panose="02010609060101010101" charset="-122"/>
                <a:sym typeface="+mn-ea"/>
              </a:rPr>
              <a:t>—中选伙伴信用评估报告和现场办公照片</a:t>
            </a:r>
            <a:endParaRPr lang="zh-CN" altLang="en-US" sz="2800" b="1" dirty="0">
              <a:solidFill>
                <a:schemeClr val="bg1"/>
              </a:solidFill>
              <a:latin typeface="黑体" panose="02010609060101010101" charset="-122"/>
              <a:ea typeface="黑体" panose="02010609060101010101" charset="-122"/>
              <a:sym typeface="+mn-ea"/>
            </a:endParaRPr>
          </a:p>
        </p:txBody>
      </p:sp>
      <p:sp>
        <p:nvSpPr>
          <p:cNvPr id="2" name="文本框 1"/>
          <p:cNvSpPr txBox="1"/>
          <p:nvPr/>
        </p:nvSpPr>
        <p:spPr>
          <a:xfrm>
            <a:off x="883285" y="1304925"/>
            <a:ext cx="4455160" cy="1383665"/>
          </a:xfrm>
          <a:prstGeom prst="rect">
            <a:avLst/>
          </a:prstGeom>
          <a:noFill/>
        </p:spPr>
        <p:txBody>
          <a:bodyPr wrap="square" rtlCol="0">
            <a:spAutoFit/>
          </a:bodyPr>
          <a:p>
            <a:pPr>
              <a:lnSpc>
                <a:spcPct val="150000"/>
              </a:lnSpc>
            </a:pPr>
            <a:r>
              <a:rPr lang="zh-CN" altLang="en-US" sz="1400" b="1">
                <a:solidFill>
                  <a:schemeClr val="tx1"/>
                </a:solidFill>
              </a:rPr>
              <a:t>供应商企业信用展示</a:t>
            </a:r>
            <a:endParaRPr lang="zh-CN" altLang="en-US" sz="1400" b="1">
              <a:solidFill>
                <a:schemeClr val="tx1"/>
              </a:solidFill>
            </a:endParaRPr>
          </a:p>
          <a:p>
            <a:pPr>
              <a:lnSpc>
                <a:spcPct val="150000"/>
              </a:lnSpc>
            </a:pPr>
            <a:r>
              <a:rPr lang="zh-CN" altLang="en-US" sz="1400">
                <a:solidFill>
                  <a:srgbClr val="FF0000"/>
                </a:solidFill>
              </a:rPr>
              <a:t> </a:t>
            </a:r>
            <a:r>
              <a:rPr lang="en-US" altLang="zh-CN" sz="1400">
                <a:solidFill>
                  <a:srgbClr val="FF0000"/>
                </a:solidFill>
              </a:rPr>
              <a:t>      </a:t>
            </a:r>
            <a:r>
              <a:rPr lang="zh-CN" altLang="en-US" sz="1400">
                <a:solidFill>
                  <a:srgbClr val="FF0000"/>
                </a:solidFill>
              </a:rPr>
              <a:t>请统一使用公司自有查询系统【企业资信情况查询平台】查询企业信用并显示截图，具体可咨询法安部同事。</a:t>
            </a:r>
            <a:endParaRPr lang="zh-CN" altLang="en-US" sz="1400">
              <a:solidFill>
                <a:srgbClr val="FF0000"/>
              </a:solidFill>
            </a:endParaRPr>
          </a:p>
        </p:txBody>
      </p:sp>
      <p:sp>
        <p:nvSpPr>
          <p:cNvPr id="3" name="灯片编号占位符 2"/>
          <p:cNvSpPr>
            <a:spLocks noGrp="1"/>
          </p:cNvSpPr>
          <p:nvPr>
            <p:ph type="sldNum" sz="quarter" idx="12"/>
          </p:nvPr>
        </p:nvSpPr>
        <p:spPr>
          <a:xfrm>
            <a:off x="9081770" y="6356350"/>
            <a:ext cx="2743200" cy="365125"/>
          </a:xfrm>
        </p:spPr>
        <p:txBody>
          <a:bodyPr/>
          <a:p>
            <a:r>
              <a:rPr lang="en-US" altLang="zh-CN" smtClean="0"/>
              <a:t>22</a:t>
            </a:r>
            <a:endParaRPr lang="en-US" altLang="zh-CN" smtClean="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635" y="-8890"/>
            <a:ext cx="12192635" cy="892175"/>
          </a:xfrm>
          <a:prstGeom prst="rect">
            <a:avLst/>
          </a:prstGeom>
        </p:spPr>
      </p:pic>
      <p:sp>
        <p:nvSpPr>
          <p:cNvPr id="7" name="Rectangle 2"/>
          <p:cNvSpPr>
            <a:spLocks noChangeArrowheads="1"/>
          </p:cNvSpPr>
          <p:nvPr/>
        </p:nvSpPr>
        <p:spPr bwMode="auto">
          <a:xfrm>
            <a:off x="114300" y="144780"/>
            <a:ext cx="10085705" cy="584835"/>
          </a:xfrm>
          <a:prstGeom prst="rect">
            <a:avLst/>
          </a:prstGeom>
          <a:noFill/>
          <a:ln w="9525">
            <a:noFill/>
            <a:miter lim="800000"/>
          </a:ln>
        </p:spPr>
        <p:txBody>
          <a:bodyPr anchor="b">
            <a:noAutofit/>
          </a:bodyPr>
          <a:lstStyle/>
          <a:p>
            <a:pPr lvl="0" algn="l" eaLnBrk="0" hangingPunct="0">
              <a:buClrTx/>
              <a:buSzTx/>
              <a:buFontTx/>
            </a:pPr>
            <a:r>
              <a:rPr lang="zh-CN" altLang="en-US" sz="2800" b="1" dirty="0">
                <a:solidFill>
                  <a:schemeClr val="bg1"/>
                </a:solidFill>
                <a:latin typeface="黑体" panose="02010609060101010101" charset="-122"/>
                <a:ea typeface="黑体" panose="02010609060101010101" charset="-122"/>
                <a:sym typeface="+mn-ea"/>
              </a:rPr>
              <a:t>附件</a:t>
            </a:r>
            <a:r>
              <a:rPr lang="en-US" altLang="zh-CN" sz="2800" b="1" dirty="0">
                <a:solidFill>
                  <a:schemeClr val="bg1"/>
                </a:solidFill>
                <a:latin typeface="黑体" panose="02010609060101010101" charset="-122"/>
                <a:ea typeface="黑体" panose="02010609060101010101" charset="-122"/>
                <a:sym typeface="+mn-ea"/>
              </a:rPr>
              <a:t>9</a:t>
            </a:r>
            <a:r>
              <a:rPr lang="zh-CN" altLang="en-US" sz="2800" b="1" dirty="0">
                <a:solidFill>
                  <a:schemeClr val="bg1"/>
                </a:solidFill>
                <a:latin typeface="黑体" panose="02010609060101010101" charset="-122"/>
                <a:ea typeface="黑体" panose="02010609060101010101" charset="-122"/>
                <a:sym typeface="+mn-ea"/>
              </a:rPr>
              <a:t>—三家询价/设计院评估/其他说明等，根据情况补充填写</a:t>
            </a:r>
            <a:endParaRPr lang="zh-CN" altLang="en-US" sz="2800" b="1" dirty="0">
              <a:solidFill>
                <a:srgbClr val="FF0000"/>
              </a:solidFill>
              <a:highlight>
                <a:srgbClr val="FFFF00"/>
              </a:highlight>
              <a:latin typeface="微软雅黑" panose="020B0503020204020204" charset="-122"/>
              <a:ea typeface="微软雅黑" panose="020B0503020204020204" charset="-122"/>
              <a:sym typeface="+mn-ea"/>
            </a:endParaRPr>
          </a:p>
        </p:txBody>
      </p:sp>
      <p:sp>
        <p:nvSpPr>
          <p:cNvPr id="2" name="灯片编号占位符 1"/>
          <p:cNvSpPr>
            <a:spLocks noGrp="1"/>
          </p:cNvSpPr>
          <p:nvPr>
            <p:ph type="sldNum" sz="quarter" idx="12"/>
          </p:nvPr>
        </p:nvSpPr>
        <p:spPr>
          <a:xfrm>
            <a:off x="9099550" y="6356350"/>
            <a:ext cx="2743200" cy="365125"/>
          </a:xfrm>
        </p:spPr>
        <p:txBody>
          <a:bodyPr/>
          <a:p>
            <a:r>
              <a:rPr lang="en-US" altLang="zh-CN" smtClean="0"/>
              <a:t>23</a:t>
            </a:r>
            <a:endParaRPr lang="en-US" altLang="zh-CN" smtClean="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635" y="-8890"/>
            <a:ext cx="12192635" cy="892175"/>
          </a:xfrm>
          <a:prstGeom prst="rect">
            <a:avLst/>
          </a:prstGeom>
        </p:spPr>
      </p:pic>
      <p:sp>
        <p:nvSpPr>
          <p:cNvPr id="7" name="Rectangle 2"/>
          <p:cNvSpPr>
            <a:spLocks noChangeArrowheads="1"/>
          </p:cNvSpPr>
          <p:nvPr/>
        </p:nvSpPr>
        <p:spPr bwMode="auto">
          <a:xfrm>
            <a:off x="78740" y="144780"/>
            <a:ext cx="12032615" cy="584835"/>
          </a:xfrm>
          <a:prstGeom prst="rect">
            <a:avLst/>
          </a:prstGeom>
          <a:noFill/>
          <a:ln w="9525">
            <a:noFill/>
            <a:miter lim="800000"/>
          </a:ln>
        </p:spPr>
        <p:txBody>
          <a:bodyPr anchor="b"/>
          <a:lstStyle/>
          <a:p>
            <a:pPr eaLnBrk="0" hangingPunct="0"/>
            <a:r>
              <a:rPr lang="zh-CN" altLang="en-US" sz="2800" b="1" dirty="0">
                <a:solidFill>
                  <a:schemeClr val="bg1"/>
                </a:solidFill>
                <a:latin typeface="黑体" panose="02010609060101010101" charset="-122"/>
                <a:ea typeface="黑体" panose="02010609060101010101" charset="-122"/>
              </a:rPr>
              <a:t>附件</a:t>
            </a:r>
            <a:r>
              <a:rPr lang="en-US" altLang="zh-CN" sz="2800" b="1" dirty="0">
                <a:solidFill>
                  <a:schemeClr val="bg1"/>
                </a:solidFill>
                <a:latin typeface="黑体" panose="02010609060101010101" charset="-122"/>
                <a:ea typeface="黑体" panose="02010609060101010101" charset="-122"/>
              </a:rPr>
              <a:t>10</a:t>
            </a:r>
            <a:r>
              <a:rPr lang="zh-CN" altLang="en-US" sz="2800" b="1" dirty="0">
                <a:solidFill>
                  <a:schemeClr val="bg1"/>
                </a:solidFill>
                <a:latin typeface="黑体" panose="02010609060101010101" charset="-122"/>
                <a:ea typeface="黑体" panose="02010609060101010101" charset="-122"/>
              </a:rPr>
              <a:t>—ICT项目效益评估</a:t>
            </a:r>
            <a:endParaRPr lang="en-US" altLang="zh-CN" sz="2800" b="1" dirty="0">
              <a:solidFill>
                <a:schemeClr val="bg1"/>
              </a:solidFill>
              <a:latin typeface="黑体" panose="02010609060101010101" charset="-122"/>
              <a:ea typeface="黑体" panose="02010609060101010101" charset="-122"/>
            </a:endParaRPr>
          </a:p>
        </p:txBody>
      </p:sp>
      <p:sp>
        <p:nvSpPr>
          <p:cNvPr id="9" name="灯片编号占位符 8"/>
          <p:cNvSpPr>
            <a:spLocks noGrp="1"/>
          </p:cNvSpPr>
          <p:nvPr>
            <p:ph type="sldNum" sz="quarter" idx="12"/>
          </p:nvPr>
        </p:nvSpPr>
        <p:spPr>
          <a:xfrm>
            <a:off x="9099550" y="6356350"/>
            <a:ext cx="2743200" cy="365125"/>
          </a:xfrm>
        </p:spPr>
        <p:txBody>
          <a:bodyPr/>
          <a:lstStyle/>
          <a:p>
            <a:r>
              <a:rPr lang="en-US" altLang="zh-CN" smtClean="0"/>
              <a:t>24</a:t>
            </a:r>
            <a:endParaRPr lang="en-US" altLang="zh-CN" smtClean="0"/>
          </a:p>
        </p:txBody>
      </p:sp>
      <p:sp>
        <p:nvSpPr>
          <p:cNvPr id="2" name="TextBox 3"/>
          <p:cNvSpPr txBox="1"/>
          <p:nvPr/>
        </p:nvSpPr>
        <p:spPr>
          <a:xfrm>
            <a:off x="526415" y="941705"/>
            <a:ext cx="6176010" cy="460375"/>
          </a:xfrm>
          <a:prstGeom prst="rect">
            <a:avLst/>
          </a:prstGeom>
          <a:noFill/>
        </p:spPr>
        <p:txBody>
          <a:bodyPr wrap="square" rtlCol="0">
            <a:spAutoFit/>
          </a:bodyPr>
          <a:p>
            <a:pPr>
              <a:lnSpc>
                <a:spcPct val="150000"/>
              </a:lnSpc>
            </a:pPr>
            <a:r>
              <a:rPr lang="zh-CN" altLang="en-US" sz="1600" b="1" dirty="0">
                <a:solidFill>
                  <a:srgbClr val="FF0000"/>
                </a:solidFill>
                <a:latin typeface="微软雅黑" panose="020B0503020204020204" charset="-122"/>
                <a:ea typeface="微软雅黑" panose="020B0503020204020204" charset="-122"/>
              </a:rPr>
              <a:t>需上传效益评估表评估结果截图</a:t>
            </a:r>
            <a:endParaRPr lang="zh-CN" altLang="en-US" sz="1600" b="1" dirty="0">
              <a:solidFill>
                <a:srgbClr val="FF0000"/>
              </a:solidFill>
              <a:latin typeface="微软雅黑" panose="020B0503020204020204" charset="-122"/>
              <a:ea typeface="微软雅黑" panose="020B0503020204020204" charset="-122"/>
            </a:endParaRPr>
          </a:p>
        </p:txBody>
      </p:sp>
      <p:pic>
        <p:nvPicPr>
          <p:cNvPr id="3" name="图片 2"/>
          <p:cNvPicPr>
            <a:picLocks noChangeAspect="1"/>
          </p:cNvPicPr>
          <p:nvPr/>
        </p:nvPicPr>
        <p:blipFill>
          <a:blip r:embed="rId2"/>
          <a:stretch>
            <a:fillRect/>
          </a:stretch>
        </p:blipFill>
        <p:spPr>
          <a:xfrm>
            <a:off x="491490" y="1402080"/>
            <a:ext cx="6210300" cy="5255895"/>
          </a:xfrm>
          <a:prstGeom prst="rect">
            <a:avLst/>
          </a:prstGeom>
        </p:spPr>
      </p:pic>
      <p:pic>
        <p:nvPicPr>
          <p:cNvPr id="5" name="图片 4"/>
          <p:cNvPicPr>
            <a:picLocks noChangeAspect="1"/>
          </p:cNvPicPr>
          <p:nvPr/>
        </p:nvPicPr>
        <p:blipFill>
          <a:blip r:embed="rId3"/>
          <a:stretch>
            <a:fillRect/>
          </a:stretch>
        </p:blipFill>
        <p:spPr>
          <a:xfrm>
            <a:off x="6824980" y="1437640"/>
            <a:ext cx="4944110" cy="2941320"/>
          </a:xfrm>
          <a:prstGeom prst="rect">
            <a:avLst/>
          </a:prstGeom>
        </p:spPr>
      </p:pic>
      <p:sp>
        <p:nvSpPr>
          <p:cNvPr id="6" name="TextBox 3"/>
          <p:cNvSpPr txBox="1"/>
          <p:nvPr/>
        </p:nvSpPr>
        <p:spPr>
          <a:xfrm>
            <a:off x="6824980" y="4378960"/>
            <a:ext cx="4776470" cy="460375"/>
          </a:xfrm>
          <a:prstGeom prst="rect">
            <a:avLst/>
          </a:prstGeom>
          <a:noFill/>
        </p:spPr>
        <p:txBody>
          <a:bodyPr wrap="square" rtlCol="0">
            <a:spAutoFit/>
          </a:bodyPr>
          <a:p>
            <a:pPr>
              <a:lnSpc>
                <a:spcPct val="150000"/>
              </a:lnSpc>
            </a:pPr>
            <a:r>
              <a:rPr lang="zh-CN" altLang="en-US" sz="1600" b="1" dirty="0">
                <a:solidFill>
                  <a:srgbClr val="FF0000"/>
                </a:solidFill>
                <a:latin typeface="微软雅黑" panose="020B0503020204020204" charset="-122"/>
                <a:ea typeface="微软雅黑" panose="020B0503020204020204" charset="-122"/>
              </a:rPr>
              <a:t>如涉及产品，需截图产品成本核算和收入页</a:t>
            </a:r>
            <a:endParaRPr lang="zh-CN" altLang="en-US" sz="1600" b="1" dirty="0">
              <a:solidFill>
                <a:srgbClr val="FF0000"/>
              </a:solidFill>
              <a:latin typeface="微软雅黑" panose="020B0503020204020204" charset="-122"/>
              <a:ea typeface="微软雅黑" panose="020B0503020204020204" charset="-122"/>
            </a:endParaRPr>
          </a:p>
        </p:txBody>
      </p:sp>
      <p:sp>
        <p:nvSpPr>
          <p:cNvPr id="12" name="文本框 11"/>
          <p:cNvSpPr txBox="1"/>
          <p:nvPr/>
        </p:nvSpPr>
        <p:spPr>
          <a:xfrm>
            <a:off x="8804275" y="5746750"/>
            <a:ext cx="985520" cy="460375"/>
          </a:xfrm>
          <a:prstGeom prst="rect">
            <a:avLst/>
          </a:prstGeom>
          <a:noFill/>
          <a:ln w="28575">
            <a:solidFill>
              <a:schemeClr val="bg1"/>
            </a:solidFill>
          </a:ln>
        </p:spPr>
        <p:txBody>
          <a:bodyPr wrap="square" rtlCol="0">
            <a:spAutoFit/>
          </a:bodyPr>
          <a:p>
            <a:pPr algn="ctr"/>
            <a:r>
              <a:rPr lang="zh-CN" altLang="en-US" sz="1200">
                <a:solidFill>
                  <a:srgbClr val="FF0000"/>
                </a:solidFill>
                <a:latin typeface="微软雅黑" panose="020B0503020204020204" charset="-122"/>
                <a:ea typeface="微软雅黑" panose="020B0503020204020204" charset="-122"/>
              </a:rPr>
              <a:t>效益评估表链接</a:t>
            </a:r>
            <a:endParaRPr lang="zh-CN" altLang="en-US" sz="1200">
              <a:solidFill>
                <a:srgbClr val="FF0000"/>
              </a:solidFill>
              <a:latin typeface="微软雅黑" panose="020B0503020204020204" charset="-122"/>
              <a:ea typeface="微软雅黑" panose="020B0503020204020204" charset="-122"/>
            </a:endParaRPr>
          </a:p>
        </p:txBody>
      </p:sp>
    </p:spTree>
  </p:cSld>
  <p:clrMapOvr>
    <a:masterClrMapping/>
  </p:clrMapOvr>
</p:sld>
</file>

<file path=ppt/tags/tag1.xml><?xml version="1.0" encoding="utf-8"?>
<p:tagLst xmlns:p="http://schemas.openxmlformats.org/presentationml/2006/main">
  <p:tag name="THINKCELLSHAPEDONOTDELETE" val="p3mqW0Q3LW06ozBPgpPB0wg"/>
</p:tagLst>
</file>

<file path=ppt/tags/tag2.xml><?xml version="1.0" encoding="utf-8"?>
<p:tagLst xmlns:p="http://schemas.openxmlformats.org/presentationml/2006/main">
  <p:tag name="TABLE_ENDDRAG_ORIGIN_RECT" val="900*127"/>
  <p:tag name="TABLE_ENDDRAG_RECT" val="25*374*900*127"/>
</p:tagLst>
</file>

<file path=ppt/tags/tag3.xml><?xml version="1.0" encoding="utf-8"?>
<p:tagLst xmlns:p="http://schemas.openxmlformats.org/presentationml/2006/main">
  <p:tag name="TABLE_ENDDRAG_ORIGIN_RECT" val="902*143"/>
  <p:tag name="TABLE_ENDDRAG_RECT" val="28*112*902*143"/>
</p:tagLst>
</file>

<file path=ppt/tags/tag4.xml><?xml version="1.0" encoding="utf-8"?>
<p:tagLst xmlns:p="http://schemas.openxmlformats.org/presentationml/2006/main">
  <p:tag name="TABLE_ENDDRAG_ORIGIN_RECT" val="854*69"/>
  <p:tag name="TABLE_ENDDRAG_RECT" val="29*130*854*69"/>
</p:tagLst>
</file>

<file path=ppt/tags/tag5.xml><?xml version="1.0" encoding="utf-8"?>
<p:tagLst xmlns:p="http://schemas.openxmlformats.org/presentationml/2006/main">
  <p:tag name="KSO_WM_UNIT_TABLE_BEAUTIFY" val="smartTable{9b2d6fce-a7d0-4cbe-ac31-e2e90e48ec62}"/>
  <p:tag name="TABLE_ENDDRAG_ORIGIN_RECT" val="937*85"/>
  <p:tag name="TABLE_ENDDRAG_RECT" val="0*432*937*85"/>
</p:tagLst>
</file>

<file path=ppt/tags/tag6.xml><?xml version="1.0" encoding="utf-8"?>
<p:tagLst xmlns:p="http://schemas.openxmlformats.org/presentationml/2006/main">
  <p:tag name="TABLE_ENDDRAG_ORIGIN_RECT" val="896*185"/>
  <p:tag name="TABLE_ENDDRAG_RECT" val="35*144*897*185"/>
</p:tagLst>
</file>

<file path=ppt/tags/tag7.xml><?xml version="1.0" encoding="utf-8"?>
<p:tagLst xmlns:p="http://schemas.openxmlformats.org/presentationml/2006/main">
  <p:tag name="KSO_WM_UNIT_TABLE_BEAUTIFY" val="smartTable{e07fbdc1-eba2-412a-97c7-e740618e3413}"/>
  <p:tag name="TABLE_ENDDRAG_ORIGIN_RECT" val="812*340"/>
  <p:tag name="TABLE_ENDDRAG_RECT" val="68*86*812*340"/>
</p:tagLst>
</file>

<file path=ppt/tags/tag8.xml><?xml version="1.0" encoding="utf-8"?>
<p:tagLst xmlns:p="http://schemas.openxmlformats.org/presentationml/2006/main">
  <p:tag name="KSO_WM_UNIT_TABLE_BEAUTIFY" val="smartTable{d9b6db46-4453-4a0e-a2c6-6911ce3b1810}"/>
  <p:tag name="TABLE_ENDDRAG_ORIGIN_RECT" val="868*155"/>
  <p:tag name="TABLE_ENDDRAG_RECT" val="24*102*868*155"/>
</p:tagLst>
</file>

<file path=ppt/tags/tag9.xml><?xml version="1.0" encoding="utf-8"?>
<p:tagLst xmlns:p="http://schemas.openxmlformats.org/presentationml/2006/main">
  <p:tag name="KSO_WM_UNIT_TABLE_BEAUTIFY" val="smartTable{3939573e-3977-41dc-9de1-8b86417ab623}"/>
  <p:tag name="TABLE_ENDDRAG_ORIGIN_RECT" val="880*169"/>
  <p:tag name="TABLE_ENDDRAG_RECT" val="24*287*880*169"/>
</p:tagLst>
</file>

<file path=ppt/tags/tag10.xml><?xml version="1.0" encoding="utf-8"?>
<p:tagLst xmlns:p="http://schemas.openxmlformats.org/presentationml/2006/main">
  <p:tag name="KSO_WM_UNIT_TABLE_BEAUTIFY" val="smartTable{6b2b7610-bac1-48b6-9d30-9b5a8fc6841b}"/>
  <p:tag name="TABLE_ENDDRAG_ORIGIN_RECT" val="445*196"/>
  <p:tag name="TABLE_ENDDRAG_RECT" val="18*327*445*196"/>
</p:tagLst>
</file>

<file path=ppt/tags/tag11.xml><?xml version="1.0" encoding="utf-8"?>
<p:tagLst xmlns:p="http://schemas.openxmlformats.org/presentationml/2006/main">
  <p:tag name="TABLE_ENDDRAG_ORIGIN_RECT" val="708*315"/>
  <p:tag name="TABLE_ENDDRAG_RECT" val="88*130*708*315"/>
</p:tagLst>
</file>

<file path=ppt/tags/tag12.xml><?xml version="1.0" encoding="utf-8"?>
<p:tagLst xmlns:p="http://schemas.openxmlformats.org/presentationml/2006/main">
  <p:tag name="TABLE_ENDDRAG_ORIGIN_RECT" val="479*453"/>
  <p:tag name="TABLE_ENDDRAG_RECT" val="12*77*479*453"/>
</p:tagLst>
</file>

<file path=ppt/tags/tag13.xml><?xml version="1.0" encoding="utf-8"?>
<p:tagLst xmlns:p="http://schemas.openxmlformats.org/presentationml/2006/main">
  <p:tag name="TABLE_ENDDRAG_ORIGIN_RECT" val="440*453"/>
  <p:tag name="TABLE_ENDDRAG_RECT" val="500*77*440*453"/>
</p:tagLst>
</file>

<file path=ppt/tags/tag1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xml><?xml version="1.0" encoding="utf-8"?>
<p:tagLst xmlns:p="http://schemas.openxmlformats.org/presentationml/2006/main">
  <p:tag name="TABLE_ENDDRAG_ORIGIN_RECT" val="875*271"/>
  <p:tag name="TABLE_ENDDRAG_RECT" val="34*129*875*27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5610</Words>
  <Application>WPS 演示</Application>
  <PresentationFormat>自定义</PresentationFormat>
  <Paragraphs>890</Paragraphs>
  <Slides>25</Slides>
  <Notes>25</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0</vt:i4>
      </vt:variant>
      <vt:variant>
        <vt:lpstr>幻灯片标题</vt:lpstr>
      </vt:variant>
      <vt:variant>
        <vt:i4>25</vt:i4>
      </vt:variant>
    </vt:vector>
  </HeadingPairs>
  <TitlesOfParts>
    <vt:vector size="41" baseType="lpstr">
      <vt:lpstr>Arial</vt:lpstr>
      <vt:lpstr>宋体</vt:lpstr>
      <vt:lpstr>Wingdings</vt:lpstr>
      <vt:lpstr>DejaVu Sans</vt:lpstr>
      <vt:lpstr>微软雅黑</vt:lpstr>
      <vt:lpstr>方正黑体_GBK</vt:lpstr>
      <vt:lpstr>黑体</vt:lpstr>
      <vt:lpstr>Times New Roman</vt:lpstr>
      <vt:lpstr>Wingdings</vt:lpstr>
      <vt:lpstr>Arial</vt:lpstr>
      <vt:lpstr>宋体</vt:lpstr>
      <vt:lpstr>Arial Unicode MS</vt:lpstr>
      <vt:lpstr>Arial Black</vt:lpstr>
      <vt:lpstr>仿宋_GB2312</vt:lpstr>
      <vt:lpstr>方正书宋_GBK</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重庆有限公司</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周密</dc:creator>
  <cp:lastModifiedBy>程莅婧</cp:lastModifiedBy>
  <cp:revision>479</cp:revision>
  <dcterms:created xsi:type="dcterms:W3CDTF">2025-09-02T12:38:16Z</dcterms:created>
  <dcterms:modified xsi:type="dcterms:W3CDTF">2025-09-02T12:38:16Z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2052-11.8.2.12313</vt:lpwstr>
  </property>
  <property fmtid="{D5CDD505-2E9C-101B-9397-08002B2CF9AE}" pid="3" name="ICV">
    <vt:lpwstr>2D534BB8135D4CEC8AD1E14497C50F56</vt:lpwstr>
  </property>
</Properties>
</file>